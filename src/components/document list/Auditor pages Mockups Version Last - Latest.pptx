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0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412" r:id="rId2"/>
    <p:sldId id="278" r:id="rId3"/>
    <p:sldId id="317" r:id="rId4"/>
    <p:sldId id="334" r:id="rId5"/>
    <p:sldId id="413" r:id="rId6"/>
    <p:sldId id="414" r:id="rId7"/>
    <p:sldId id="415" r:id="rId8"/>
    <p:sldId id="416" r:id="rId9"/>
    <p:sldId id="417" r:id="rId10"/>
    <p:sldId id="418" r:id="rId11"/>
    <p:sldId id="419" r:id="rId12"/>
    <p:sldId id="341" r:id="rId13"/>
    <p:sldId id="342" r:id="rId14"/>
    <p:sldId id="362" r:id="rId15"/>
    <p:sldId id="346" r:id="rId16"/>
    <p:sldId id="372" r:id="rId17"/>
    <p:sldId id="344" r:id="rId18"/>
    <p:sldId id="398" r:id="rId19"/>
    <p:sldId id="420" r:id="rId20"/>
    <p:sldId id="350" r:id="rId21"/>
    <p:sldId id="421" r:id="rId22"/>
    <p:sldId id="422" r:id="rId23"/>
    <p:sldId id="357" r:id="rId24"/>
    <p:sldId id="397" r:id="rId25"/>
    <p:sldId id="402" r:id="rId26"/>
    <p:sldId id="359" r:id="rId27"/>
    <p:sldId id="411" r:id="rId28"/>
    <p:sldId id="423" r:id="rId29"/>
    <p:sldId id="424" r:id="rId30"/>
    <p:sldId id="428" r:id="rId31"/>
    <p:sldId id="427" r:id="rId32"/>
    <p:sldId id="425" r:id="rId33"/>
    <p:sldId id="426" r:id="rId34"/>
    <p:sldId id="32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win Raj N" initials="ARN" lastIdx="1" clrIdx="0">
    <p:extLst>
      <p:ext uri="{19B8F6BF-5375-455C-9EA6-DF929625EA0E}">
        <p15:presenceInfo xmlns:p15="http://schemas.microsoft.com/office/powerpoint/2012/main" userId="Aswin Raj 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B58"/>
    <a:srgbClr val="336CC9"/>
    <a:srgbClr val="009773"/>
    <a:srgbClr val="AF470D"/>
    <a:srgbClr val="4D0539"/>
    <a:srgbClr val="607203"/>
    <a:srgbClr val="496F5E"/>
    <a:srgbClr val="A34A4A"/>
    <a:srgbClr val="F799AA"/>
    <a:srgbClr val="D11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26781" autoAdjust="0"/>
  </p:normalViewPr>
  <p:slideViewPr>
    <p:cSldViewPr snapToGrid="0">
      <p:cViewPr varScale="1">
        <p:scale>
          <a:sx n="63" d="100"/>
          <a:sy n="63" d="100"/>
        </p:scale>
        <p:origin x="916" y="5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2:06:10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1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2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2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3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1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2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2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3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1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2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2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7:22:13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8EE76-B742-4210-B529-5981E466CA67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F94F2-E520-428F-B6DE-5D880D1CB9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9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8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DA8A4-CF66-3E1A-C773-81AE0A174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B7563-04DB-F0BF-5509-42907D421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57692-AAFF-31C2-2F58-B696FF1E7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F0388-AAB2-48E7-5630-29DC2BBC0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88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8A2D6-387D-C853-B959-36A38CA1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5A2AD-F26D-4A4C-FF32-AB2842E84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AFB87-60F2-E0DD-CFBB-E800D163D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5838F-D197-5274-D57A-8DA4B4400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37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0F42C-EE95-7832-52E4-7D1BBC48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5E75E-7B20-C6B0-D923-F31A2B0D5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9DCB6-4870-88DF-CBC3-5B49091C1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758C9-0FC5-0C66-0EFB-5AFC46B4C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76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7775C-5BA3-1AF5-8AA2-900165F7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E0BDF-7091-F913-4397-B34D5ECCC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8481B-9403-B5AC-E6BF-4F22D78FC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2F05A-B2EE-4826-E57F-1D3B2E222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3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851CA-A1D2-FF60-20CA-9BABD3FEE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BDCAF-1B5B-8F17-C807-D50502EE1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87638-C34E-3CF9-07C4-4DFD167F8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87567-D8AF-C537-FE14-1B211829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78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DBD1B-D5BA-F03B-628E-2AFF1BCF9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05B40-84A4-397B-E254-C2E73443A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BEE78-03E8-A0B1-4FF1-1B7B53A58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3F1F5-A8D1-8705-1346-6362A0C89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01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29FBA-45CD-57ED-986E-8DEECBAA6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D6DAC-559B-3975-7138-7444F808B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A9315-473F-EB17-9784-2D935EF39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F905D-7B08-D79C-A5D8-8F9F7FBB6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17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E981-99A6-EF88-E453-C691878F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394D8-57DE-046F-57CB-084CE6CB1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8A535-F751-E8CE-8771-F266BD4C7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20B82-4775-B564-ED28-8CE77C958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82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774D-649E-56F1-BF00-ABB3D80A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03870C-126E-B526-987B-3BABFA0C2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B136E-7285-A852-C1B5-675A817F1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19531-583A-7E99-A895-53335B0E0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315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95A11-47CE-7F04-D434-72E1E2A96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484FE-0090-91D4-A248-3C81FE0B2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7EB8B-EFD6-04B9-28BF-E9FB53D03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FBE7B-4265-4E8E-0EFF-D2D2F4E82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93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7C858-C53C-6CDB-FB27-12D3EB29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2382B-102D-C4D3-DC87-AE5C54D37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6526C-8EA5-7775-BA41-9AC8EA01D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A6F75-4866-8D63-1BE6-0FAD5AF20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83B2E-2850-4634-588A-CC58CF3B1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56E72-A7D0-7B60-5068-4DBE83FE2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4EB71-74A1-E3B9-52AB-5E02B9F5D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F8347-F9BB-8CF0-57FA-2755E1C1F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45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FDCF3-FD05-3890-5E07-4CA9F1EBA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6DEE0-622C-899F-9CA8-95413049C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6DBEF-B1E3-0187-1A6C-CD31E2B06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D9475-612E-32D4-5BC6-97330DFCC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124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1C8F6-E11E-9BF5-EC7F-651B9C12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5FB93-30B7-F824-EE2C-6AFEAC5B4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A3492-8650-F7CA-A59A-6AB72D8B7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E6864-535D-4BF0-2039-809582F61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246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C3746-44F3-F0D3-3124-BC8F4B747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F1069-658B-3C98-21DE-F44EF24A7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C95CA-0D3C-9087-72BA-3D80B507F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F6211-1521-5DB7-C9E4-6A7892D38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81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8055-0148-4B32-4205-F50706CD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314E-0D10-2FE6-05C6-577F785E5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4F337-66B5-1DA6-89E0-80C5CAF36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A51F3-E021-9FCB-3ECD-0A282B766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713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74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0729A-5DE1-165D-CC56-6DD34F04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D5867-809E-DE89-99F9-50303EF58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42299-71A4-2CCE-BCEF-63266149A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16EB4-267B-6F6F-BBFE-906D2DE97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06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338C3-DA2B-DB26-A4CA-F729E15FA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B39C5-784A-5CF1-5AB3-BFE7F0633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EDDC6-6069-9915-D5E4-280762997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1F242-1821-40A0-2C6A-E4FE6DD72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055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8907C-DB4E-5712-EE03-313B4E4FA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72C60-D630-5DF3-7796-582009649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A1935-0137-BC12-BEE5-35D0C8760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6184-FB65-58FE-4937-0A8E9DC6D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844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6552D-B010-1255-F550-923B8563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B6A2C-6E8C-940C-7666-55844AC3F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FAC05-5EF4-11EA-FE18-DEE50733F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26E02-13FA-DB83-BF15-A01FB4D85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142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D376-A9E7-C5B9-138C-ABC6F8744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EC2A3-E6DF-9520-FB26-F2AA5312E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5BF9B-1908-5103-8EE8-97D615F04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06E2C-BCDE-4E48-4E99-42F8B68FA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561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C8751-D29C-AF0B-B4BE-FDA8143E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206674-842A-97A5-70FD-9175516DF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D2A03-AE89-1232-3A40-A0B715144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9405-366C-F020-E693-694CF2E87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928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109BE-461E-8CC0-A652-273A9E0C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64402-1A7B-5C70-C6A0-AA06F927F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C6643-99A4-2ED3-4767-D6F0BC0E5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4D247-B022-92E4-B16F-4DB7926B6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321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07CC9-84B6-EC9D-C0B0-DE9EB800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8AE3C-3A8A-7335-215E-DFA934597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75702-633B-0A06-40DD-CBBBB2C4E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873DE-DD01-17D0-874B-D7071999A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429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A92E5-5F93-77E8-00CB-A5BFC058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F13E7-AA6E-DFD2-FAA5-10308C9F7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47E3B-E2CC-818B-42B3-F17CD56EF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A11DD-4BE6-17AA-7BF2-CC23C7997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F94F2-E520-428F-B6DE-5D880D1CB95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15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EEA33-42E8-E1C6-C209-253AA2605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E5A8D-B583-F430-4E89-B203BA15F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76F46-85A3-BAEB-AA4C-1F19F025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29644-C4EC-C0FC-7218-68A8261B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585E2-E7F2-9C51-36AF-4B175F0E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2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20A2-9880-46B6-EE09-5E525797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88E9F-A579-B569-745C-6FC3FF5DA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9095D-B89D-6030-666D-2AFAAB4A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8AF2D-9779-9CC0-E5F2-1D35E4DAD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BB4FE-1ADC-AFBD-0E40-4F303F9B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3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C83C8-D5A5-A39F-05C7-9C0AA2DA5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13C4B-2A46-EA91-384D-9E176DFEB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D1603-B094-C8F6-9D37-37A67162E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03F6E-CCC0-D506-4ABA-ACBFFE35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9A5DF-5A5C-ACAE-4D16-5E63BB23B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0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DAB9-D946-1C6E-B356-402F93CB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3FA12-67DC-7DF6-C878-E436ED073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8A104-04BA-7849-DB0F-C360098FC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278BD-414C-16BB-39B3-3143E4DE7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94C45-7DBB-9861-FFA2-2000511A8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2B602-36D6-D542-FFD4-228003CB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1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16B37-292A-8D93-E21F-976BAD5A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25327-54C0-52CA-588C-8C623A8C5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1AE8D-C3D5-E0B5-193D-6E6288781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88C39-932F-F5B4-886D-4AF37E069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1B760-36C2-7E1B-E8C6-29C782CE5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75D89-6A36-B8BF-F8C5-10E1ED9F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1DE3D3-156F-1FB9-C331-529338C9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22FE64-6479-C7D2-9043-826E9BBC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3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6DCE3-AD55-1540-4D42-A2E338158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B5C479-C77D-B971-0FA6-21258AAC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59CD7-9848-15C9-E907-567D3530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7535A-2F49-6D4D-82AF-151AB6EF7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4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83815-5DDF-0676-C2EB-6CB07E98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D307F1-DD69-6B74-6972-775439820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10473-4178-026B-B14B-FD45A1A2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6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B144E-381D-46C1-58F9-A6E233DF3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FDCBB-5280-FFD7-6BDF-9BCB5ECE1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64731-7AA1-29ED-E4AA-E3B5FE842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2C079-12CB-D68A-DCB8-5B5513C6A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BD3C9-5FEF-2147-9F3C-A3E83DE0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70AA2-80A8-29AC-1A84-32323102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30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A874-536E-EC69-384F-2E1BCE1D1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91E86E-F4F2-413C-9140-47AA9BFAF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113B1-65BA-D5C9-F379-AEB22C8B4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2272D-9DDF-AECB-F891-1065A1E1C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E5ED9-9230-01DC-7CEE-011BD6A8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3189E-E580-7673-07A7-6734886B5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4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0236-F501-B18F-8B00-EB7907C0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48097-285B-41BC-7F3D-C654FD380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A761-781A-1634-9A24-8BD7DF71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9BE0F-1D27-D4E7-721F-F0499983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BD65B-D735-14CD-646D-7BB0122D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7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799AD-AC46-B57C-0B38-B21EF300D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B2887-E0CF-9C0E-0BD0-567646921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78DFA-7293-3A34-712B-3A829099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FFE8-A380-7979-B2BC-14CFBBEC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D86B-3304-38FC-4C22-F928238F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4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F1137-ABFC-FE8E-9B7E-D795B633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2AA62-109F-A7FC-2917-ABC48ECD9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DCAFC-D67C-72D1-6C1D-0D10D9E99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81673-2A25-4DD8-AC77-FE422C59DE4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E07AF-2A4F-8F1B-557E-F84244BD2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18E4E-02AB-05A5-92F4-ACD56B672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0E2C5-5B0F-4464-8C98-4E822460E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25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8.sv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0.png"/><Relationship Id="rId5" Type="http://schemas.openxmlformats.org/officeDocument/2006/relationships/image" Target="../media/image13.png"/><Relationship Id="rId15" Type="http://schemas.openxmlformats.org/officeDocument/2006/relationships/image" Target="../media/image8.svg"/><Relationship Id="rId4" Type="http://schemas.openxmlformats.org/officeDocument/2006/relationships/image" Target="../media/image3.png"/><Relationship Id="rId9" Type="http://schemas.openxmlformats.org/officeDocument/2006/relationships/customXml" Target="../ink/ink1.xml"/><Relationship Id="rId1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1.svg"/><Relationship Id="rId1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17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google.com" TargetMode="External"/><Relationship Id="rId11" Type="http://schemas.openxmlformats.org/officeDocument/2006/relationships/image" Target="../media/image19.svg"/><Relationship Id="rId5" Type="http://schemas.openxmlformats.org/officeDocument/2006/relationships/image" Target="../media/image6.png"/><Relationship Id="rId15" Type="http://schemas.openxmlformats.org/officeDocument/2006/relationships/image" Target="../media/image10.sv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13.png"/><Relationship Id="rId1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7.sv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hyperlink" Target="google.com" TargetMode="External"/><Relationship Id="rId10" Type="http://schemas.openxmlformats.org/officeDocument/2006/relationships/image" Target="../media/image19.sv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3.png"/><Relationship Id="rId7" Type="http://schemas.openxmlformats.org/officeDocument/2006/relationships/customXml" Target="../ink/ink4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.png"/><Relationship Id="rId5" Type="http://schemas.openxmlformats.org/officeDocument/2006/relationships/image" Target="../media/image140.png"/><Relationship Id="rId10" Type="http://schemas.openxmlformats.org/officeDocument/2006/relationships/image" Target="../media/image10.svg"/><Relationship Id="rId4" Type="http://schemas.openxmlformats.org/officeDocument/2006/relationships/customXml" Target="../ink/ink2.xml"/><Relationship Id="rId9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7.sv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hyperlink" Target="google.com" TargetMode="External"/><Relationship Id="rId15" Type="http://schemas.openxmlformats.org/officeDocument/2006/relationships/image" Target="../media/image2.png"/><Relationship Id="rId10" Type="http://schemas.openxmlformats.org/officeDocument/2006/relationships/image" Target="../media/image19.sv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14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7.sv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hyperlink" Target="google.com" TargetMode="External"/><Relationship Id="rId10" Type="http://schemas.openxmlformats.org/officeDocument/2006/relationships/image" Target="../media/image19.sv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3.png"/><Relationship Id="rId7" Type="http://schemas.openxmlformats.org/officeDocument/2006/relationships/customXml" Target="../ink/ink8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2.png"/><Relationship Id="rId5" Type="http://schemas.openxmlformats.org/officeDocument/2006/relationships/image" Target="../media/image140.png"/><Relationship Id="rId10" Type="http://schemas.openxmlformats.org/officeDocument/2006/relationships/image" Target="../media/image10.svg"/><Relationship Id="rId4" Type="http://schemas.openxmlformats.org/officeDocument/2006/relationships/customXml" Target="../ink/ink6.xml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17.svg"/><Relationship Id="rId18" Type="http://schemas.openxmlformats.org/officeDocument/2006/relationships/image" Target="../media/image21.svg"/><Relationship Id="rId3" Type="http://schemas.openxmlformats.org/officeDocument/2006/relationships/image" Target="../media/image3.png"/><Relationship Id="rId21" Type="http://schemas.openxmlformats.org/officeDocument/2006/relationships/image" Target="../media/image5.png"/><Relationship Id="rId7" Type="http://schemas.openxmlformats.org/officeDocument/2006/relationships/customXml" Target="../ink/ink12.xml"/><Relationship Id="rId12" Type="http://schemas.openxmlformats.org/officeDocument/2006/relationships/image" Target="../media/image16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9.svg"/><Relationship Id="rId20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hyperlink" Target="google.com" TargetMode="External"/><Relationship Id="rId5" Type="http://schemas.openxmlformats.org/officeDocument/2006/relationships/image" Target="../media/image140.png"/><Relationship Id="rId15" Type="http://schemas.openxmlformats.org/officeDocument/2006/relationships/image" Target="../media/image18.png"/><Relationship Id="rId10" Type="http://schemas.openxmlformats.org/officeDocument/2006/relationships/image" Target="../media/image6.png"/><Relationship Id="rId19" Type="http://schemas.openxmlformats.org/officeDocument/2006/relationships/image" Target="../media/image9.png"/><Relationship Id="rId4" Type="http://schemas.openxmlformats.org/officeDocument/2006/relationships/customXml" Target="../ink/ink10.xml"/><Relationship Id="rId9" Type="http://schemas.openxmlformats.org/officeDocument/2006/relationships/image" Target="../media/image2.png"/><Relationship Id="rId14" Type="http://schemas.openxmlformats.org/officeDocument/2006/relationships/image" Target="../media/image13.png"/><Relationship Id="rId22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google.com" TargetMode="External"/><Relationship Id="rId11" Type="http://schemas.openxmlformats.org/officeDocument/2006/relationships/image" Target="../media/image19.svg"/><Relationship Id="rId5" Type="http://schemas.openxmlformats.org/officeDocument/2006/relationships/image" Target="../media/image6.png"/><Relationship Id="rId10" Type="http://schemas.openxmlformats.org/officeDocument/2006/relationships/image" Target="../media/image18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google.com" TargetMode="External"/><Relationship Id="rId11" Type="http://schemas.openxmlformats.org/officeDocument/2006/relationships/image" Target="../media/image19.svg"/><Relationship Id="rId5" Type="http://schemas.openxmlformats.org/officeDocument/2006/relationships/image" Target="../media/image6.png"/><Relationship Id="rId10" Type="http://schemas.openxmlformats.org/officeDocument/2006/relationships/image" Target="../media/image18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Relationship Id="rId1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google.com" TargetMode="External"/><Relationship Id="rId11" Type="http://schemas.openxmlformats.org/officeDocument/2006/relationships/image" Target="../media/image19.svg"/><Relationship Id="rId5" Type="http://schemas.openxmlformats.org/officeDocument/2006/relationships/image" Target="../media/image6.png"/><Relationship Id="rId15" Type="http://schemas.openxmlformats.org/officeDocument/2006/relationships/image" Target="../media/image26.svg"/><Relationship Id="rId10" Type="http://schemas.openxmlformats.org/officeDocument/2006/relationships/image" Target="../media/image18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Relationship Id="rId1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google.com" TargetMode="External"/><Relationship Id="rId11" Type="http://schemas.openxmlformats.org/officeDocument/2006/relationships/image" Target="../media/image20.png"/><Relationship Id="rId5" Type="http://schemas.openxmlformats.org/officeDocument/2006/relationships/image" Target="../media/image6.png"/><Relationship Id="rId10" Type="http://schemas.openxmlformats.org/officeDocument/2006/relationships/image" Target="../media/image19.svg"/><Relationship Id="rId4" Type="http://schemas.openxmlformats.org/officeDocument/2006/relationships/image" Target="../media/image23.png"/><Relationship Id="rId9" Type="http://schemas.openxmlformats.org/officeDocument/2006/relationships/image" Target="../media/image18.png"/><Relationship Id="rId14" Type="http://schemas.openxmlformats.org/officeDocument/2006/relationships/image" Target="../media/image26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google.com" TargetMode="External"/><Relationship Id="rId11" Type="http://schemas.openxmlformats.org/officeDocument/2006/relationships/image" Target="../media/image19.svg"/><Relationship Id="rId5" Type="http://schemas.openxmlformats.org/officeDocument/2006/relationships/image" Target="../media/image6.png"/><Relationship Id="rId15" Type="http://schemas.openxmlformats.org/officeDocument/2006/relationships/image" Target="../media/image26.svg"/><Relationship Id="rId10" Type="http://schemas.openxmlformats.org/officeDocument/2006/relationships/image" Target="../media/image18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Relationship Id="rId1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hyperlink" Target="google.com" TargetMode="External"/><Relationship Id="rId11" Type="http://schemas.openxmlformats.org/officeDocument/2006/relationships/image" Target="../media/image19.svg"/><Relationship Id="rId5" Type="http://schemas.openxmlformats.org/officeDocument/2006/relationships/image" Target="../media/image6.png"/><Relationship Id="rId15" Type="http://schemas.openxmlformats.org/officeDocument/2006/relationships/image" Target="../media/image26.svg"/><Relationship Id="rId10" Type="http://schemas.openxmlformats.org/officeDocument/2006/relationships/image" Target="../media/image18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Relationship Id="rId1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google.com" TargetMode="External"/><Relationship Id="rId11" Type="http://schemas.openxmlformats.org/officeDocument/2006/relationships/image" Target="../media/image19.svg"/><Relationship Id="rId5" Type="http://schemas.openxmlformats.org/officeDocument/2006/relationships/image" Target="../media/image6.png"/><Relationship Id="rId15" Type="http://schemas.openxmlformats.org/officeDocument/2006/relationships/image" Target="../media/image10.svg"/><Relationship Id="rId10" Type="http://schemas.openxmlformats.org/officeDocument/2006/relationships/image" Target="../media/image18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Relationship Id="rId1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FBAE-A762-192E-3D5D-BDAD7BDC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8B8DBE-0A1A-2C71-7BC2-73B58CD107C1}"/>
              </a:ext>
            </a:extLst>
          </p:cNvPr>
          <p:cNvSpPr/>
          <p:nvPr/>
        </p:nvSpPr>
        <p:spPr>
          <a:xfrm>
            <a:off x="7548113" y="0"/>
            <a:ext cx="3588589" cy="6858000"/>
          </a:xfrm>
          <a:prstGeom prst="rect">
            <a:avLst/>
          </a:prstGeom>
          <a:solidFill>
            <a:srgbClr val="336CC9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33790-4967-109F-049E-C686E313AE49}"/>
              </a:ext>
            </a:extLst>
          </p:cNvPr>
          <p:cNvSpPr/>
          <p:nvPr/>
        </p:nvSpPr>
        <p:spPr>
          <a:xfrm>
            <a:off x="0" y="1729596"/>
            <a:ext cx="12191999" cy="3398808"/>
          </a:xfrm>
          <a:prstGeom prst="rect">
            <a:avLst/>
          </a:prstGeom>
          <a:solidFill>
            <a:srgbClr val="336C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80CDB-0ACF-91BF-10AB-5204FD9FB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709" y="1345786"/>
            <a:ext cx="5505091" cy="323946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Audit Module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Mockups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10593-76DE-67FD-18AD-6ABC78487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8709" y="3975651"/>
            <a:ext cx="5488526" cy="156375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05-June-2025</a:t>
            </a:r>
          </a:p>
        </p:txBody>
      </p:sp>
    </p:spTree>
    <p:extLst>
      <p:ext uri="{BB962C8B-B14F-4D97-AF65-F5344CB8AC3E}">
        <p14:creationId xmlns:p14="http://schemas.microsoft.com/office/powerpoint/2010/main" val="2631723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3274"/>
            <a:ext cx="2804513" cy="333614"/>
          </a:xfrm>
        </p:spPr>
        <p:txBody>
          <a:bodyPr>
            <a:noAutofit/>
          </a:bodyPr>
          <a:lstStyle/>
          <a:p>
            <a:r>
              <a:rPr lang="en-US" sz="3200" dirty="0"/>
              <a:t>Workflow </a:t>
            </a:r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495AD0A8-0EAD-C929-824E-9A2861EA6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713" y="508000"/>
            <a:ext cx="5221298" cy="621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6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D2C0-D158-1B8D-3A9D-A08ADEEF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2B7C6-8282-5BC5-1146-832307D2F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en-US" sz="4800" dirty="0"/>
              <a:t>Product Owner</a:t>
            </a:r>
          </a:p>
        </p:txBody>
      </p:sp>
    </p:spTree>
    <p:extLst>
      <p:ext uri="{BB962C8B-B14F-4D97-AF65-F5344CB8AC3E}">
        <p14:creationId xmlns:p14="http://schemas.microsoft.com/office/powerpoint/2010/main" val="164573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A328E4-22DC-23DE-AFD7-A1B760310DF3}"/>
              </a:ext>
            </a:extLst>
          </p:cNvPr>
          <p:cNvSpPr/>
          <p:nvPr/>
        </p:nvSpPr>
        <p:spPr>
          <a:xfrm>
            <a:off x="2012331" y="2713869"/>
            <a:ext cx="3042424" cy="499676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626E1A2-CD8C-5C5C-B743-CD71C5DCBA1F}"/>
              </a:ext>
            </a:extLst>
          </p:cNvPr>
          <p:cNvSpPr/>
          <p:nvPr/>
        </p:nvSpPr>
        <p:spPr>
          <a:xfrm>
            <a:off x="5291952" y="2713869"/>
            <a:ext cx="3042424" cy="499676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6D0EDA-C39D-9FCF-7759-419D5DD76347}"/>
              </a:ext>
            </a:extLst>
          </p:cNvPr>
          <p:cNvSpPr/>
          <p:nvPr/>
        </p:nvSpPr>
        <p:spPr>
          <a:xfrm>
            <a:off x="5322222" y="4142937"/>
            <a:ext cx="3042424" cy="499676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9E1224A-BE1E-1081-FAB6-24806BFDF999}"/>
              </a:ext>
            </a:extLst>
          </p:cNvPr>
          <p:cNvSpPr/>
          <p:nvPr/>
        </p:nvSpPr>
        <p:spPr>
          <a:xfrm>
            <a:off x="2032316" y="4122035"/>
            <a:ext cx="3042424" cy="499676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A2DCB73-C764-95EA-B09C-556BD7E8B785}"/>
              </a:ext>
            </a:extLst>
          </p:cNvPr>
          <p:cNvSpPr/>
          <p:nvPr/>
        </p:nvSpPr>
        <p:spPr>
          <a:xfrm>
            <a:off x="8747661" y="2716977"/>
            <a:ext cx="3042424" cy="499676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529F7D-245D-37A1-E12D-B34485A0BFC4}"/>
              </a:ext>
            </a:extLst>
          </p:cNvPr>
          <p:cNvSpPr txBox="1"/>
          <p:nvPr/>
        </p:nvSpPr>
        <p:spPr>
          <a:xfrm>
            <a:off x="2582438" y="2780237"/>
            <a:ext cx="2391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User Creation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C8C183-A065-28CF-0057-CEC9A8654725}"/>
              </a:ext>
            </a:extLst>
          </p:cNvPr>
          <p:cNvSpPr txBox="1"/>
          <p:nvPr/>
        </p:nvSpPr>
        <p:spPr>
          <a:xfrm>
            <a:off x="5604551" y="2779040"/>
            <a:ext cx="2760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Assign Auditor to Manager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161021-9025-6809-2411-279D84E83E70}"/>
              </a:ext>
            </a:extLst>
          </p:cNvPr>
          <p:cNvSpPr txBox="1"/>
          <p:nvPr/>
        </p:nvSpPr>
        <p:spPr>
          <a:xfrm>
            <a:off x="9043641" y="2773872"/>
            <a:ext cx="2567208" cy="343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Assign Company to Auditor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DBB708-61A2-7527-578A-4BB96D283387}"/>
              </a:ext>
            </a:extLst>
          </p:cNvPr>
          <p:cNvSpPr txBox="1"/>
          <p:nvPr/>
        </p:nvSpPr>
        <p:spPr>
          <a:xfrm>
            <a:off x="2093409" y="4200399"/>
            <a:ext cx="2880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Audit Status by Company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EC9582-563E-815B-431A-AF6A20CF8055}"/>
              </a:ext>
            </a:extLst>
          </p:cNvPr>
          <p:cNvSpPr txBox="1"/>
          <p:nvPr/>
        </p:nvSpPr>
        <p:spPr>
          <a:xfrm>
            <a:off x="5491517" y="4225361"/>
            <a:ext cx="2880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Audit Load by Auditor</a:t>
            </a:r>
          </a:p>
        </p:txBody>
      </p:sp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32B34F-30DD-8135-A41E-75B69332E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1819043" cy="6858000"/>
          </a:xfrm>
          <a:prstGeom prst="rect">
            <a:avLst/>
          </a:prstGeom>
        </p:spPr>
      </p:pic>
      <p:pic>
        <p:nvPicPr>
          <p:cNvPr id="37" name="Picture 36" descr="A blue and white rectangle">
            <a:extLst>
              <a:ext uri="{FF2B5EF4-FFF2-40B4-BE49-F238E27FC236}">
                <a16:creationId xmlns:a16="http://schemas.microsoft.com/office/drawing/2014/main" id="{4C848A58-D45A-228A-8AC9-F66A46EAEC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06" y="0"/>
            <a:ext cx="10364594" cy="171399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90FD9A1-A028-56DA-AD04-8116F61035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663" y="2822447"/>
            <a:ext cx="262603" cy="26260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93FFE3B-F779-8016-C153-5E1FE24BA9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830" y="2832405"/>
            <a:ext cx="262603" cy="26260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C907965-AF2E-2C7F-D251-600BED2FF3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453" y="2814431"/>
            <a:ext cx="262603" cy="26260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6C1E31-A2E9-6776-3C36-403F24375272}"/>
              </a:ext>
            </a:extLst>
          </p:cNvPr>
          <p:cNvSpPr/>
          <p:nvPr/>
        </p:nvSpPr>
        <p:spPr>
          <a:xfrm>
            <a:off x="8747660" y="4142937"/>
            <a:ext cx="3042425" cy="499676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4C35D8-F3C6-0746-D889-0CFEF7E6912D}"/>
              </a:ext>
            </a:extLst>
          </p:cNvPr>
          <p:cNvSpPr txBox="1"/>
          <p:nvPr/>
        </p:nvSpPr>
        <p:spPr>
          <a:xfrm>
            <a:off x="9217399" y="4219847"/>
            <a:ext cx="2519415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Reconciliation Audit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A4E1484-D615-91CA-C365-F6B81409316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841523" y="4219636"/>
            <a:ext cx="338555" cy="33855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79CC82F-EE10-190B-E17B-E7E42D0ECF6B}"/>
              </a:ext>
            </a:extLst>
          </p:cNvPr>
          <p:cNvSpPr txBox="1"/>
          <p:nvPr/>
        </p:nvSpPr>
        <p:spPr>
          <a:xfrm>
            <a:off x="2012331" y="1568677"/>
            <a:ext cx="4025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Welcome to Audit Portal!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38859C-11DB-5DBE-03B3-689110FDA24E}"/>
              </a:ext>
            </a:extLst>
          </p:cNvPr>
          <p:cNvSpPr txBox="1"/>
          <p:nvPr/>
        </p:nvSpPr>
        <p:spPr>
          <a:xfrm>
            <a:off x="421423" y="4865818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3" name="Picture 2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9CCFBBBC-90D2-EBC3-9F7B-BC445C7903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919870"/>
            <a:ext cx="234175" cy="234175"/>
          </a:xfrm>
          <a:prstGeom prst="rect">
            <a:avLst/>
          </a:prstGeom>
        </p:spPr>
      </p:pic>
      <p:pic>
        <p:nvPicPr>
          <p:cNvPr id="8" name="Graphic 7" descr="Home with solid fill">
            <a:extLst>
              <a:ext uri="{FF2B5EF4-FFF2-40B4-BE49-F238E27FC236}">
                <a16:creationId xmlns:a16="http://schemas.microsoft.com/office/drawing/2014/main" id="{FD2C4B38-16E4-48E6-8BBE-C86D31FFF9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49038" y="534545"/>
            <a:ext cx="305290" cy="3052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4A2BD7-7DA1-387F-ACB7-289EA5BD6CA5}"/>
              </a:ext>
            </a:extLst>
          </p:cNvPr>
          <p:cNvSpPr txBox="1"/>
          <p:nvPr/>
        </p:nvSpPr>
        <p:spPr>
          <a:xfrm>
            <a:off x="1770555" y="813840"/>
            <a:ext cx="862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b="1" dirty="0"/>
              <a:t>Audit Home</a:t>
            </a:r>
          </a:p>
        </p:txBody>
      </p:sp>
    </p:spTree>
    <p:extLst>
      <p:ext uri="{BB962C8B-B14F-4D97-AF65-F5344CB8AC3E}">
        <p14:creationId xmlns:p14="http://schemas.microsoft.com/office/powerpoint/2010/main" val="3344806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E7431-F203-01AD-1D8C-8C592852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85BA72-EA09-77FA-B683-51FD083FA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1819043" cy="6858000"/>
          </a:xfrm>
          <a:prstGeom prst="rect">
            <a:avLst/>
          </a:prstGeom>
        </p:spPr>
      </p:pic>
      <p:pic>
        <p:nvPicPr>
          <p:cNvPr id="37" name="Picture 36" descr="A blue and white rectangle">
            <a:extLst>
              <a:ext uri="{FF2B5EF4-FFF2-40B4-BE49-F238E27FC236}">
                <a16:creationId xmlns:a16="http://schemas.microsoft.com/office/drawing/2014/main" id="{23F4FF2D-D7C0-4EC5-DD91-CEA2796515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06" y="0"/>
            <a:ext cx="10364594" cy="171399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ED08D95-C63D-5737-1E19-A861BD7C6FFF}"/>
              </a:ext>
            </a:extLst>
          </p:cNvPr>
          <p:cNvGrpSpPr/>
          <p:nvPr/>
        </p:nvGrpSpPr>
        <p:grpSpPr>
          <a:xfrm>
            <a:off x="2018371" y="1598189"/>
            <a:ext cx="9335429" cy="4665297"/>
            <a:chOff x="1122292" y="1598189"/>
            <a:chExt cx="10515599" cy="466529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9B990AB-9606-0CA0-F0F9-2274AFB4BA10}"/>
                </a:ext>
              </a:extLst>
            </p:cNvPr>
            <p:cNvSpPr/>
            <p:nvPr/>
          </p:nvSpPr>
          <p:spPr>
            <a:xfrm>
              <a:off x="1122292" y="1598189"/>
              <a:ext cx="10515599" cy="466529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5CA534-D847-2822-A421-B72F669AD7A6}"/>
                </a:ext>
              </a:extLst>
            </p:cNvPr>
            <p:cNvSpPr txBox="1"/>
            <p:nvPr/>
          </p:nvSpPr>
          <p:spPr>
            <a:xfrm>
              <a:off x="2860758" y="1754527"/>
              <a:ext cx="25651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User Name </a:t>
              </a:r>
              <a:r>
                <a:rPr lang="en-US" sz="1600" dirty="0">
                  <a:solidFill>
                    <a:srgbClr val="FF0000"/>
                  </a:solidFill>
                </a:rPr>
                <a:t>*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ADABBB-8FBF-FA8E-579D-A01A0284AB9E}"/>
                </a:ext>
              </a:extLst>
            </p:cNvPr>
            <p:cNvSpPr/>
            <p:nvPr/>
          </p:nvSpPr>
          <p:spPr>
            <a:xfrm>
              <a:off x="4983175" y="1833815"/>
              <a:ext cx="3678706" cy="1868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6A41D6-9F56-C4AB-58CA-0EF582617112}"/>
                </a:ext>
              </a:extLst>
            </p:cNvPr>
            <p:cNvSpPr txBox="1"/>
            <p:nvPr/>
          </p:nvSpPr>
          <p:spPr>
            <a:xfrm>
              <a:off x="2836794" y="2591580"/>
              <a:ext cx="15629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Mobile</a:t>
              </a:r>
              <a:r>
                <a:rPr lang="en-US" sz="1600" dirty="0">
                  <a:solidFill>
                    <a:srgbClr val="FF0000"/>
                  </a:solidFill>
                </a:rPr>
                <a:t>*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5E61E5-94A9-6FDC-7173-D3384C2413F6}"/>
                </a:ext>
              </a:extLst>
            </p:cNvPr>
            <p:cNvSpPr txBox="1"/>
            <p:nvPr/>
          </p:nvSpPr>
          <p:spPr>
            <a:xfrm>
              <a:off x="2836794" y="2964536"/>
              <a:ext cx="11993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Mail ID </a:t>
              </a:r>
              <a:r>
                <a:rPr lang="en-US" sz="1600" dirty="0">
                  <a:solidFill>
                    <a:srgbClr val="FF0000"/>
                  </a:solidFill>
                </a:rPr>
                <a:t>*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32C7A0E-03BD-F517-98A1-7739F377875B}"/>
                </a:ext>
              </a:extLst>
            </p:cNvPr>
            <p:cNvSpPr txBox="1"/>
            <p:nvPr/>
          </p:nvSpPr>
          <p:spPr>
            <a:xfrm flipH="1">
              <a:off x="2842499" y="2144570"/>
              <a:ext cx="28113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Person Name </a:t>
              </a:r>
              <a:r>
                <a:rPr lang="en-US" sz="1600" dirty="0">
                  <a:solidFill>
                    <a:srgbClr val="FF0000"/>
                  </a:solidFill>
                </a:rPr>
                <a:t>*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FEA847-C496-0D3B-8C2D-D4DD413AD9E9}"/>
                </a:ext>
              </a:extLst>
            </p:cNvPr>
            <p:cNvSpPr txBox="1"/>
            <p:nvPr/>
          </p:nvSpPr>
          <p:spPr>
            <a:xfrm>
              <a:off x="7110983" y="5740990"/>
              <a:ext cx="1542961" cy="338554"/>
            </a:xfrm>
            <a:prstGeom prst="rect">
              <a:avLst/>
            </a:prstGeom>
            <a:solidFill>
              <a:srgbClr val="5FC3D7"/>
            </a:solidFill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Create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DB1916-8B1F-5AC1-6138-87BEBF8E8443}"/>
                </a:ext>
              </a:extLst>
            </p:cNvPr>
            <p:cNvSpPr txBox="1"/>
            <p:nvPr/>
          </p:nvSpPr>
          <p:spPr>
            <a:xfrm>
              <a:off x="2924984" y="4585870"/>
              <a:ext cx="17199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Role</a:t>
              </a:r>
              <a:r>
                <a:rPr lang="en-US" sz="1600" dirty="0">
                  <a:solidFill>
                    <a:srgbClr val="FF0000"/>
                  </a:solidFill>
                </a:rPr>
                <a:t> *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19E991E-122A-E8DF-2D60-06F32101E6A8}"/>
                </a:ext>
              </a:extLst>
            </p:cNvPr>
            <p:cNvGrpSpPr/>
            <p:nvPr/>
          </p:nvGrpSpPr>
          <p:grpSpPr>
            <a:xfrm>
              <a:off x="4902357" y="4581884"/>
              <a:ext cx="2111537" cy="268378"/>
              <a:chOff x="5952707" y="4390297"/>
              <a:chExt cx="1627239" cy="218129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4136CA8-B215-2166-9303-B8574B7D701D}"/>
                  </a:ext>
                </a:extLst>
              </p:cNvPr>
              <p:cNvSpPr/>
              <p:nvPr/>
            </p:nvSpPr>
            <p:spPr>
              <a:xfrm>
                <a:off x="5952707" y="4390297"/>
                <a:ext cx="1627239" cy="2181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pic>
            <p:nvPicPr>
              <p:cNvPr id="45" name="Graphic 44" descr="Caret Down with solid fill">
                <a:extLst>
                  <a:ext uri="{FF2B5EF4-FFF2-40B4-BE49-F238E27FC236}">
                    <a16:creationId xmlns:a16="http://schemas.microsoft.com/office/drawing/2014/main" id="{4E17E1E3-C652-BF00-FBB8-86937F7AC7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393432" y="4421910"/>
                <a:ext cx="186514" cy="186514"/>
              </a:xfrm>
              <a:prstGeom prst="rect">
                <a:avLst/>
              </a:prstGeom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A1F821D-9B71-0516-9EF2-5D6A5E627BC2}"/>
                </a:ext>
              </a:extLst>
            </p:cNvPr>
            <p:cNvSpPr txBox="1"/>
            <p:nvPr/>
          </p:nvSpPr>
          <p:spPr>
            <a:xfrm>
              <a:off x="4929060" y="4320622"/>
              <a:ext cx="1259292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/>
            </a:p>
            <a:p>
              <a:endParaRPr lang="en-US" sz="1200" dirty="0"/>
            </a:p>
            <a:p>
              <a:endParaRPr lang="en-US" sz="1200" dirty="0"/>
            </a:p>
            <a:p>
              <a:r>
                <a:rPr lang="en-US" sz="1600" dirty="0"/>
                <a:t>Manager</a:t>
              </a:r>
            </a:p>
            <a:p>
              <a:r>
                <a:rPr lang="en-US" sz="1600" dirty="0"/>
                <a:t>Auditor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C0FF0C3-B0A5-E065-CC5C-9FCF55111DEE}"/>
                </a:ext>
              </a:extLst>
            </p:cNvPr>
            <p:cNvSpPr/>
            <p:nvPr/>
          </p:nvSpPr>
          <p:spPr>
            <a:xfrm>
              <a:off x="4902357" y="4581881"/>
              <a:ext cx="2111537" cy="88406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A4FA970-AB24-8E09-C9A0-75EC1A980907}"/>
                </a:ext>
              </a:extLst>
            </p:cNvPr>
            <p:cNvSpPr/>
            <p:nvPr/>
          </p:nvSpPr>
          <p:spPr>
            <a:xfrm>
              <a:off x="4964916" y="2219901"/>
              <a:ext cx="3678706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D87E558-D652-9957-9B9D-F49D1DD84F73}"/>
                </a:ext>
              </a:extLst>
            </p:cNvPr>
            <p:cNvSpPr/>
            <p:nvPr/>
          </p:nvSpPr>
          <p:spPr>
            <a:xfrm>
              <a:off x="4952769" y="3017328"/>
              <a:ext cx="3678706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F0D372F-8837-C175-0E68-DA6CA4D72B05}"/>
                </a:ext>
              </a:extLst>
            </p:cNvPr>
            <p:cNvSpPr/>
            <p:nvPr/>
          </p:nvSpPr>
          <p:spPr>
            <a:xfrm>
              <a:off x="4975238" y="2644372"/>
              <a:ext cx="3678706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1678FED-173A-2F02-BDA0-F32D48AC81E1}"/>
                </a:ext>
              </a:extLst>
            </p:cNvPr>
            <p:cNvSpPr txBox="1"/>
            <p:nvPr/>
          </p:nvSpPr>
          <p:spPr>
            <a:xfrm>
              <a:off x="2836794" y="3360536"/>
              <a:ext cx="12592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Audit Type </a:t>
              </a:r>
              <a:r>
                <a:rPr lang="en-US" sz="1600" dirty="0">
                  <a:solidFill>
                    <a:srgbClr val="FF0000"/>
                  </a:solidFill>
                </a:rPr>
                <a:t>* </a:t>
              </a:r>
            </a:p>
          </p:txBody>
        </p:sp>
        <p:pic>
          <p:nvPicPr>
            <p:cNvPr id="33" name="Graphic 32" descr="Checkbox Checked with solid fill">
              <a:extLst>
                <a:ext uri="{FF2B5EF4-FFF2-40B4-BE49-F238E27FC236}">
                  <a16:creationId xmlns:a16="http://schemas.microsoft.com/office/drawing/2014/main" id="{4B752A95-D0D9-C1AD-3C51-D00310456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93384" y="3343675"/>
              <a:ext cx="265165" cy="265165"/>
            </a:xfrm>
            <a:prstGeom prst="rect">
              <a:avLst/>
            </a:prstGeom>
          </p:spPr>
        </p:pic>
        <p:pic>
          <p:nvPicPr>
            <p:cNvPr id="34" name="Graphic 33" descr="Checkbox Checked with solid fill">
              <a:extLst>
                <a:ext uri="{FF2B5EF4-FFF2-40B4-BE49-F238E27FC236}">
                  <a16:creationId xmlns:a16="http://schemas.microsoft.com/office/drawing/2014/main" id="{8F0E5BD2-1C02-F87B-A5D7-270A1979E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93384" y="3578059"/>
              <a:ext cx="265165" cy="265165"/>
            </a:xfrm>
            <a:prstGeom prst="rect">
              <a:avLst/>
            </a:prstGeom>
          </p:spPr>
        </p:pic>
        <p:pic>
          <p:nvPicPr>
            <p:cNvPr id="35" name="Graphic 34" descr="Checkbox Checked with solid fill">
              <a:extLst>
                <a:ext uri="{FF2B5EF4-FFF2-40B4-BE49-F238E27FC236}">
                  <a16:creationId xmlns:a16="http://schemas.microsoft.com/office/drawing/2014/main" id="{E8818B66-69AF-EE41-7000-6688313A4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93383" y="3825137"/>
              <a:ext cx="265165" cy="265165"/>
            </a:xfrm>
            <a:prstGeom prst="rect">
              <a:avLst/>
            </a:prstGeom>
          </p:spPr>
        </p:pic>
        <p:pic>
          <p:nvPicPr>
            <p:cNvPr id="36" name="Graphic 35" descr="Checkbox Checked with solid fill">
              <a:extLst>
                <a:ext uri="{FF2B5EF4-FFF2-40B4-BE49-F238E27FC236}">
                  <a16:creationId xmlns:a16="http://schemas.microsoft.com/office/drawing/2014/main" id="{B800B96B-845C-4FB8-B9EA-FC26B2331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93382" y="4045358"/>
              <a:ext cx="265165" cy="265165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DCD1C1-375C-B4DB-7551-832BD67F9713}"/>
                </a:ext>
              </a:extLst>
            </p:cNvPr>
            <p:cNvSpPr txBox="1"/>
            <p:nvPr/>
          </p:nvSpPr>
          <p:spPr>
            <a:xfrm>
              <a:off x="5103525" y="3373817"/>
              <a:ext cx="164096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Freezone Company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A56868-933A-EF17-9D2B-C20F23B017ED}"/>
                </a:ext>
              </a:extLst>
            </p:cNvPr>
            <p:cNvSpPr txBox="1"/>
            <p:nvPr/>
          </p:nvSpPr>
          <p:spPr>
            <a:xfrm>
              <a:off x="5103525" y="3599106"/>
              <a:ext cx="164096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Mainland Company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CA1CB92-68FA-3037-1722-A21249FA8D80}"/>
                </a:ext>
              </a:extLst>
            </p:cNvPr>
            <p:cNvSpPr txBox="1"/>
            <p:nvPr/>
          </p:nvSpPr>
          <p:spPr>
            <a:xfrm>
              <a:off x="5095139" y="3851930"/>
              <a:ext cx="164096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Warehouse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5CC1F74-8F1B-0E6F-7D0E-7AF704C7B99C}"/>
                </a:ext>
              </a:extLst>
            </p:cNvPr>
            <p:cNvSpPr txBox="1"/>
            <p:nvPr/>
          </p:nvSpPr>
          <p:spPr>
            <a:xfrm>
              <a:off x="5103525" y="4062221"/>
              <a:ext cx="164096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Broker/Agent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29E3EA9-4B3A-119B-86D4-87CE98310451}"/>
              </a:ext>
            </a:extLst>
          </p:cNvPr>
          <p:cNvSpPr txBox="1"/>
          <p:nvPr/>
        </p:nvSpPr>
        <p:spPr>
          <a:xfrm>
            <a:off x="4511800" y="1044190"/>
            <a:ext cx="434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User Creation – Auditor &amp; Audit Manager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0B5C39-ED5D-3724-D005-E1F3E0B8E688}"/>
              </a:ext>
            </a:extLst>
          </p:cNvPr>
          <p:cNvSpPr txBox="1"/>
          <p:nvPr/>
        </p:nvSpPr>
        <p:spPr>
          <a:xfrm>
            <a:off x="4240610" y="5761582"/>
            <a:ext cx="1542961" cy="338554"/>
          </a:xfrm>
          <a:prstGeom prst="rect">
            <a:avLst/>
          </a:prstGeom>
          <a:solidFill>
            <a:srgbClr val="5FC3D7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Cancel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C053CF-2583-A7ED-0727-0F39229720FB}"/>
              </a:ext>
            </a:extLst>
          </p:cNvPr>
          <p:cNvSpPr txBox="1"/>
          <p:nvPr/>
        </p:nvSpPr>
        <p:spPr>
          <a:xfrm>
            <a:off x="421423" y="4874444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5" name="Picture 4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183F9633-E4E1-498E-B78D-166442B626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919870"/>
            <a:ext cx="234175" cy="234175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FDF1EEF7-B941-2987-B4EA-5086112438FD}"/>
              </a:ext>
            </a:extLst>
          </p:cNvPr>
          <p:cNvSpPr/>
          <p:nvPr/>
        </p:nvSpPr>
        <p:spPr>
          <a:xfrm>
            <a:off x="2693640" y="630832"/>
            <a:ext cx="171379" cy="149753"/>
          </a:xfrm>
          <a:prstGeom prst="lef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Home with solid fill">
            <a:extLst>
              <a:ext uri="{FF2B5EF4-FFF2-40B4-BE49-F238E27FC236}">
                <a16:creationId xmlns:a16="http://schemas.microsoft.com/office/drawing/2014/main" id="{868CFA78-5FC0-6821-C836-2E70E1883D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49038" y="534545"/>
            <a:ext cx="305290" cy="3052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80F1299-CDA7-706A-0714-900430EAD0A8}"/>
              </a:ext>
            </a:extLst>
          </p:cNvPr>
          <p:cNvSpPr txBox="1"/>
          <p:nvPr/>
        </p:nvSpPr>
        <p:spPr>
          <a:xfrm>
            <a:off x="1770555" y="813840"/>
            <a:ext cx="862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b="1" dirty="0"/>
              <a:t>Audit Home</a:t>
            </a:r>
          </a:p>
        </p:txBody>
      </p:sp>
    </p:spTree>
    <p:extLst>
      <p:ext uri="{BB962C8B-B14F-4D97-AF65-F5344CB8AC3E}">
        <p14:creationId xmlns:p14="http://schemas.microsoft.com/office/powerpoint/2010/main" val="285584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B85D8-8124-F560-FAC7-411C52A8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8F0622-4B5B-C1B4-CF4E-9A1EC2BE3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1819043" cy="6858000"/>
          </a:xfrm>
          <a:prstGeom prst="rect">
            <a:avLst/>
          </a:prstGeom>
        </p:spPr>
      </p:pic>
      <p:pic>
        <p:nvPicPr>
          <p:cNvPr id="37" name="Picture 36" descr="A blue and white rectangle">
            <a:extLst>
              <a:ext uri="{FF2B5EF4-FFF2-40B4-BE49-F238E27FC236}">
                <a16:creationId xmlns:a16="http://schemas.microsoft.com/office/drawing/2014/main" id="{B455422C-DDA1-9A3E-76A5-10776394C7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06" y="0"/>
            <a:ext cx="10364594" cy="171399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195E3F6-F258-DD7C-7734-D34C482F9051}"/>
              </a:ext>
            </a:extLst>
          </p:cNvPr>
          <p:cNvSpPr txBox="1"/>
          <p:nvPr/>
        </p:nvSpPr>
        <p:spPr>
          <a:xfrm>
            <a:off x="4511800" y="1044190"/>
            <a:ext cx="434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Assign Auditor to Manager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BE3BDC-6BF1-E137-45D0-2A30269F6ED5}"/>
              </a:ext>
            </a:extLst>
          </p:cNvPr>
          <p:cNvSpPr/>
          <p:nvPr/>
        </p:nvSpPr>
        <p:spPr>
          <a:xfrm>
            <a:off x="2252536" y="1690688"/>
            <a:ext cx="9748023" cy="4665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735219-46F6-7720-58E7-A169B61A633A}"/>
              </a:ext>
            </a:extLst>
          </p:cNvPr>
          <p:cNvGrpSpPr/>
          <p:nvPr/>
        </p:nvGrpSpPr>
        <p:grpSpPr>
          <a:xfrm>
            <a:off x="2480618" y="1935012"/>
            <a:ext cx="6256899" cy="377211"/>
            <a:chOff x="1599254" y="2593689"/>
            <a:chExt cx="6256899" cy="37721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5DA0B5-FFAD-F237-CFF7-B60068F475E2}"/>
                </a:ext>
              </a:extLst>
            </p:cNvPr>
            <p:cNvSpPr txBox="1"/>
            <p:nvPr/>
          </p:nvSpPr>
          <p:spPr>
            <a:xfrm>
              <a:off x="6293232" y="2632346"/>
              <a:ext cx="15629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Assign Auditor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4C80973-D8E3-BEA1-7BCB-52E6294E244A}"/>
                </a:ext>
              </a:extLst>
            </p:cNvPr>
            <p:cNvSpPr txBox="1"/>
            <p:nvPr/>
          </p:nvSpPr>
          <p:spPr>
            <a:xfrm flipH="1">
              <a:off x="1599254" y="2593689"/>
              <a:ext cx="14056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Manager 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4F6C60A-4DF4-2359-B48B-607FCAD4958C}"/>
              </a:ext>
            </a:extLst>
          </p:cNvPr>
          <p:cNvSpPr txBox="1"/>
          <p:nvPr/>
        </p:nvSpPr>
        <p:spPr>
          <a:xfrm>
            <a:off x="4595223" y="4962218"/>
            <a:ext cx="1542961" cy="338554"/>
          </a:xfrm>
          <a:prstGeom prst="rect">
            <a:avLst/>
          </a:prstGeom>
          <a:solidFill>
            <a:srgbClr val="5FC3D7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Cancel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F05D72-8842-7C81-F528-44297A74BFBE}"/>
              </a:ext>
            </a:extLst>
          </p:cNvPr>
          <p:cNvSpPr txBox="1"/>
          <p:nvPr/>
        </p:nvSpPr>
        <p:spPr>
          <a:xfrm>
            <a:off x="6977303" y="4962218"/>
            <a:ext cx="1542961" cy="338554"/>
          </a:xfrm>
          <a:prstGeom prst="rect">
            <a:avLst/>
          </a:prstGeom>
          <a:solidFill>
            <a:srgbClr val="5FC3D7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Assign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DEE6846-704F-BC51-D0A5-AD700644280F}"/>
              </a:ext>
            </a:extLst>
          </p:cNvPr>
          <p:cNvGrpSpPr/>
          <p:nvPr/>
        </p:nvGrpSpPr>
        <p:grpSpPr>
          <a:xfrm>
            <a:off x="8336235" y="2410520"/>
            <a:ext cx="2006212" cy="325440"/>
            <a:chOff x="6237863" y="2183530"/>
            <a:chExt cx="1891208" cy="51718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7D16FC3-64A8-4C93-644C-6818B98FE647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23" name="Graphic 27" descr="Caret Down with solid fill">
              <a:extLst>
                <a:ext uri="{FF2B5EF4-FFF2-40B4-BE49-F238E27FC236}">
                  <a16:creationId xmlns:a16="http://schemas.microsoft.com/office/drawing/2014/main" id="{939D5FB4-4F1B-FEDA-CBD1-0C5AFD078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27D54CD3-172B-82E7-4B57-727A81283395}"/>
              </a:ext>
            </a:extLst>
          </p:cNvPr>
          <p:cNvSpPr/>
          <p:nvPr/>
        </p:nvSpPr>
        <p:spPr>
          <a:xfrm>
            <a:off x="8346181" y="2751124"/>
            <a:ext cx="1995214" cy="18972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D66040-332D-B0FF-B2FF-78C947D070B8}"/>
              </a:ext>
            </a:extLst>
          </p:cNvPr>
          <p:cNvSpPr txBox="1"/>
          <p:nvPr/>
        </p:nvSpPr>
        <p:spPr>
          <a:xfrm>
            <a:off x="8358478" y="2718119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Raja &amp; Kumar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B284FD-900F-8B74-C478-F69055B553BF}"/>
              </a:ext>
            </a:extLst>
          </p:cNvPr>
          <p:cNvSpPr txBox="1"/>
          <p:nvPr/>
        </p:nvSpPr>
        <p:spPr>
          <a:xfrm>
            <a:off x="8358478" y="3092543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Kumar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657A55-8775-B138-9819-E7CF45478E16}"/>
              </a:ext>
            </a:extLst>
          </p:cNvPr>
          <p:cNvSpPr txBox="1"/>
          <p:nvPr/>
        </p:nvSpPr>
        <p:spPr>
          <a:xfrm>
            <a:off x="8359961" y="3504821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Raja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3187F4-2246-3AA5-C1A3-3613F1422C8A}"/>
              </a:ext>
            </a:extLst>
          </p:cNvPr>
          <p:cNvSpPr txBox="1"/>
          <p:nvPr/>
        </p:nvSpPr>
        <p:spPr>
          <a:xfrm>
            <a:off x="8347334" y="3866550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Suresh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CC1504-7011-550A-4239-0A99A6C36ED6}"/>
              </a:ext>
            </a:extLst>
          </p:cNvPr>
          <p:cNvSpPr txBox="1"/>
          <p:nvPr/>
        </p:nvSpPr>
        <p:spPr>
          <a:xfrm>
            <a:off x="8374029" y="4251470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Mani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EC982B4-93B3-4495-40A7-2EB21AA233CE}"/>
              </a:ext>
            </a:extLst>
          </p:cNvPr>
          <p:cNvGrpSpPr/>
          <p:nvPr/>
        </p:nvGrpSpPr>
        <p:grpSpPr>
          <a:xfrm>
            <a:off x="3262452" y="2410520"/>
            <a:ext cx="2006212" cy="325440"/>
            <a:chOff x="6237863" y="2183530"/>
            <a:chExt cx="1891208" cy="51718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2E0FFDA-637E-ACFF-60BE-9AFD8CBEE7BC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53" name="Graphic 27" descr="Caret Down with solid fill">
              <a:extLst>
                <a:ext uri="{FF2B5EF4-FFF2-40B4-BE49-F238E27FC236}">
                  <a16:creationId xmlns:a16="http://schemas.microsoft.com/office/drawing/2014/main" id="{DF9452E1-516D-035C-3400-81093F8EB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C1981E5C-0C11-F1B5-AA3C-2326E253928F}"/>
              </a:ext>
            </a:extLst>
          </p:cNvPr>
          <p:cNvSpPr/>
          <p:nvPr/>
        </p:nvSpPr>
        <p:spPr>
          <a:xfrm>
            <a:off x="3272398" y="2751124"/>
            <a:ext cx="1995214" cy="18972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605529-0B78-F9F2-1D4B-C37FB42DB5A2}"/>
              </a:ext>
            </a:extLst>
          </p:cNvPr>
          <p:cNvSpPr txBox="1"/>
          <p:nvPr/>
        </p:nvSpPr>
        <p:spPr>
          <a:xfrm>
            <a:off x="3284695" y="2718119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Ragu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06C66E-4A65-FA0D-26DB-4E3AF1014D96}"/>
              </a:ext>
            </a:extLst>
          </p:cNvPr>
          <p:cNvSpPr txBox="1"/>
          <p:nvPr/>
        </p:nvSpPr>
        <p:spPr>
          <a:xfrm>
            <a:off x="3284695" y="3092543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Suresh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F228AB-0F04-0375-044D-49569DFBF67A}"/>
              </a:ext>
            </a:extLst>
          </p:cNvPr>
          <p:cNvSpPr txBox="1"/>
          <p:nvPr/>
        </p:nvSpPr>
        <p:spPr>
          <a:xfrm>
            <a:off x="3286178" y="3504821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Vimal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3D4DAF-D352-E351-C69C-05683589145A}"/>
              </a:ext>
            </a:extLst>
          </p:cNvPr>
          <p:cNvSpPr txBox="1"/>
          <p:nvPr/>
        </p:nvSpPr>
        <p:spPr>
          <a:xfrm>
            <a:off x="3273551" y="3866550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Sundar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6A2366-D600-DCD1-B664-ED4B75612B26}"/>
              </a:ext>
            </a:extLst>
          </p:cNvPr>
          <p:cNvSpPr txBox="1"/>
          <p:nvPr/>
        </p:nvSpPr>
        <p:spPr>
          <a:xfrm>
            <a:off x="3300246" y="4251470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5543BC-D24A-7FFA-1B6D-BB604421174E}"/>
              </a:ext>
            </a:extLst>
          </p:cNvPr>
          <p:cNvSpPr txBox="1"/>
          <p:nvPr/>
        </p:nvSpPr>
        <p:spPr>
          <a:xfrm>
            <a:off x="421423" y="4874447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3" name="Picture 2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5406F635-C03F-1B76-1850-4DDE8830F3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919870"/>
            <a:ext cx="234175" cy="234175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A34DE94C-B8B0-56F1-77A2-2AE290E11CA7}"/>
              </a:ext>
            </a:extLst>
          </p:cNvPr>
          <p:cNvSpPr/>
          <p:nvPr/>
        </p:nvSpPr>
        <p:spPr>
          <a:xfrm>
            <a:off x="2693640" y="630832"/>
            <a:ext cx="171379" cy="149753"/>
          </a:xfrm>
          <a:prstGeom prst="lef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ome with solid fill">
            <a:extLst>
              <a:ext uri="{FF2B5EF4-FFF2-40B4-BE49-F238E27FC236}">
                <a16:creationId xmlns:a16="http://schemas.microsoft.com/office/drawing/2014/main" id="{5F4AC858-B443-F662-8422-E34A0CB22A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49038" y="534545"/>
            <a:ext cx="305290" cy="305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1022CE-4BF8-93C3-B0E8-AC67DDC2BBD0}"/>
              </a:ext>
            </a:extLst>
          </p:cNvPr>
          <p:cNvSpPr txBox="1"/>
          <p:nvPr/>
        </p:nvSpPr>
        <p:spPr>
          <a:xfrm>
            <a:off x="1770555" y="813840"/>
            <a:ext cx="862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b="1" dirty="0"/>
              <a:t>Audit Home</a:t>
            </a:r>
          </a:p>
        </p:txBody>
      </p:sp>
    </p:spTree>
    <p:extLst>
      <p:ext uri="{BB962C8B-B14F-4D97-AF65-F5344CB8AC3E}">
        <p14:creationId xmlns:p14="http://schemas.microsoft.com/office/powerpoint/2010/main" val="3889388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66C3-336A-2352-B69D-9822F9ADA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CBDD82-E555-A6BE-F628-A6A967444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1819043" cy="6858000"/>
          </a:xfrm>
          <a:prstGeom prst="rect">
            <a:avLst/>
          </a:prstGeom>
        </p:spPr>
      </p:pic>
      <p:pic>
        <p:nvPicPr>
          <p:cNvPr id="37" name="Picture 36" descr="A blue and white rectangle">
            <a:extLst>
              <a:ext uri="{FF2B5EF4-FFF2-40B4-BE49-F238E27FC236}">
                <a16:creationId xmlns:a16="http://schemas.microsoft.com/office/drawing/2014/main" id="{65F7F440-0EF5-1DB6-0D4C-655FCD5FA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06" y="0"/>
            <a:ext cx="10364594" cy="171399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F95603-747F-85EF-5A2C-697603295926}"/>
              </a:ext>
            </a:extLst>
          </p:cNvPr>
          <p:cNvSpPr txBox="1"/>
          <p:nvPr/>
        </p:nvSpPr>
        <p:spPr>
          <a:xfrm>
            <a:off x="4511800" y="1044190"/>
            <a:ext cx="434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Assign Company to Auditor</a:t>
            </a:r>
          </a:p>
        </p:txBody>
      </p:sp>
      <p:sp>
        <p:nvSpPr>
          <p:cNvPr id="48" name="Arrow: Left 47">
            <a:extLst>
              <a:ext uri="{FF2B5EF4-FFF2-40B4-BE49-F238E27FC236}">
                <a16:creationId xmlns:a16="http://schemas.microsoft.com/office/drawing/2014/main" id="{09FB70A4-A2E7-3AD2-FB06-FF026B7AA4B9}"/>
              </a:ext>
            </a:extLst>
          </p:cNvPr>
          <p:cNvSpPr/>
          <p:nvPr/>
        </p:nvSpPr>
        <p:spPr>
          <a:xfrm>
            <a:off x="2693640" y="630832"/>
            <a:ext cx="171379" cy="149753"/>
          </a:xfrm>
          <a:prstGeom prst="lef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C8C7C9-AF3B-FCA6-49B8-E7EFC973592F}"/>
              </a:ext>
            </a:extLst>
          </p:cNvPr>
          <p:cNvSpPr/>
          <p:nvPr/>
        </p:nvSpPr>
        <p:spPr>
          <a:xfrm>
            <a:off x="2268938" y="1713994"/>
            <a:ext cx="9163938" cy="46119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CED9D1-5601-7E8A-0295-CA179C0241C4}"/>
              </a:ext>
            </a:extLst>
          </p:cNvPr>
          <p:cNvCxnSpPr>
            <a:cxnSpLocks/>
          </p:cNvCxnSpPr>
          <p:nvPr/>
        </p:nvCxnSpPr>
        <p:spPr>
          <a:xfrm>
            <a:off x="2268938" y="2153777"/>
            <a:ext cx="9163938" cy="56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F96C2D1-0361-D544-16BA-00D7A935B5D6}"/>
              </a:ext>
            </a:extLst>
          </p:cNvPr>
          <p:cNvSpPr txBox="1"/>
          <p:nvPr/>
        </p:nvSpPr>
        <p:spPr>
          <a:xfrm>
            <a:off x="3884552" y="1792055"/>
            <a:ext cx="2198491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Company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77834-74B7-FBBA-FC29-F71EEC16F9AA}"/>
              </a:ext>
            </a:extLst>
          </p:cNvPr>
          <p:cNvSpPr txBox="1"/>
          <p:nvPr/>
        </p:nvSpPr>
        <p:spPr>
          <a:xfrm>
            <a:off x="6207678" y="1792055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Company 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444E45-2914-95FE-E49D-A38048389182}"/>
              </a:ext>
            </a:extLst>
          </p:cNvPr>
          <p:cNvSpPr txBox="1"/>
          <p:nvPr/>
        </p:nvSpPr>
        <p:spPr>
          <a:xfrm>
            <a:off x="8541552" y="1814114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Auditor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53124-5EE4-612B-023C-508860DA1E40}"/>
              </a:ext>
            </a:extLst>
          </p:cNvPr>
          <p:cNvSpPr txBox="1"/>
          <p:nvPr/>
        </p:nvSpPr>
        <p:spPr>
          <a:xfrm>
            <a:off x="2240466" y="2576920"/>
            <a:ext cx="2783457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AE-2347346576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2F5C5-2E83-E661-9666-B783D2E2475A}"/>
              </a:ext>
            </a:extLst>
          </p:cNvPr>
          <p:cNvSpPr txBox="1"/>
          <p:nvPr/>
        </p:nvSpPr>
        <p:spPr>
          <a:xfrm>
            <a:off x="2268938" y="3394331"/>
            <a:ext cx="1863458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AE-7634567567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68AF0-394E-A304-C1A4-7176C5C0FCC9}"/>
              </a:ext>
            </a:extLst>
          </p:cNvPr>
          <p:cNvSpPr txBox="1"/>
          <p:nvPr/>
        </p:nvSpPr>
        <p:spPr>
          <a:xfrm>
            <a:off x="2258506" y="4075520"/>
            <a:ext cx="2118370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AE-7457346573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DEBE2-A371-2FA9-6F5B-CA586FFC7A64}"/>
              </a:ext>
            </a:extLst>
          </p:cNvPr>
          <p:cNvSpPr txBox="1"/>
          <p:nvPr/>
        </p:nvSpPr>
        <p:spPr>
          <a:xfrm>
            <a:off x="2268938" y="5396044"/>
            <a:ext cx="2012252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AE-3847567845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803AE1-5EEF-05F2-D87A-EA8C12833CFF}"/>
              </a:ext>
            </a:extLst>
          </p:cNvPr>
          <p:cNvSpPr txBox="1"/>
          <p:nvPr/>
        </p:nvSpPr>
        <p:spPr>
          <a:xfrm>
            <a:off x="2240466" y="4729169"/>
            <a:ext cx="2007399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AE-7846374657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D315A5-B19D-D206-DE27-3E6C44BCCE1E}"/>
              </a:ext>
            </a:extLst>
          </p:cNvPr>
          <p:cNvSpPr txBox="1"/>
          <p:nvPr/>
        </p:nvSpPr>
        <p:spPr>
          <a:xfrm>
            <a:off x="4280915" y="2589764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DHL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4ED8AC-3FDB-65D1-C7AE-C27980DD6466}"/>
              </a:ext>
            </a:extLst>
          </p:cNvPr>
          <p:cNvSpPr txBox="1"/>
          <p:nvPr/>
        </p:nvSpPr>
        <p:spPr>
          <a:xfrm>
            <a:off x="4429709" y="3315421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i="0" dirty="0">
                <a:solidFill>
                  <a:srgbClr val="000000"/>
                </a:solidFill>
                <a:effectLst/>
              </a:rPr>
              <a:t>AL FUTTAIM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CAB31D-C3A6-658F-0A80-A0E64213C76A}"/>
              </a:ext>
            </a:extLst>
          </p:cNvPr>
          <p:cNvSpPr txBox="1"/>
          <p:nvPr/>
        </p:nvSpPr>
        <p:spPr>
          <a:xfrm>
            <a:off x="4212035" y="4039328"/>
            <a:ext cx="2503199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i="0" dirty="0">
                <a:solidFill>
                  <a:srgbClr val="000000"/>
                </a:solidFill>
                <a:effectLst/>
              </a:rPr>
              <a:t>NINJAVAH LOGISTICS</a:t>
            </a:r>
            <a:endParaRPr 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BF748A-31C7-93C5-9231-3E7BFEC86C2E}"/>
              </a:ext>
            </a:extLst>
          </p:cNvPr>
          <p:cNvSpPr txBox="1"/>
          <p:nvPr/>
        </p:nvSpPr>
        <p:spPr>
          <a:xfrm>
            <a:off x="4194320" y="4711462"/>
            <a:ext cx="2375732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i="0" dirty="0">
                <a:solidFill>
                  <a:srgbClr val="000000"/>
                </a:solidFill>
                <a:effectLst/>
              </a:rPr>
              <a:t>NAQUEL LOGISTICS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225582-0B25-D454-C81A-A5C05EB07D97}"/>
              </a:ext>
            </a:extLst>
          </p:cNvPr>
          <p:cNvSpPr txBox="1"/>
          <p:nvPr/>
        </p:nvSpPr>
        <p:spPr>
          <a:xfrm>
            <a:off x="4129946" y="5387186"/>
            <a:ext cx="2697431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i="0" dirty="0">
                <a:solidFill>
                  <a:srgbClr val="000000"/>
                </a:solidFill>
                <a:effectLst/>
              </a:rPr>
              <a:t>MONSANADA LOGISTICS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E4046D-E3AD-7A24-5F18-B07196D85D69}"/>
              </a:ext>
            </a:extLst>
          </p:cNvPr>
          <p:cNvSpPr txBox="1"/>
          <p:nvPr/>
        </p:nvSpPr>
        <p:spPr>
          <a:xfrm>
            <a:off x="6520143" y="2598989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FZ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FE7328-7568-4D4F-5C5E-25EC4D2145A4}"/>
              </a:ext>
            </a:extLst>
          </p:cNvPr>
          <p:cNvSpPr txBox="1"/>
          <p:nvPr/>
        </p:nvSpPr>
        <p:spPr>
          <a:xfrm>
            <a:off x="6622977" y="3262525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Mainland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7C10D9-8547-4454-1ACE-3DB73AD55875}"/>
              </a:ext>
            </a:extLst>
          </p:cNvPr>
          <p:cNvSpPr txBox="1"/>
          <p:nvPr/>
        </p:nvSpPr>
        <p:spPr>
          <a:xfrm>
            <a:off x="6596678" y="3971053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Broker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0D3544-9723-547C-0F20-46A656D7BE06}"/>
              </a:ext>
            </a:extLst>
          </p:cNvPr>
          <p:cNvSpPr txBox="1"/>
          <p:nvPr/>
        </p:nvSpPr>
        <p:spPr>
          <a:xfrm>
            <a:off x="6827378" y="5410196"/>
            <a:ext cx="1251900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Mainland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BCF81-4987-7307-48B1-CFD10CD81E46}"/>
              </a:ext>
            </a:extLst>
          </p:cNvPr>
          <p:cNvSpPr txBox="1"/>
          <p:nvPr/>
        </p:nvSpPr>
        <p:spPr>
          <a:xfrm>
            <a:off x="6788941" y="4681324"/>
            <a:ext cx="1251900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Warehouse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E149E99-140E-6C8C-28AC-F45C47DE6A1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653" y="1920419"/>
            <a:ext cx="267180" cy="131641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F8F282CB-803C-CDE6-A856-2177CBB30361}"/>
              </a:ext>
            </a:extLst>
          </p:cNvPr>
          <p:cNvGrpSpPr/>
          <p:nvPr/>
        </p:nvGrpSpPr>
        <p:grpSpPr>
          <a:xfrm>
            <a:off x="8709624" y="2666126"/>
            <a:ext cx="1832464" cy="299299"/>
            <a:chOff x="6237863" y="2183530"/>
            <a:chExt cx="1891208" cy="51718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0EA7700-2F08-3BD1-ADE2-5F256BA806CD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/>
                <a:t>|  </a:t>
              </a:r>
            </a:p>
          </p:txBody>
        </p:sp>
        <p:pic>
          <p:nvPicPr>
            <p:cNvPr id="42" name="Graphic 27" descr="Caret Down with solid fill">
              <a:extLst>
                <a:ext uri="{FF2B5EF4-FFF2-40B4-BE49-F238E27FC236}">
                  <a16:creationId xmlns:a16="http://schemas.microsoft.com/office/drawing/2014/main" id="{5F3A9134-7495-7D93-5EEC-91797959F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E9996F66-1AC6-77B0-CACE-C0DD9744E8E1}"/>
              </a:ext>
            </a:extLst>
          </p:cNvPr>
          <p:cNvSpPr/>
          <p:nvPr/>
        </p:nvSpPr>
        <p:spPr>
          <a:xfrm>
            <a:off x="8718708" y="2979371"/>
            <a:ext cx="1822419" cy="1744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6876B3-7183-E466-6460-C6023AAB005B}"/>
              </a:ext>
            </a:extLst>
          </p:cNvPr>
          <p:cNvSpPr txBox="1"/>
          <p:nvPr/>
        </p:nvSpPr>
        <p:spPr>
          <a:xfrm>
            <a:off x="8729940" y="2949017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Raja &amp; Kumar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6776F3-B9B4-BBE8-3F5E-9F95098F0768}"/>
              </a:ext>
            </a:extLst>
          </p:cNvPr>
          <p:cNvSpPr txBox="1"/>
          <p:nvPr/>
        </p:nvSpPr>
        <p:spPr>
          <a:xfrm>
            <a:off x="8729940" y="3293366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Kumar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423FC8-AF34-7E06-0483-268929C84FA7}"/>
              </a:ext>
            </a:extLst>
          </p:cNvPr>
          <p:cNvSpPr txBox="1"/>
          <p:nvPr/>
        </p:nvSpPr>
        <p:spPr>
          <a:xfrm>
            <a:off x="8731295" y="3672528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Raja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6986BD-40D9-FAC1-905E-5E194D5788E2}"/>
              </a:ext>
            </a:extLst>
          </p:cNvPr>
          <p:cNvSpPr txBox="1"/>
          <p:nvPr/>
        </p:nvSpPr>
        <p:spPr>
          <a:xfrm>
            <a:off x="8719761" y="4005201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Suresh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8A2F36-42DD-BBE3-1AC8-98E830F964D2}"/>
              </a:ext>
            </a:extLst>
          </p:cNvPr>
          <p:cNvSpPr txBox="1"/>
          <p:nvPr/>
        </p:nvSpPr>
        <p:spPr>
          <a:xfrm>
            <a:off x="8744144" y="4359203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Mani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E45B8D-B3FC-8C65-E95D-8B6DFB4D20F8}"/>
              </a:ext>
            </a:extLst>
          </p:cNvPr>
          <p:cNvSpPr txBox="1"/>
          <p:nvPr/>
        </p:nvSpPr>
        <p:spPr>
          <a:xfrm>
            <a:off x="8690704" y="4790302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Kumar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B3DCD8A-6782-E5DB-339C-994CC013161F}"/>
              </a:ext>
            </a:extLst>
          </p:cNvPr>
          <p:cNvSpPr txBox="1"/>
          <p:nvPr/>
        </p:nvSpPr>
        <p:spPr>
          <a:xfrm>
            <a:off x="8708150" y="5406815"/>
            <a:ext cx="1660706" cy="31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Suresh</a:t>
            </a:r>
          </a:p>
        </p:txBody>
      </p:sp>
      <p:pic>
        <p:nvPicPr>
          <p:cNvPr id="64" name="Picture 10" descr="Accept, correct, done, ok, success, tick, valid icon - Download on  Iconfinder">
            <a:extLst>
              <a:ext uri="{FF2B5EF4-FFF2-40B4-BE49-F238E27FC236}">
                <a16:creationId xmlns:a16="http://schemas.microsoft.com/office/drawing/2014/main" id="{7CB09CAA-364E-B2F5-22AE-80760552B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5801" y="2675945"/>
            <a:ext cx="254986" cy="25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624DAA99-9B05-963E-D175-6E132B10BC2E}"/>
              </a:ext>
            </a:extLst>
          </p:cNvPr>
          <p:cNvSpPr txBox="1"/>
          <p:nvPr/>
        </p:nvSpPr>
        <p:spPr>
          <a:xfrm>
            <a:off x="10662856" y="2653501"/>
            <a:ext cx="208895" cy="339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B312651-C364-B65B-C737-6D0BBBEDBB8C}"/>
                  </a:ext>
                </a:extLst>
              </p14:cNvPr>
              <p14:cNvContentPartPr/>
              <p14:nvPr/>
            </p14:nvContentPartPr>
            <p14:xfrm>
              <a:off x="11922194" y="4705335"/>
              <a:ext cx="329" cy="331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B312651-C364-B65B-C737-6D0BBBEDBB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916601" y="4699708"/>
                <a:ext cx="11515" cy="11585"/>
              </a:xfrm>
              <a:prstGeom prst="rect">
                <a:avLst/>
              </a:prstGeom>
            </p:spPr>
          </p:pic>
        </mc:Fallback>
      </mc:AlternateContent>
      <p:pic>
        <p:nvPicPr>
          <p:cNvPr id="67" name="Picture 66">
            <a:extLst>
              <a:ext uri="{FF2B5EF4-FFF2-40B4-BE49-F238E27FC236}">
                <a16:creationId xmlns:a16="http://schemas.microsoft.com/office/drawing/2014/main" id="{CCDCD16A-5F1E-DB5A-BA03-F1A8EC95D4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0541" y="5465261"/>
            <a:ext cx="162419" cy="163536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F21B7EE-F3AD-C693-29D4-FAFE5D7EBB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304" y="4790302"/>
            <a:ext cx="162419" cy="16353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5570F3E-C375-39FA-C66F-F3E5E61EAAD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303" y="4094218"/>
            <a:ext cx="162419" cy="163536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0710738-A387-24AA-1740-8833D806553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0541" y="3389227"/>
            <a:ext cx="162419" cy="163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30A1C7-12B0-66F3-568D-724341EE9261}"/>
              </a:ext>
            </a:extLst>
          </p:cNvPr>
          <p:cNvSpPr txBox="1"/>
          <p:nvPr/>
        </p:nvSpPr>
        <p:spPr>
          <a:xfrm>
            <a:off x="421423" y="4874444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6" name="Picture 5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94BBFDFD-93A2-44C1-7C62-2A1522FC4B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919870"/>
            <a:ext cx="234175" cy="234175"/>
          </a:xfrm>
          <a:prstGeom prst="rect">
            <a:avLst/>
          </a:prstGeom>
        </p:spPr>
      </p:pic>
      <p:pic>
        <p:nvPicPr>
          <p:cNvPr id="22" name="Graphic 21" descr="Home with solid fill">
            <a:extLst>
              <a:ext uri="{FF2B5EF4-FFF2-40B4-BE49-F238E27FC236}">
                <a16:creationId xmlns:a16="http://schemas.microsoft.com/office/drawing/2014/main" id="{A9736F27-9BBB-8D0F-150F-59D8FC3D142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49038" y="534545"/>
            <a:ext cx="305290" cy="30529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3D4D423-912C-E8BD-95DC-FD55BE8AD5E4}"/>
              </a:ext>
            </a:extLst>
          </p:cNvPr>
          <p:cNvSpPr txBox="1"/>
          <p:nvPr/>
        </p:nvSpPr>
        <p:spPr>
          <a:xfrm>
            <a:off x="1770555" y="813840"/>
            <a:ext cx="862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b="1" dirty="0"/>
              <a:t>Audit Home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A6D763-9167-D120-1DB7-3DD0F4092CC7}"/>
              </a:ext>
            </a:extLst>
          </p:cNvPr>
          <p:cNvSpPr txBox="1"/>
          <p:nvPr/>
        </p:nvSpPr>
        <p:spPr>
          <a:xfrm>
            <a:off x="1972126" y="1782209"/>
            <a:ext cx="2198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Company Code</a:t>
            </a:r>
          </a:p>
        </p:txBody>
      </p:sp>
    </p:spTree>
    <p:extLst>
      <p:ext uri="{BB962C8B-B14F-4D97-AF65-F5344CB8AC3E}">
        <p14:creationId xmlns:p14="http://schemas.microsoft.com/office/powerpoint/2010/main" val="3518109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8E1F8-D746-997C-6D9E-42522876E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B378B1-AB1F-A74C-E6A6-F06DF538E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1819043" cy="6858000"/>
          </a:xfrm>
          <a:prstGeom prst="rect">
            <a:avLst/>
          </a:prstGeom>
        </p:spPr>
      </p:pic>
      <p:pic>
        <p:nvPicPr>
          <p:cNvPr id="37" name="Picture 36" descr="A blue and white rectangle">
            <a:extLst>
              <a:ext uri="{FF2B5EF4-FFF2-40B4-BE49-F238E27FC236}">
                <a16:creationId xmlns:a16="http://schemas.microsoft.com/office/drawing/2014/main" id="{85B15876-897C-EA89-98B0-88A712297E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06" y="0"/>
            <a:ext cx="10364594" cy="171399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B81A89C-F7C0-CB94-07B8-62037F77573E}"/>
              </a:ext>
            </a:extLst>
          </p:cNvPr>
          <p:cNvSpPr txBox="1"/>
          <p:nvPr/>
        </p:nvSpPr>
        <p:spPr>
          <a:xfrm>
            <a:off x="4511800" y="1044190"/>
            <a:ext cx="434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Audit Status Summary – Company wise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811CFD-B68E-86FD-CE08-6F494E6F2AA6}"/>
              </a:ext>
            </a:extLst>
          </p:cNvPr>
          <p:cNvSpPr/>
          <p:nvPr/>
        </p:nvSpPr>
        <p:spPr>
          <a:xfrm>
            <a:off x="2349489" y="1616351"/>
            <a:ext cx="9055531" cy="42754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0224B2-3A47-EC9F-09BD-8DEE83A9A8AF}"/>
              </a:ext>
            </a:extLst>
          </p:cNvPr>
          <p:cNvCxnSpPr>
            <a:cxnSpLocks/>
          </p:cNvCxnSpPr>
          <p:nvPr/>
        </p:nvCxnSpPr>
        <p:spPr>
          <a:xfrm>
            <a:off x="2349489" y="2114173"/>
            <a:ext cx="9047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9F3B87D-03FF-C204-0D5D-0C15CD1A6BEF}"/>
              </a:ext>
            </a:extLst>
          </p:cNvPr>
          <p:cNvSpPr txBox="1"/>
          <p:nvPr/>
        </p:nvSpPr>
        <p:spPr>
          <a:xfrm>
            <a:off x="2329850" y="1707383"/>
            <a:ext cx="1552995" cy="31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Company Code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9969D4-8C69-8900-B51F-622EF8F45CD3}"/>
              </a:ext>
            </a:extLst>
          </p:cNvPr>
          <p:cNvSpPr txBox="1"/>
          <p:nvPr/>
        </p:nvSpPr>
        <p:spPr>
          <a:xfrm>
            <a:off x="3444472" y="1706860"/>
            <a:ext cx="2179509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Company 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BDC662-9D4D-A0B5-6E16-A20990AE77AA}"/>
              </a:ext>
            </a:extLst>
          </p:cNvPr>
          <p:cNvSpPr txBox="1"/>
          <p:nvPr/>
        </p:nvSpPr>
        <p:spPr>
          <a:xfrm>
            <a:off x="5638521" y="1697313"/>
            <a:ext cx="1103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Manager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1FB646-2A06-9C17-2577-E4F94A700F7C}"/>
              </a:ext>
            </a:extLst>
          </p:cNvPr>
          <p:cNvSpPr txBox="1"/>
          <p:nvPr/>
        </p:nvSpPr>
        <p:spPr>
          <a:xfrm>
            <a:off x="7368095" y="1707593"/>
            <a:ext cx="1646367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Closed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000092-B4CE-328C-F610-82B75A3DB583}"/>
              </a:ext>
            </a:extLst>
          </p:cNvPr>
          <p:cNvSpPr txBox="1"/>
          <p:nvPr/>
        </p:nvSpPr>
        <p:spPr>
          <a:xfrm>
            <a:off x="2390633" y="2573519"/>
            <a:ext cx="1576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AE-2347346576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306563-726B-9321-4A9B-006F291F469A}"/>
              </a:ext>
            </a:extLst>
          </p:cNvPr>
          <p:cNvSpPr txBox="1"/>
          <p:nvPr/>
        </p:nvSpPr>
        <p:spPr>
          <a:xfrm>
            <a:off x="2390633" y="3335455"/>
            <a:ext cx="1576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AE-7634567567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73F4CE-F5C0-56D9-F2A8-682CE95F4C15}"/>
              </a:ext>
            </a:extLst>
          </p:cNvPr>
          <p:cNvSpPr txBox="1"/>
          <p:nvPr/>
        </p:nvSpPr>
        <p:spPr>
          <a:xfrm>
            <a:off x="2390633" y="4079780"/>
            <a:ext cx="1792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AE-7457346573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B767CE-F353-BB9E-7E6E-771F70D20BA2}"/>
              </a:ext>
            </a:extLst>
          </p:cNvPr>
          <p:cNvSpPr txBox="1"/>
          <p:nvPr/>
        </p:nvSpPr>
        <p:spPr>
          <a:xfrm>
            <a:off x="2390633" y="5368405"/>
            <a:ext cx="1702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AE-3847567845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EAF4AA-1B0A-C61E-82DA-76A05BD1305F}"/>
              </a:ext>
            </a:extLst>
          </p:cNvPr>
          <p:cNvSpPr txBox="1"/>
          <p:nvPr/>
        </p:nvSpPr>
        <p:spPr>
          <a:xfrm>
            <a:off x="2390633" y="4674775"/>
            <a:ext cx="1698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AE-7846374657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51CB0A-9FEF-EE22-AE26-372CC0505502}"/>
              </a:ext>
            </a:extLst>
          </p:cNvPr>
          <p:cNvSpPr txBox="1"/>
          <p:nvPr/>
        </p:nvSpPr>
        <p:spPr>
          <a:xfrm>
            <a:off x="3712206" y="2573519"/>
            <a:ext cx="1646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DHL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947F86-C761-FC19-1677-DAAD0C8F23CE}"/>
              </a:ext>
            </a:extLst>
          </p:cNvPr>
          <p:cNvSpPr txBox="1"/>
          <p:nvPr/>
        </p:nvSpPr>
        <p:spPr>
          <a:xfrm>
            <a:off x="3712206" y="3335455"/>
            <a:ext cx="1646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AL FUTTAIM</a:t>
            </a:r>
            <a:endParaRPr 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31B1BE-5BA9-C867-83E0-8046F8566B1A}"/>
              </a:ext>
            </a:extLst>
          </p:cNvPr>
          <p:cNvSpPr txBox="1"/>
          <p:nvPr/>
        </p:nvSpPr>
        <p:spPr>
          <a:xfrm>
            <a:off x="3712206" y="4079780"/>
            <a:ext cx="2481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NINJAVAH LOGISTICS</a:t>
            </a:r>
            <a:endParaRPr 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5354FD-757F-C67E-4EB5-053E9433F0F0}"/>
              </a:ext>
            </a:extLst>
          </p:cNvPr>
          <p:cNvSpPr txBox="1"/>
          <p:nvPr/>
        </p:nvSpPr>
        <p:spPr>
          <a:xfrm>
            <a:off x="3712206" y="4674775"/>
            <a:ext cx="2355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NAQUEL LOGISTICS</a:t>
            </a:r>
            <a:endParaRPr 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C30647-D494-CCC4-52F3-D6EF4FDB74AD}"/>
              </a:ext>
            </a:extLst>
          </p:cNvPr>
          <p:cNvSpPr txBox="1"/>
          <p:nvPr/>
        </p:nvSpPr>
        <p:spPr>
          <a:xfrm>
            <a:off x="3712206" y="5368405"/>
            <a:ext cx="2674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MONSANADA LOGISTICS</a:t>
            </a:r>
            <a:endParaRPr 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D43EB3-F70D-E6FC-0003-6B6EF21120CE}"/>
              </a:ext>
            </a:extLst>
          </p:cNvPr>
          <p:cNvSpPr txBox="1"/>
          <p:nvPr/>
        </p:nvSpPr>
        <p:spPr>
          <a:xfrm>
            <a:off x="6370718" y="1701505"/>
            <a:ext cx="1363082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Auditor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44AA82-5942-D1C3-DDDE-67BBF84E5E10}"/>
              </a:ext>
            </a:extLst>
          </p:cNvPr>
          <p:cNvSpPr txBox="1"/>
          <p:nvPr/>
        </p:nvSpPr>
        <p:spPr>
          <a:xfrm>
            <a:off x="9281383" y="1614259"/>
            <a:ext cx="1105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Pending with Client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C9AF67-FE70-96E5-6AC6-7509F18D02E3}"/>
              </a:ext>
            </a:extLst>
          </p:cNvPr>
          <p:cNvSpPr txBox="1"/>
          <p:nvPr/>
        </p:nvSpPr>
        <p:spPr>
          <a:xfrm>
            <a:off x="8586146" y="1707461"/>
            <a:ext cx="845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Open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790AC0-DF3E-E237-ADA6-8B96FB514479}"/>
              </a:ext>
            </a:extLst>
          </p:cNvPr>
          <p:cNvSpPr txBox="1"/>
          <p:nvPr/>
        </p:nvSpPr>
        <p:spPr>
          <a:xfrm>
            <a:off x="5813499" y="2562365"/>
            <a:ext cx="1646367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Ragu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9FB491-172C-67F7-02E3-FE4DE0B3F22D}"/>
              </a:ext>
            </a:extLst>
          </p:cNvPr>
          <p:cNvSpPr txBox="1"/>
          <p:nvPr/>
        </p:nvSpPr>
        <p:spPr>
          <a:xfrm>
            <a:off x="5813499" y="3324301"/>
            <a:ext cx="1646367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Suresh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056B84-4665-063B-23BE-F5DFF315A5D5}"/>
              </a:ext>
            </a:extLst>
          </p:cNvPr>
          <p:cNvSpPr txBox="1"/>
          <p:nvPr/>
        </p:nvSpPr>
        <p:spPr>
          <a:xfrm>
            <a:off x="5813499" y="4068626"/>
            <a:ext cx="1646367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Vimal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3DCD34-AADD-5B3E-9279-DE1644BF546B}"/>
              </a:ext>
            </a:extLst>
          </p:cNvPr>
          <p:cNvSpPr txBox="1"/>
          <p:nvPr/>
        </p:nvSpPr>
        <p:spPr>
          <a:xfrm>
            <a:off x="5813499" y="4663621"/>
            <a:ext cx="1646367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Sundar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CB9846-BD67-115F-E8BC-33EAFBD3D8A7}"/>
              </a:ext>
            </a:extLst>
          </p:cNvPr>
          <p:cNvSpPr txBox="1"/>
          <p:nvPr/>
        </p:nvSpPr>
        <p:spPr>
          <a:xfrm>
            <a:off x="5813499" y="5357251"/>
            <a:ext cx="1646367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Joel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F279505-BAE5-A067-8E78-72CCF126C869}"/>
              </a:ext>
            </a:extLst>
          </p:cNvPr>
          <p:cNvSpPr txBox="1"/>
          <p:nvPr/>
        </p:nvSpPr>
        <p:spPr>
          <a:xfrm>
            <a:off x="6707144" y="3324301"/>
            <a:ext cx="1646367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Raja &amp; Kumar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F82F56-FD55-C0D4-FF56-D73874D9C331}"/>
              </a:ext>
            </a:extLst>
          </p:cNvPr>
          <p:cNvSpPr txBox="1"/>
          <p:nvPr/>
        </p:nvSpPr>
        <p:spPr>
          <a:xfrm>
            <a:off x="6707144" y="4068626"/>
            <a:ext cx="1646367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Kumar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4FEFD0-FCF3-09C0-9104-D334A8342D39}"/>
              </a:ext>
            </a:extLst>
          </p:cNvPr>
          <p:cNvSpPr txBox="1"/>
          <p:nvPr/>
        </p:nvSpPr>
        <p:spPr>
          <a:xfrm>
            <a:off x="6707144" y="4663621"/>
            <a:ext cx="1646367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Suresh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EF78716-ACD6-4F35-1B83-01E9C8A7501E}"/>
              </a:ext>
            </a:extLst>
          </p:cNvPr>
          <p:cNvSpPr txBox="1"/>
          <p:nvPr/>
        </p:nvSpPr>
        <p:spPr>
          <a:xfrm>
            <a:off x="6707144" y="5357251"/>
            <a:ext cx="1646367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Mani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D72E89F-A1C5-D2E9-E3B4-8309D7ECF977}"/>
              </a:ext>
            </a:extLst>
          </p:cNvPr>
          <p:cNvSpPr txBox="1"/>
          <p:nvPr/>
        </p:nvSpPr>
        <p:spPr>
          <a:xfrm>
            <a:off x="6707144" y="2562365"/>
            <a:ext cx="1646367" cy="31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Raja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49E70-8EFF-F9D5-96B8-191625D8E1EC}"/>
              </a:ext>
            </a:extLst>
          </p:cNvPr>
          <p:cNvSpPr txBox="1"/>
          <p:nvPr/>
        </p:nvSpPr>
        <p:spPr>
          <a:xfrm>
            <a:off x="7911465" y="2562366"/>
            <a:ext cx="570337" cy="318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596F47-F425-EB5A-1BFB-867BE249E5B5}"/>
              </a:ext>
            </a:extLst>
          </p:cNvPr>
          <p:cNvSpPr txBox="1"/>
          <p:nvPr/>
        </p:nvSpPr>
        <p:spPr>
          <a:xfrm>
            <a:off x="8741081" y="2562366"/>
            <a:ext cx="535168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C883803-9464-F9AF-1605-7DA0818D6505}"/>
              </a:ext>
            </a:extLst>
          </p:cNvPr>
          <p:cNvSpPr txBox="1"/>
          <p:nvPr/>
        </p:nvSpPr>
        <p:spPr>
          <a:xfrm>
            <a:off x="7911465" y="3324302"/>
            <a:ext cx="570337" cy="318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5AB1189-090C-74ED-897F-36CCDA79A1D7}"/>
              </a:ext>
            </a:extLst>
          </p:cNvPr>
          <p:cNvSpPr txBox="1"/>
          <p:nvPr/>
        </p:nvSpPr>
        <p:spPr>
          <a:xfrm>
            <a:off x="7911465" y="4068627"/>
            <a:ext cx="570337" cy="318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2B59236-DC41-94B5-D1D1-C7AB4D11F24D}"/>
              </a:ext>
            </a:extLst>
          </p:cNvPr>
          <p:cNvSpPr txBox="1"/>
          <p:nvPr/>
        </p:nvSpPr>
        <p:spPr>
          <a:xfrm>
            <a:off x="7911465" y="4663622"/>
            <a:ext cx="570337" cy="318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9F6D1B5-7B2E-642F-77C2-A94202F360D1}"/>
              </a:ext>
            </a:extLst>
          </p:cNvPr>
          <p:cNvSpPr txBox="1"/>
          <p:nvPr/>
        </p:nvSpPr>
        <p:spPr>
          <a:xfrm>
            <a:off x="7911465" y="5357252"/>
            <a:ext cx="570337" cy="318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A165E7-51F3-AAFC-77BE-C855FEC74BA7}"/>
              </a:ext>
            </a:extLst>
          </p:cNvPr>
          <p:cNvSpPr txBox="1"/>
          <p:nvPr/>
        </p:nvSpPr>
        <p:spPr>
          <a:xfrm>
            <a:off x="8741081" y="3324302"/>
            <a:ext cx="535168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72655A3-57D4-9CEB-9FA8-16F69F5E8F1B}"/>
              </a:ext>
            </a:extLst>
          </p:cNvPr>
          <p:cNvSpPr txBox="1"/>
          <p:nvPr/>
        </p:nvSpPr>
        <p:spPr>
          <a:xfrm>
            <a:off x="8741081" y="4068627"/>
            <a:ext cx="535168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5ADB114-4700-D0EB-FC7C-FE4FF6A4430C}"/>
              </a:ext>
            </a:extLst>
          </p:cNvPr>
          <p:cNvSpPr txBox="1"/>
          <p:nvPr/>
        </p:nvSpPr>
        <p:spPr>
          <a:xfrm>
            <a:off x="8741081" y="4663622"/>
            <a:ext cx="535168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33B3253-F592-A2BD-5F8D-B028150F303C}"/>
              </a:ext>
            </a:extLst>
          </p:cNvPr>
          <p:cNvSpPr txBox="1"/>
          <p:nvPr/>
        </p:nvSpPr>
        <p:spPr>
          <a:xfrm>
            <a:off x="8741081" y="5357252"/>
            <a:ext cx="535168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7493DE0-E87C-C917-5ED4-CCB51F3724D1}"/>
              </a:ext>
            </a:extLst>
          </p:cNvPr>
          <p:cNvSpPr txBox="1"/>
          <p:nvPr/>
        </p:nvSpPr>
        <p:spPr>
          <a:xfrm>
            <a:off x="9677386" y="5357252"/>
            <a:ext cx="422354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9A6E7C-AB91-7BFC-02C1-5CBF7EB77EEA}"/>
              </a:ext>
            </a:extLst>
          </p:cNvPr>
          <p:cNvSpPr txBox="1"/>
          <p:nvPr/>
        </p:nvSpPr>
        <p:spPr>
          <a:xfrm>
            <a:off x="9677386" y="3324302"/>
            <a:ext cx="422354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2329D66-1FBB-9BAA-8C3A-7A43B6A20499}"/>
              </a:ext>
            </a:extLst>
          </p:cNvPr>
          <p:cNvSpPr txBox="1"/>
          <p:nvPr/>
        </p:nvSpPr>
        <p:spPr>
          <a:xfrm>
            <a:off x="9677386" y="4068627"/>
            <a:ext cx="422354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08E1E19-2A41-9D18-25C8-E9035562B123}"/>
              </a:ext>
            </a:extLst>
          </p:cNvPr>
          <p:cNvSpPr txBox="1"/>
          <p:nvPr/>
        </p:nvSpPr>
        <p:spPr>
          <a:xfrm>
            <a:off x="9677386" y="4663622"/>
            <a:ext cx="422354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CF907BB-B40E-A0A1-FEBB-C63E55A94FB5}"/>
              </a:ext>
            </a:extLst>
          </p:cNvPr>
          <p:cNvSpPr txBox="1"/>
          <p:nvPr/>
        </p:nvSpPr>
        <p:spPr>
          <a:xfrm>
            <a:off x="9677386" y="2562366"/>
            <a:ext cx="422354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94E19FD-B11E-4E15-19C0-C475B800D937}"/>
              </a:ext>
            </a:extLst>
          </p:cNvPr>
          <p:cNvSpPr txBox="1"/>
          <p:nvPr/>
        </p:nvSpPr>
        <p:spPr>
          <a:xfrm>
            <a:off x="10227495" y="1614259"/>
            <a:ext cx="1235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Pending </a:t>
            </a:r>
            <a:br>
              <a:rPr lang="en-US" sz="1400" b="1" dirty="0"/>
            </a:br>
            <a:r>
              <a:rPr lang="en-US" sz="1400" b="1" dirty="0"/>
              <a:t>with Auditor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4C37E90-A23F-DD7C-1F9F-C12C471877D7}"/>
              </a:ext>
            </a:extLst>
          </p:cNvPr>
          <p:cNvSpPr txBox="1"/>
          <p:nvPr/>
        </p:nvSpPr>
        <p:spPr>
          <a:xfrm>
            <a:off x="10589245" y="5360343"/>
            <a:ext cx="422354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1F0C13F-E508-6007-EF07-89DE32AD7A9F}"/>
              </a:ext>
            </a:extLst>
          </p:cNvPr>
          <p:cNvSpPr txBox="1"/>
          <p:nvPr/>
        </p:nvSpPr>
        <p:spPr>
          <a:xfrm>
            <a:off x="10589245" y="3327393"/>
            <a:ext cx="422354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C038A81-8D6D-6107-5E2D-B721D6220472}"/>
              </a:ext>
            </a:extLst>
          </p:cNvPr>
          <p:cNvSpPr txBox="1"/>
          <p:nvPr/>
        </p:nvSpPr>
        <p:spPr>
          <a:xfrm>
            <a:off x="10589245" y="4071718"/>
            <a:ext cx="422354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4159010-362C-0317-0C78-D1B10DD1AF6E}"/>
              </a:ext>
            </a:extLst>
          </p:cNvPr>
          <p:cNvSpPr txBox="1"/>
          <p:nvPr/>
        </p:nvSpPr>
        <p:spPr>
          <a:xfrm>
            <a:off x="10589245" y="4666713"/>
            <a:ext cx="422354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7A2DD4E-6CF6-AF95-F74A-BB6E6A38D5C8}"/>
              </a:ext>
            </a:extLst>
          </p:cNvPr>
          <p:cNvSpPr txBox="1"/>
          <p:nvPr/>
        </p:nvSpPr>
        <p:spPr>
          <a:xfrm>
            <a:off x="10589245" y="2565457"/>
            <a:ext cx="422354" cy="3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86FC4B1-AA72-E081-DB36-A29444786097}"/>
              </a:ext>
            </a:extLst>
          </p:cNvPr>
          <p:cNvSpPr txBox="1"/>
          <p:nvPr/>
        </p:nvSpPr>
        <p:spPr>
          <a:xfrm>
            <a:off x="8381594" y="1290559"/>
            <a:ext cx="3023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Declarations Based Count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E140DF-CCA8-0D50-7DD8-2AEB869254B3}"/>
              </a:ext>
            </a:extLst>
          </p:cNvPr>
          <p:cNvSpPr txBox="1"/>
          <p:nvPr/>
        </p:nvSpPr>
        <p:spPr>
          <a:xfrm>
            <a:off x="421423" y="4874444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3" name="Picture 2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629D0901-289A-F916-7F95-A0380EB3E5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919870"/>
            <a:ext cx="234175" cy="234175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5CECF57D-FDA3-FF01-9D1A-0C9B5CEF6ABA}"/>
              </a:ext>
            </a:extLst>
          </p:cNvPr>
          <p:cNvSpPr/>
          <p:nvPr/>
        </p:nvSpPr>
        <p:spPr>
          <a:xfrm>
            <a:off x="2693640" y="630832"/>
            <a:ext cx="171379" cy="149753"/>
          </a:xfrm>
          <a:prstGeom prst="lef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Home with solid fill">
            <a:extLst>
              <a:ext uri="{FF2B5EF4-FFF2-40B4-BE49-F238E27FC236}">
                <a16:creationId xmlns:a16="http://schemas.microsoft.com/office/drawing/2014/main" id="{04C99DCE-72C3-2F95-E46C-7DD2A4EA3B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9038" y="534545"/>
            <a:ext cx="305290" cy="3052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D84FE6-CB51-A918-4CA1-3F3F8086B694}"/>
              </a:ext>
            </a:extLst>
          </p:cNvPr>
          <p:cNvSpPr txBox="1"/>
          <p:nvPr/>
        </p:nvSpPr>
        <p:spPr>
          <a:xfrm>
            <a:off x="1770555" y="813840"/>
            <a:ext cx="862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b="1" dirty="0"/>
              <a:t>Audit Home</a:t>
            </a:r>
          </a:p>
        </p:txBody>
      </p:sp>
    </p:spTree>
    <p:extLst>
      <p:ext uri="{BB962C8B-B14F-4D97-AF65-F5344CB8AC3E}">
        <p14:creationId xmlns:p14="http://schemas.microsoft.com/office/powerpoint/2010/main" val="2155882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62DA1-EF47-86B8-47DD-E99D24B86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8F6AAA-160D-4751-A55B-08C67397A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1819043" cy="6858000"/>
          </a:xfrm>
          <a:prstGeom prst="rect">
            <a:avLst/>
          </a:prstGeom>
        </p:spPr>
      </p:pic>
      <p:pic>
        <p:nvPicPr>
          <p:cNvPr id="37" name="Picture 36" descr="A blue and white rectangle">
            <a:extLst>
              <a:ext uri="{FF2B5EF4-FFF2-40B4-BE49-F238E27FC236}">
                <a16:creationId xmlns:a16="http://schemas.microsoft.com/office/drawing/2014/main" id="{B4E27153-67B9-D669-C517-9C36A384D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06" y="0"/>
            <a:ext cx="10364594" cy="171399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4991FC1-E852-D1FC-A406-2462B49B77D0}"/>
              </a:ext>
            </a:extLst>
          </p:cNvPr>
          <p:cNvSpPr txBox="1"/>
          <p:nvPr/>
        </p:nvSpPr>
        <p:spPr>
          <a:xfrm>
            <a:off x="4511800" y="1044190"/>
            <a:ext cx="434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Audit Status Summary – Auditor wise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574FD-7672-F911-B7DA-25EAFEB278CB}"/>
              </a:ext>
            </a:extLst>
          </p:cNvPr>
          <p:cNvSpPr txBox="1"/>
          <p:nvPr/>
        </p:nvSpPr>
        <p:spPr>
          <a:xfrm>
            <a:off x="8381594" y="1290559"/>
            <a:ext cx="3023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Declarations Based Count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385AB8-F7B5-993E-1C4E-43ED958E9C90}"/>
              </a:ext>
            </a:extLst>
          </p:cNvPr>
          <p:cNvSpPr/>
          <p:nvPr/>
        </p:nvSpPr>
        <p:spPr>
          <a:xfrm>
            <a:off x="2318884" y="1573217"/>
            <a:ext cx="9143806" cy="44911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FBB7D8-0EAA-2AAE-55A2-DC5048CAFB95}"/>
              </a:ext>
            </a:extLst>
          </p:cNvPr>
          <p:cNvCxnSpPr>
            <a:cxnSpLocks/>
          </p:cNvCxnSpPr>
          <p:nvPr/>
        </p:nvCxnSpPr>
        <p:spPr>
          <a:xfrm>
            <a:off x="2318884" y="2069611"/>
            <a:ext cx="9143806" cy="24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67D1DF6-B05E-8433-C801-4F7A6110BD7A}"/>
              </a:ext>
            </a:extLst>
          </p:cNvPr>
          <p:cNvSpPr txBox="1"/>
          <p:nvPr/>
        </p:nvSpPr>
        <p:spPr>
          <a:xfrm>
            <a:off x="5727579" y="171638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Closed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69E44A-7F96-161E-E98A-C1A2B1FF9D61}"/>
              </a:ext>
            </a:extLst>
          </p:cNvPr>
          <p:cNvSpPr txBox="1"/>
          <p:nvPr/>
        </p:nvSpPr>
        <p:spPr>
          <a:xfrm>
            <a:off x="2356923" y="1678166"/>
            <a:ext cx="150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Auditor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D8505-8DAA-F653-6080-793F92E38AE2}"/>
              </a:ext>
            </a:extLst>
          </p:cNvPr>
          <p:cNvSpPr txBox="1"/>
          <p:nvPr/>
        </p:nvSpPr>
        <p:spPr>
          <a:xfrm>
            <a:off x="7650440" y="1678166"/>
            <a:ext cx="813940" cy="318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Open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B6E5E5-3946-C9F8-C3B4-22FFD505E126}"/>
              </a:ext>
            </a:extLst>
          </p:cNvPr>
          <p:cNvSpPr txBox="1"/>
          <p:nvPr/>
        </p:nvSpPr>
        <p:spPr>
          <a:xfrm>
            <a:off x="2528456" y="3372960"/>
            <a:ext cx="1309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Raja &amp; Kumar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E354E-A84E-D217-D310-3E5C4CDD5F17}"/>
              </a:ext>
            </a:extLst>
          </p:cNvPr>
          <p:cNvSpPr txBox="1"/>
          <p:nvPr/>
        </p:nvSpPr>
        <p:spPr>
          <a:xfrm>
            <a:off x="2528456" y="4143140"/>
            <a:ext cx="1309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Kumar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7431B5-5076-A03A-C7FF-92BF91995E3E}"/>
              </a:ext>
            </a:extLst>
          </p:cNvPr>
          <p:cNvSpPr txBox="1"/>
          <p:nvPr/>
        </p:nvSpPr>
        <p:spPr>
          <a:xfrm>
            <a:off x="2528456" y="4841360"/>
            <a:ext cx="1309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Suresh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3A565E-2295-335A-81DB-6CAB690F7A4D}"/>
              </a:ext>
            </a:extLst>
          </p:cNvPr>
          <p:cNvSpPr txBox="1"/>
          <p:nvPr/>
        </p:nvSpPr>
        <p:spPr>
          <a:xfrm>
            <a:off x="2528456" y="5526751"/>
            <a:ext cx="1309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Mani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EE4370-1AB7-12EE-B8D1-2F751D066122}"/>
              </a:ext>
            </a:extLst>
          </p:cNvPr>
          <p:cNvSpPr txBox="1"/>
          <p:nvPr/>
        </p:nvSpPr>
        <p:spPr>
          <a:xfrm>
            <a:off x="6457134" y="2469803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40373E-1BA0-F48F-4784-6C86E229CDD4}"/>
              </a:ext>
            </a:extLst>
          </p:cNvPr>
          <p:cNvSpPr txBox="1"/>
          <p:nvPr/>
        </p:nvSpPr>
        <p:spPr>
          <a:xfrm>
            <a:off x="7875381" y="2469803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5AB219-715E-84D9-4ED2-6AB8FBC414F9}"/>
              </a:ext>
            </a:extLst>
          </p:cNvPr>
          <p:cNvSpPr txBox="1"/>
          <p:nvPr/>
        </p:nvSpPr>
        <p:spPr>
          <a:xfrm>
            <a:off x="6457134" y="337296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92F513-B05A-AD09-CD0B-2E57869A4518}"/>
              </a:ext>
            </a:extLst>
          </p:cNvPr>
          <p:cNvSpPr txBox="1"/>
          <p:nvPr/>
        </p:nvSpPr>
        <p:spPr>
          <a:xfrm>
            <a:off x="6457134" y="414314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3A9698-D040-6621-8FE9-446FBA2734AF}"/>
              </a:ext>
            </a:extLst>
          </p:cNvPr>
          <p:cNvSpPr txBox="1"/>
          <p:nvPr/>
        </p:nvSpPr>
        <p:spPr>
          <a:xfrm>
            <a:off x="6457134" y="484136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2B1EA0-C682-1979-D0F9-3060B234BD58}"/>
              </a:ext>
            </a:extLst>
          </p:cNvPr>
          <p:cNvSpPr txBox="1"/>
          <p:nvPr/>
        </p:nvSpPr>
        <p:spPr>
          <a:xfrm>
            <a:off x="6457134" y="5526751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1A1321-B138-04F9-FA5F-4F005B2BDEE3}"/>
              </a:ext>
            </a:extLst>
          </p:cNvPr>
          <p:cNvSpPr txBox="1"/>
          <p:nvPr/>
        </p:nvSpPr>
        <p:spPr>
          <a:xfrm>
            <a:off x="7875381" y="337296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EB8377-3AD7-3C8B-B3A9-D00B260036C3}"/>
              </a:ext>
            </a:extLst>
          </p:cNvPr>
          <p:cNvSpPr txBox="1"/>
          <p:nvPr/>
        </p:nvSpPr>
        <p:spPr>
          <a:xfrm>
            <a:off x="7875381" y="414314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51C49E-1373-779C-6E31-7378EBE5C508}"/>
              </a:ext>
            </a:extLst>
          </p:cNvPr>
          <p:cNvSpPr txBox="1"/>
          <p:nvPr/>
        </p:nvSpPr>
        <p:spPr>
          <a:xfrm>
            <a:off x="7875381" y="484136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FB2DD-E010-12B3-4253-9DA77CAEFD9B}"/>
              </a:ext>
            </a:extLst>
          </p:cNvPr>
          <p:cNvSpPr txBox="1"/>
          <p:nvPr/>
        </p:nvSpPr>
        <p:spPr>
          <a:xfrm>
            <a:off x="7875381" y="5526751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871B53-A479-03E6-47EC-2AA992BB0A1F}"/>
              </a:ext>
            </a:extLst>
          </p:cNvPr>
          <p:cNvSpPr txBox="1"/>
          <p:nvPr/>
        </p:nvSpPr>
        <p:spPr>
          <a:xfrm>
            <a:off x="9345306" y="337296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1C1F38-62F4-07BE-8EC6-2F85F1BAAD7E}"/>
              </a:ext>
            </a:extLst>
          </p:cNvPr>
          <p:cNvSpPr txBox="1"/>
          <p:nvPr/>
        </p:nvSpPr>
        <p:spPr>
          <a:xfrm>
            <a:off x="9345306" y="414314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184BDC-C84C-776A-2022-57984B918CB8}"/>
              </a:ext>
            </a:extLst>
          </p:cNvPr>
          <p:cNvSpPr txBox="1"/>
          <p:nvPr/>
        </p:nvSpPr>
        <p:spPr>
          <a:xfrm>
            <a:off x="9345306" y="484136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0ECA0C-C5AC-5634-644C-C0294F8CDFB2}"/>
              </a:ext>
            </a:extLst>
          </p:cNvPr>
          <p:cNvSpPr txBox="1"/>
          <p:nvPr/>
        </p:nvSpPr>
        <p:spPr>
          <a:xfrm>
            <a:off x="9345306" y="2469803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5FE5AF-73B8-98AA-0046-F8408B85F717}"/>
              </a:ext>
            </a:extLst>
          </p:cNvPr>
          <p:cNvSpPr txBox="1"/>
          <p:nvPr/>
        </p:nvSpPr>
        <p:spPr>
          <a:xfrm>
            <a:off x="3646449" y="1678166"/>
            <a:ext cx="1840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Assigned Company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62DFD8-9403-EE37-B8E8-D2DDBF1027AD}"/>
              </a:ext>
            </a:extLst>
          </p:cNvPr>
          <p:cNvSpPr txBox="1"/>
          <p:nvPr/>
        </p:nvSpPr>
        <p:spPr>
          <a:xfrm>
            <a:off x="4374888" y="2469803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F34337-EBDA-0C9C-FD6F-B010A3CBC2A4}"/>
              </a:ext>
            </a:extLst>
          </p:cNvPr>
          <p:cNvSpPr txBox="1"/>
          <p:nvPr/>
        </p:nvSpPr>
        <p:spPr>
          <a:xfrm>
            <a:off x="4374888" y="337296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3C25A5-E5BA-034B-C69E-21E82DDCCBB5}"/>
              </a:ext>
            </a:extLst>
          </p:cNvPr>
          <p:cNvSpPr txBox="1"/>
          <p:nvPr/>
        </p:nvSpPr>
        <p:spPr>
          <a:xfrm>
            <a:off x="4374888" y="414314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55701D-4962-2565-516A-AAFB87149B6E}"/>
              </a:ext>
            </a:extLst>
          </p:cNvPr>
          <p:cNvSpPr txBox="1"/>
          <p:nvPr/>
        </p:nvSpPr>
        <p:spPr>
          <a:xfrm>
            <a:off x="4374888" y="484136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810429-7F3E-026F-DB28-062397C59AD3}"/>
              </a:ext>
            </a:extLst>
          </p:cNvPr>
          <p:cNvSpPr txBox="1"/>
          <p:nvPr/>
        </p:nvSpPr>
        <p:spPr>
          <a:xfrm>
            <a:off x="4374888" y="5526751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89BBBD-79A5-4A23-610E-344DA19BF55F}"/>
              </a:ext>
            </a:extLst>
          </p:cNvPr>
          <p:cNvSpPr txBox="1"/>
          <p:nvPr/>
        </p:nvSpPr>
        <p:spPr>
          <a:xfrm>
            <a:off x="9345306" y="5526751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69EE3C8-F494-8E93-F127-714730E5578D}"/>
              </a:ext>
            </a:extLst>
          </p:cNvPr>
          <p:cNvSpPr txBox="1"/>
          <p:nvPr/>
        </p:nvSpPr>
        <p:spPr>
          <a:xfrm>
            <a:off x="2528456" y="2469803"/>
            <a:ext cx="1309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Raja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778AAA-C445-7C25-20AF-8060E8830340}"/>
              </a:ext>
            </a:extLst>
          </p:cNvPr>
          <p:cNvSpPr txBox="1"/>
          <p:nvPr/>
        </p:nvSpPr>
        <p:spPr>
          <a:xfrm>
            <a:off x="10606448" y="337296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F76744-85B5-004D-EE51-BD8254104EEB}"/>
              </a:ext>
            </a:extLst>
          </p:cNvPr>
          <p:cNvSpPr txBox="1"/>
          <p:nvPr/>
        </p:nvSpPr>
        <p:spPr>
          <a:xfrm>
            <a:off x="10606448" y="414314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0633CE4-ACEB-6D85-D1AB-BD50A7264A80}"/>
              </a:ext>
            </a:extLst>
          </p:cNvPr>
          <p:cNvSpPr txBox="1"/>
          <p:nvPr/>
        </p:nvSpPr>
        <p:spPr>
          <a:xfrm>
            <a:off x="10606448" y="4841360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AD3146-236E-5DE7-41A8-97F9887ABA2C}"/>
              </a:ext>
            </a:extLst>
          </p:cNvPr>
          <p:cNvSpPr txBox="1"/>
          <p:nvPr/>
        </p:nvSpPr>
        <p:spPr>
          <a:xfrm>
            <a:off x="10606448" y="2469803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EE0286-47F7-EDE9-5BA3-1389C4B12B0C}"/>
              </a:ext>
            </a:extLst>
          </p:cNvPr>
          <p:cNvSpPr txBox="1"/>
          <p:nvPr/>
        </p:nvSpPr>
        <p:spPr>
          <a:xfrm>
            <a:off x="10606448" y="5526751"/>
            <a:ext cx="39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607B31-562E-1432-730E-3DCFC8BF882A}"/>
              </a:ext>
            </a:extLst>
          </p:cNvPr>
          <p:cNvSpPr txBox="1"/>
          <p:nvPr/>
        </p:nvSpPr>
        <p:spPr>
          <a:xfrm>
            <a:off x="8893195" y="1614259"/>
            <a:ext cx="1105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Pending with Client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34D9FFF-48E1-7C4C-5903-2ED6EE89231D}"/>
              </a:ext>
            </a:extLst>
          </p:cNvPr>
          <p:cNvSpPr txBox="1"/>
          <p:nvPr/>
        </p:nvSpPr>
        <p:spPr>
          <a:xfrm>
            <a:off x="10227495" y="1614259"/>
            <a:ext cx="1235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Pending </a:t>
            </a:r>
            <a:br>
              <a:rPr lang="en-US" sz="1400" b="1" dirty="0"/>
            </a:br>
            <a:r>
              <a:rPr lang="en-US" sz="1400" b="1" dirty="0"/>
              <a:t>with Auditor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26EAA-FB63-437A-B73D-21837AAD5125}"/>
              </a:ext>
            </a:extLst>
          </p:cNvPr>
          <p:cNvSpPr txBox="1"/>
          <p:nvPr/>
        </p:nvSpPr>
        <p:spPr>
          <a:xfrm>
            <a:off x="421423" y="4865818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6" name="Picture 5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56FC448F-DA11-3007-D560-080A417D61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919870"/>
            <a:ext cx="234175" cy="234175"/>
          </a:xfrm>
          <a:prstGeom prst="rect">
            <a:avLst/>
          </a:prstGeom>
        </p:spPr>
      </p:pic>
      <p:sp>
        <p:nvSpPr>
          <p:cNvPr id="20" name="Arrow: Left 19">
            <a:extLst>
              <a:ext uri="{FF2B5EF4-FFF2-40B4-BE49-F238E27FC236}">
                <a16:creationId xmlns:a16="http://schemas.microsoft.com/office/drawing/2014/main" id="{D6D40E34-69FF-FF6E-0721-E32BD23299A2}"/>
              </a:ext>
            </a:extLst>
          </p:cNvPr>
          <p:cNvSpPr/>
          <p:nvPr/>
        </p:nvSpPr>
        <p:spPr>
          <a:xfrm>
            <a:off x="2693640" y="630832"/>
            <a:ext cx="171379" cy="149753"/>
          </a:xfrm>
          <a:prstGeom prst="lef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 descr="Home with solid fill">
            <a:extLst>
              <a:ext uri="{FF2B5EF4-FFF2-40B4-BE49-F238E27FC236}">
                <a16:creationId xmlns:a16="http://schemas.microsoft.com/office/drawing/2014/main" id="{7A3FE57B-51D1-B036-F5F9-BF95397286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9038" y="534545"/>
            <a:ext cx="305290" cy="3052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3C17403-4F09-B278-36C9-594D70B6F46C}"/>
              </a:ext>
            </a:extLst>
          </p:cNvPr>
          <p:cNvSpPr txBox="1"/>
          <p:nvPr/>
        </p:nvSpPr>
        <p:spPr>
          <a:xfrm>
            <a:off x="1770555" y="813840"/>
            <a:ext cx="862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b="1" dirty="0"/>
              <a:t>Audit Home</a:t>
            </a:r>
          </a:p>
        </p:txBody>
      </p:sp>
    </p:spTree>
    <p:extLst>
      <p:ext uri="{BB962C8B-B14F-4D97-AF65-F5344CB8AC3E}">
        <p14:creationId xmlns:p14="http://schemas.microsoft.com/office/powerpoint/2010/main" val="2432388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153AF-8BF6-6A6F-6CB4-8A4C8D0E2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DE2291-6B38-0685-7F80-14C42DA1F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1819043" cy="6858000"/>
          </a:xfrm>
          <a:prstGeom prst="rect">
            <a:avLst/>
          </a:prstGeom>
        </p:spPr>
      </p:pic>
      <p:pic>
        <p:nvPicPr>
          <p:cNvPr id="37" name="Picture 36" descr="A blue and white rectangle">
            <a:extLst>
              <a:ext uri="{FF2B5EF4-FFF2-40B4-BE49-F238E27FC236}">
                <a16:creationId xmlns:a16="http://schemas.microsoft.com/office/drawing/2014/main" id="{AA4118BB-0ABC-45DC-DFA1-E9F6A5CAA0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06" y="0"/>
            <a:ext cx="10364594" cy="171399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B776A0C-4189-ABA3-4482-E0AF64CE972E}"/>
              </a:ext>
            </a:extLst>
          </p:cNvPr>
          <p:cNvSpPr txBox="1"/>
          <p:nvPr/>
        </p:nvSpPr>
        <p:spPr>
          <a:xfrm>
            <a:off x="4511800" y="1044190"/>
            <a:ext cx="434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Reconciliation Audit Status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358FEF-A969-1D43-4296-3618E702F374}"/>
              </a:ext>
            </a:extLst>
          </p:cNvPr>
          <p:cNvSpPr/>
          <p:nvPr/>
        </p:nvSpPr>
        <p:spPr>
          <a:xfrm>
            <a:off x="2461522" y="1616348"/>
            <a:ext cx="9214091" cy="37234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F5ACDB-02B7-1243-E4BC-6A25FE4B8B31}"/>
              </a:ext>
            </a:extLst>
          </p:cNvPr>
          <p:cNvCxnSpPr>
            <a:cxnSpLocks/>
          </p:cNvCxnSpPr>
          <p:nvPr/>
        </p:nvCxnSpPr>
        <p:spPr>
          <a:xfrm>
            <a:off x="2461522" y="2144801"/>
            <a:ext cx="92140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597CEE5-4F94-CB3D-5CB3-1C939D7524E0}"/>
              </a:ext>
            </a:extLst>
          </p:cNvPr>
          <p:cNvSpPr txBox="1"/>
          <p:nvPr/>
        </p:nvSpPr>
        <p:spPr>
          <a:xfrm>
            <a:off x="2475779" y="1740049"/>
            <a:ext cx="1632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Company 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AAF1DB-0814-C963-DE66-EC35F809C26E}"/>
              </a:ext>
            </a:extLst>
          </p:cNvPr>
          <p:cNvSpPr txBox="1"/>
          <p:nvPr/>
        </p:nvSpPr>
        <p:spPr>
          <a:xfrm>
            <a:off x="4124917" y="1745526"/>
            <a:ext cx="2406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Company Name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1B22CF-C531-52DF-8620-5BF17141F194}"/>
              </a:ext>
            </a:extLst>
          </p:cNvPr>
          <p:cNvSpPr txBox="1"/>
          <p:nvPr/>
        </p:nvSpPr>
        <p:spPr>
          <a:xfrm>
            <a:off x="7311984" y="1733330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Manager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9A80D0-9FEF-4A5B-4AA2-C9CCB164AC3E}"/>
              </a:ext>
            </a:extLst>
          </p:cNvPr>
          <p:cNvSpPr txBox="1"/>
          <p:nvPr/>
        </p:nvSpPr>
        <p:spPr>
          <a:xfrm>
            <a:off x="2544787" y="2421098"/>
            <a:ext cx="143819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AE-2347346576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C5ECB6-3D4A-057E-74DB-FD5D73D27FCD}"/>
              </a:ext>
            </a:extLst>
          </p:cNvPr>
          <p:cNvSpPr txBox="1"/>
          <p:nvPr/>
        </p:nvSpPr>
        <p:spPr>
          <a:xfrm>
            <a:off x="2544787" y="299906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AE-7634567567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FFE438-1681-D78A-AA05-408B912968D7}"/>
              </a:ext>
            </a:extLst>
          </p:cNvPr>
          <p:cNvSpPr txBox="1"/>
          <p:nvPr/>
        </p:nvSpPr>
        <p:spPr>
          <a:xfrm>
            <a:off x="2544787" y="3594288"/>
            <a:ext cx="163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AE-7457346573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BDFFF7-D07D-DCA3-A248-A4518CEE7B85}"/>
              </a:ext>
            </a:extLst>
          </p:cNvPr>
          <p:cNvSpPr txBox="1"/>
          <p:nvPr/>
        </p:nvSpPr>
        <p:spPr>
          <a:xfrm>
            <a:off x="2544787" y="4732975"/>
            <a:ext cx="1553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AE-3847567845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C320B4-6FBC-9C02-E750-D18AEC078DFA}"/>
              </a:ext>
            </a:extLst>
          </p:cNvPr>
          <p:cNvSpPr txBox="1"/>
          <p:nvPr/>
        </p:nvSpPr>
        <p:spPr>
          <a:xfrm>
            <a:off x="2544788" y="4151704"/>
            <a:ext cx="1438195" cy="314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AE-7846374657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482A7-BDC7-8865-6CB3-AA9D6E04C5C5}"/>
              </a:ext>
            </a:extLst>
          </p:cNvPr>
          <p:cNvSpPr txBox="1"/>
          <p:nvPr/>
        </p:nvSpPr>
        <p:spPr>
          <a:xfrm>
            <a:off x="4209684" y="242109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DHL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C3372-5A05-A852-FB70-C7901609D69D}"/>
              </a:ext>
            </a:extLst>
          </p:cNvPr>
          <p:cNvSpPr txBox="1"/>
          <p:nvPr/>
        </p:nvSpPr>
        <p:spPr>
          <a:xfrm>
            <a:off x="4209684" y="299906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AL FUTTAIM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9EC1D0-4B8D-CCEA-57F5-F146E72D739B}"/>
              </a:ext>
            </a:extLst>
          </p:cNvPr>
          <p:cNvSpPr txBox="1"/>
          <p:nvPr/>
        </p:nvSpPr>
        <p:spPr>
          <a:xfrm>
            <a:off x="4209684" y="3594288"/>
            <a:ext cx="2740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NINJAVAH LOGISTICS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00636C-0DEA-76C8-5033-2E6E4B222BB0}"/>
              </a:ext>
            </a:extLst>
          </p:cNvPr>
          <p:cNvSpPr txBox="1"/>
          <p:nvPr/>
        </p:nvSpPr>
        <p:spPr>
          <a:xfrm>
            <a:off x="4209684" y="4155002"/>
            <a:ext cx="2600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NAQUEL LOGISTICS</a:t>
            </a:r>
            <a:endParaRPr 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17504C-F344-9813-C044-24EADB5B2654}"/>
              </a:ext>
            </a:extLst>
          </p:cNvPr>
          <p:cNvSpPr txBox="1"/>
          <p:nvPr/>
        </p:nvSpPr>
        <p:spPr>
          <a:xfrm>
            <a:off x="4209684" y="4732975"/>
            <a:ext cx="2953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MONSANADA LOGISTICS</a:t>
            </a:r>
            <a:endParaRPr 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CE7A8D-5228-9046-34D7-1A563B4D976F}"/>
              </a:ext>
            </a:extLst>
          </p:cNvPr>
          <p:cNvSpPr txBox="1"/>
          <p:nvPr/>
        </p:nvSpPr>
        <p:spPr>
          <a:xfrm>
            <a:off x="8918356" y="1736779"/>
            <a:ext cx="1190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Auditor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0D2974-6B37-C53D-DA25-7A6F037A1662}"/>
              </a:ext>
            </a:extLst>
          </p:cNvPr>
          <p:cNvSpPr txBox="1"/>
          <p:nvPr/>
        </p:nvSpPr>
        <p:spPr>
          <a:xfrm>
            <a:off x="7220453" y="242109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Ragu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20405E-8BDB-78DC-0DA5-EFD614CFD7C4}"/>
              </a:ext>
            </a:extLst>
          </p:cNvPr>
          <p:cNvSpPr txBox="1"/>
          <p:nvPr/>
        </p:nvSpPr>
        <p:spPr>
          <a:xfrm>
            <a:off x="7255844" y="299906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Suresh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F560AF-7E1C-32A0-CEB2-70845F169858}"/>
              </a:ext>
            </a:extLst>
          </p:cNvPr>
          <p:cNvSpPr txBox="1"/>
          <p:nvPr/>
        </p:nvSpPr>
        <p:spPr>
          <a:xfrm>
            <a:off x="7220453" y="359428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Vimal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ED9048-A0EF-D9F7-CADD-6240C0631834}"/>
              </a:ext>
            </a:extLst>
          </p:cNvPr>
          <p:cNvSpPr txBox="1"/>
          <p:nvPr/>
        </p:nvSpPr>
        <p:spPr>
          <a:xfrm>
            <a:off x="7255844" y="4155002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Sundar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AAD0D6-00CA-BC23-378C-26375697DB23}"/>
              </a:ext>
            </a:extLst>
          </p:cNvPr>
          <p:cNvSpPr txBox="1"/>
          <p:nvPr/>
        </p:nvSpPr>
        <p:spPr>
          <a:xfrm>
            <a:off x="7255844" y="4732975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Joel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8D94DC-9DC5-A568-8695-C40B348BF5BE}"/>
              </a:ext>
            </a:extLst>
          </p:cNvPr>
          <p:cNvSpPr txBox="1"/>
          <p:nvPr/>
        </p:nvSpPr>
        <p:spPr>
          <a:xfrm>
            <a:off x="8761933" y="299906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Raja &amp; Kumar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A8EC15-B45D-A2C2-7066-C5D8FD6704B2}"/>
              </a:ext>
            </a:extLst>
          </p:cNvPr>
          <p:cNvSpPr txBox="1"/>
          <p:nvPr/>
        </p:nvSpPr>
        <p:spPr>
          <a:xfrm>
            <a:off x="8761933" y="359428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Kumar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7E7657-1363-FCB4-A76A-BC4C9B699818}"/>
              </a:ext>
            </a:extLst>
          </p:cNvPr>
          <p:cNvSpPr txBox="1"/>
          <p:nvPr/>
        </p:nvSpPr>
        <p:spPr>
          <a:xfrm>
            <a:off x="8761933" y="4155002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Suresh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57C9E3-1878-4355-16C7-EDBF98F048E3}"/>
              </a:ext>
            </a:extLst>
          </p:cNvPr>
          <p:cNvSpPr txBox="1"/>
          <p:nvPr/>
        </p:nvSpPr>
        <p:spPr>
          <a:xfrm>
            <a:off x="8761933" y="4732975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Mani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89D10DB-5E00-862B-1EF3-97D8CFB5A1CF}"/>
              </a:ext>
            </a:extLst>
          </p:cNvPr>
          <p:cNvSpPr txBox="1"/>
          <p:nvPr/>
        </p:nvSpPr>
        <p:spPr>
          <a:xfrm>
            <a:off x="8761933" y="242109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Raja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9661B6A-CB0C-77C7-E045-371C6A5DE187}"/>
              </a:ext>
            </a:extLst>
          </p:cNvPr>
          <p:cNvSpPr txBox="1"/>
          <p:nvPr/>
        </p:nvSpPr>
        <p:spPr>
          <a:xfrm>
            <a:off x="5936005" y="1743174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Uploaded Date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B18A34A-C6E0-4CFE-72CC-1DD8CB39EFC2}"/>
              </a:ext>
            </a:extLst>
          </p:cNvPr>
          <p:cNvSpPr txBox="1"/>
          <p:nvPr/>
        </p:nvSpPr>
        <p:spPr>
          <a:xfrm>
            <a:off x="6289980" y="2421098"/>
            <a:ext cx="1320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05/07/2024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57E070-9CB4-0268-D475-C29AD0F9D493}"/>
              </a:ext>
            </a:extLst>
          </p:cNvPr>
          <p:cNvSpPr txBox="1"/>
          <p:nvPr/>
        </p:nvSpPr>
        <p:spPr>
          <a:xfrm>
            <a:off x="6289980" y="3594288"/>
            <a:ext cx="1320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05/07/2024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89A65F-1DC2-EC9C-8544-8DC9FC34AACB}"/>
              </a:ext>
            </a:extLst>
          </p:cNvPr>
          <p:cNvSpPr txBox="1"/>
          <p:nvPr/>
        </p:nvSpPr>
        <p:spPr>
          <a:xfrm>
            <a:off x="6289980" y="2999068"/>
            <a:ext cx="1320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05/07/2024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D5145C-E84A-309D-7A83-E3AEC4E77AF0}"/>
              </a:ext>
            </a:extLst>
          </p:cNvPr>
          <p:cNvSpPr txBox="1"/>
          <p:nvPr/>
        </p:nvSpPr>
        <p:spPr>
          <a:xfrm>
            <a:off x="421423" y="4883070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3" name="Picture 2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77B69FF6-2AF4-2857-623E-7BF196C6AA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919870"/>
            <a:ext cx="234175" cy="23417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89890B6-6D44-A6B5-1F6F-27EF1AC4DF42}"/>
              </a:ext>
            </a:extLst>
          </p:cNvPr>
          <p:cNvSpPr txBox="1"/>
          <p:nvPr/>
        </p:nvSpPr>
        <p:spPr>
          <a:xfrm>
            <a:off x="10294335" y="1762931"/>
            <a:ext cx="1190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Status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38F855-4B1E-DD09-5D17-E5A02A831E0B}"/>
              </a:ext>
            </a:extLst>
          </p:cNvPr>
          <p:cNvSpPr txBox="1"/>
          <p:nvPr/>
        </p:nvSpPr>
        <p:spPr>
          <a:xfrm>
            <a:off x="10137912" y="3025220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In-Progress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AD46F1-B606-C8E5-BC1E-960B8ED870D0}"/>
              </a:ext>
            </a:extLst>
          </p:cNvPr>
          <p:cNvSpPr txBox="1"/>
          <p:nvPr/>
        </p:nvSpPr>
        <p:spPr>
          <a:xfrm>
            <a:off x="10137912" y="3620440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In-Progress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C47C98-7D29-3866-A9AA-4A2AE63BD949}"/>
              </a:ext>
            </a:extLst>
          </p:cNvPr>
          <p:cNvSpPr txBox="1"/>
          <p:nvPr/>
        </p:nvSpPr>
        <p:spPr>
          <a:xfrm>
            <a:off x="10137912" y="4181154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Open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D3D5EA-F4A7-B689-DD1A-155B44D272BC}"/>
              </a:ext>
            </a:extLst>
          </p:cNvPr>
          <p:cNvSpPr txBox="1"/>
          <p:nvPr/>
        </p:nvSpPr>
        <p:spPr>
          <a:xfrm>
            <a:off x="10137912" y="4759127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Closed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43BAF5-2443-1AEA-30CE-F51D09BAA92F}"/>
              </a:ext>
            </a:extLst>
          </p:cNvPr>
          <p:cNvSpPr txBox="1"/>
          <p:nvPr/>
        </p:nvSpPr>
        <p:spPr>
          <a:xfrm>
            <a:off x="10137912" y="2447250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Closed</a:t>
            </a:r>
          </a:p>
        </p:txBody>
      </p:sp>
      <p:sp>
        <p:nvSpPr>
          <p:cNvPr id="43" name="Arrow: Left 42">
            <a:extLst>
              <a:ext uri="{FF2B5EF4-FFF2-40B4-BE49-F238E27FC236}">
                <a16:creationId xmlns:a16="http://schemas.microsoft.com/office/drawing/2014/main" id="{000C17D0-80BC-8D0A-046F-226C6E97FB14}"/>
              </a:ext>
            </a:extLst>
          </p:cNvPr>
          <p:cNvSpPr/>
          <p:nvPr/>
        </p:nvSpPr>
        <p:spPr>
          <a:xfrm>
            <a:off x="2693640" y="630832"/>
            <a:ext cx="171379" cy="149753"/>
          </a:xfrm>
          <a:prstGeom prst="lef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Graphic 43" descr="Home with solid fill">
            <a:extLst>
              <a:ext uri="{FF2B5EF4-FFF2-40B4-BE49-F238E27FC236}">
                <a16:creationId xmlns:a16="http://schemas.microsoft.com/office/drawing/2014/main" id="{75CE83EB-7868-2DD7-9B82-A9DF82E3F8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9038" y="534545"/>
            <a:ext cx="305290" cy="30529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22299A5-6A1E-8256-D29D-624D678C07AC}"/>
              </a:ext>
            </a:extLst>
          </p:cNvPr>
          <p:cNvSpPr txBox="1"/>
          <p:nvPr/>
        </p:nvSpPr>
        <p:spPr>
          <a:xfrm>
            <a:off x="1770555" y="813840"/>
            <a:ext cx="862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b="1" dirty="0"/>
              <a:t>Audit Home</a:t>
            </a:r>
          </a:p>
        </p:txBody>
      </p:sp>
    </p:spTree>
    <p:extLst>
      <p:ext uri="{BB962C8B-B14F-4D97-AF65-F5344CB8AC3E}">
        <p14:creationId xmlns:p14="http://schemas.microsoft.com/office/powerpoint/2010/main" val="2478945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B11C-1B75-6FC6-A7DF-97C88076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9574C3-F3B1-4597-D655-3AFC858C2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9" y="0"/>
            <a:ext cx="1836295" cy="6861467"/>
          </a:xfrm>
          <a:prstGeom prst="rect">
            <a:avLst/>
          </a:prstGeom>
        </p:spPr>
      </p:pic>
      <p:pic>
        <p:nvPicPr>
          <p:cNvPr id="37" name="Picture 36" descr="A blue and white rectangle">
            <a:extLst>
              <a:ext uri="{FF2B5EF4-FFF2-40B4-BE49-F238E27FC236}">
                <a16:creationId xmlns:a16="http://schemas.microsoft.com/office/drawing/2014/main" id="{C9BEA740-5E71-33AE-32F5-1E55A72AF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06" y="0"/>
            <a:ext cx="10364594" cy="171399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E8E5327-2796-B25C-5E05-8EA81EC6C560}"/>
              </a:ext>
            </a:extLst>
          </p:cNvPr>
          <p:cNvSpPr txBox="1"/>
          <p:nvPr/>
        </p:nvSpPr>
        <p:spPr>
          <a:xfrm>
            <a:off x="421423" y="4874444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40" name="Picture 39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697046A7-4EEA-B619-8DDC-94635EFE82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919870"/>
            <a:ext cx="234175" cy="23417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F938DB4-AB7E-1ED4-34DD-F0B07FD85C99}"/>
              </a:ext>
            </a:extLst>
          </p:cNvPr>
          <p:cNvSpPr txBox="1"/>
          <p:nvPr/>
        </p:nvSpPr>
        <p:spPr>
          <a:xfrm>
            <a:off x="4511800" y="1044190"/>
            <a:ext cx="434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Reconciliation Audit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540B0B-78D9-8B4A-80E9-38CD2F8C0559}"/>
              </a:ext>
            </a:extLst>
          </p:cNvPr>
          <p:cNvSpPr txBox="1"/>
          <p:nvPr/>
        </p:nvSpPr>
        <p:spPr>
          <a:xfrm>
            <a:off x="1906443" y="1942576"/>
            <a:ext cx="8810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Document </a:t>
            </a:r>
            <a:br>
              <a:rPr lang="en-IN" sz="1000" b="1" dirty="0"/>
            </a:br>
            <a:r>
              <a:rPr lang="en-IN" sz="1000" b="1" dirty="0"/>
              <a:t>Name</a:t>
            </a:r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1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2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3FCC2-DB38-8BB7-B87C-6BC8523705FB}"/>
              </a:ext>
            </a:extLst>
          </p:cNvPr>
          <p:cNvSpPr txBox="1"/>
          <p:nvPr/>
        </p:nvSpPr>
        <p:spPr>
          <a:xfrm>
            <a:off x="2803590" y="1942576"/>
            <a:ext cx="79650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Month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January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February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March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April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May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June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E238F2-0A77-1818-3A51-95C4D8F3AAF8}"/>
              </a:ext>
            </a:extLst>
          </p:cNvPr>
          <p:cNvSpPr txBox="1"/>
          <p:nvPr/>
        </p:nvSpPr>
        <p:spPr>
          <a:xfrm>
            <a:off x="3480761" y="1942576"/>
            <a:ext cx="7576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Uploaded </a:t>
            </a:r>
            <a:br>
              <a:rPr lang="en-IN" sz="1000" b="1" dirty="0"/>
            </a:br>
            <a:r>
              <a:rPr lang="en-IN" sz="1000" b="1" dirty="0"/>
              <a:t>Date</a:t>
            </a:r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8A1B4-884E-61AA-CF0B-CC43C9FF4216}"/>
              </a:ext>
            </a:extLst>
          </p:cNvPr>
          <p:cNvSpPr txBox="1"/>
          <p:nvPr/>
        </p:nvSpPr>
        <p:spPr>
          <a:xfrm>
            <a:off x="4274677" y="1942576"/>
            <a:ext cx="9922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Stock </a:t>
            </a:r>
            <a:br>
              <a:rPr lang="en-IN" sz="1000" b="1" dirty="0"/>
            </a:br>
            <a:r>
              <a:rPr lang="en-IN" sz="1000" b="1" dirty="0"/>
              <a:t>Report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6" action="ppaction://hlinkfile"/>
              </a:rPr>
            </a:br>
            <a:r>
              <a:rPr lang="en-IN" sz="1000" dirty="0">
                <a:hlinkClick r:id="rId6" action="ppaction://hlinkfile"/>
              </a:rPr>
              <a:t>Stock 1</a:t>
            </a:r>
            <a:br>
              <a:rPr lang="en-IN" sz="1000" dirty="0">
                <a:hlinkClick r:id="rId6" action="ppaction://hlinkfile"/>
              </a:rPr>
            </a:br>
            <a:endParaRPr lang="en-IN" sz="1000" dirty="0">
              <a:hlinkClick r:id="rId6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Stock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6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Stock 3</a:t>
            </a:r>
            <a:endParaRPr lang="en-IN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F120B-DDD0-37EA-9930-F32E2D703962}"/>
              </a:ext>
            </a:extLst>
          </p:cNvPr>
          <p:cNvSpPr txBox="1"/>
          <p:nvPr/>
        </p:nvSpPr>
        <p:spPr>
          <a:xfrm>
            <a:off x="4926902" y="1942576"/>
            <a:ext cx="15026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Customs </a:t>
            </a:r>
            <a:br>
              <a:rPr lang="en-IN" sz="1000" b="1" dirty="0"/>
            </a:br>
            <a:r>
              <a:rPr lang="en-IN" sz="1000" b="1" dirty="0"/>
              <a:t>Transaction Report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Customs Transaction 1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6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Customs Transaction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6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Customs Transaction 3</a:t>
            </a:r>
            <a:endParaRPr lang="en-IN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A8A6B7-6EB4-881D-BF2C-0BF7C0AA071F}"/>
              </a:ext>
            </a:extLst>
          </p:cNvPr>
          <p:cNvSpPr txBox="1"/>
          <p:nvPr/>
        </p:nvSpPr>
        <p:spPr>
          <a:xfrm>
            <a:off x="6304257" y="1942576"/>
            <a:ext cx="150269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Reconciliation Report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6" action="ppaction://hlinkfile"/>
              </a:rPr>
            </a:br>
            <a:br>
              <a:rPr lang="en-IN" sz="1000" dirty="0">
                <a:hlinkClick r:id="rId6" action="ppaction://hlinkfile"/>
              </a:rPr>
            </a:br>
            <a:r>
              <a:rPr lang="en-IN" sz="1000" dirty="0">
                <a:hlinkClick r:id="rId6" action="ppaction://hlinkfile"/>
              </a:rPr>
              <a:t>Reconciliation Report 1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6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Reconciliation Report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6" action="ppaction://hlinkfil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70E32C-65D1-87F0-65BB-0CA473C33765}"/>
              </a:ext>
            </a:extLst>
          </p:cNvPr>
          <p:cNvSpPr txBox="1"/>
          <p:nvPr/>
        </p:nvSpPr>
        <p:spPr>
          <a:xfrm>
            <a:off x="7674690" y="1942576"/>
            <a:ext cx="82549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  <a:p>
            <a:pPr algn="ctr">
              <a:spcAft>
                <a:spcPts val="600"/>
              </a:spcAft>
            </a:pPr>
            <a:endParaRPr lang="en-IN" sz="1000" dirty="0"/>
          </a:p>
          <a:p>
            <a:pPr algn="ctr">
              <a:spcAft>
                <a:spcPts val="600"/>
              </a:spcAft>
            </a:pPr>
            <a:r>
              <a:rPr lang="en-IN" sz="1000" dirty="0"/>
              <a:t>NA</a:t>
            </a:r>
          </a:p>
          <a:p>
            <a:pPr algn="ctr">
              <a:spcAft>
                <a:spcPts val="600"/>
              </a:spcAft>
            </a:pPr>
            <a:endParaRPr lang="en-IN" sz="1000" dirty="0"/>
          </a:p>
          <a:p>
            <a:pPr algn="ctr">
              <a:spcAft>
                <a:spcPts val="600"/>
              </a:spcAft>
            </a:pPr>
            <a:r>
              <a:rPr lang="en-IN" sz="1000" dirty="0"/>
              <a:t>NA</a:t>
            </a:r>
          </a:p>
        </p:txBody>
      </p:sp>
      <p:pic>
        <p:nvPicPr>
          <p:cNvPr id="15" name="Graphic 14" descr="Chat outline">
            <a:extLst>
              <a:ext uri="{FF2B5EF4-FFF2-40B4-BE49-F238E27FC236}">
                <a16:creationId xmlns:a16="http://schemas.microsoft.com/office/drawing/2014/main" id="{895B0190-757E-C9B7-359B-F2333FAD3B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16" name="Graphic 15" descr="Chat outline">
            <a:extLst>
              <a:ext uri="{FF2B5EF4-FFF2-40B4-BE49-F238E27FC236}">
                <a16:creationId xmlns:a16="http://schemas.microsoft.com/office/drawing/2014/main" id="{BBFA0BE0-73B9-A73B-5847-E4F96DB389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17" name="Graphic 16" descr="Chat outline">
            <a:extLst>
              <a:ext uri="{FF2B5EF4-FFF2-40B4-BE49-F238E27FC236}">
                <a16:creationId xmlns:a16="http://schemas.microsoft.com/office/drawing/2014/main" id="{D1E2B37C-AD40-F0E2-FCDA-33121479A3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3332345"/>
            <a:ext cx="252000" cy="252000"/>
          </a:xfrm>
          <a:prstGeom prst="rect">
            <a:avLst/>
          </a:prstGeom>
        </p:spPr>
      </p:pic>
      <p:pic>
        <p:nvPicPr>
          <p:cNvPr id="28" name="Graphic 27" descr="Chat outline">
            <a:extLst>
              <a:ext uri="{FF2B5EF4-FFF2-40B4-BE49-F238E27FC236}">
                <a16:creationId xmlns:a16="http://schemas.microsoft.com/office/drawing/2014/main" id="{7B41BABB-D974-33EC-C3A6-B0AE54C747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3767802"/>
            <a:ext cx="252000" cy="252000"/>
          </a:xfrm>
          <a:prstGeom prst="rect">
            <a:avLst/>
          </a:prstGeom>
        </p:spPr>
      </p:pic>
      <p:pic>
        <p:nvPicPr>
          <p:cNvPr id="30" name="Graphic 29" descr="Chat outline">
            <a:extLst>
              <a:ext uri="{FF2B5EF4-FFF2-40B4-BE49-F238E27FC236}">
                <a16:creationId xmlns:a16="http://schemas.microsoft.com/office/drawing/2014/main" id="{BD9FDCBE-7C86-CA80-F9E7-CAB64F5B4A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4254908"/>
            <a:ext cx="252000" cy="252000"/>
          </a:xfrm>
          <a:prstGeom prst="rect">
            <a:avLst/>
          </a:prstGeom>
        </p:spPr>
      </p:pic>
      <p:pic>
        <p:nvPicPr>
          <p:cNvPr id="31" name="Graphic 30" descr="Chat outline">
            <a:extLst>
              <a:ext uri="{FF2B5EF4-FFF2-40B4-BE49-F238E27FC236}">
                <a16:creationId xmlns:a16="http://schemas.microsoft.com/office/drawing/2014/main" id="{2B37B5B2-B72E-0A54-2896-518C743443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4690358"/>
            <a:ext cx="252000" cy="252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B26AE895-C7F7-993E-5E00-FC3720B39E7D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E6C6699-F199-FD33-67A3-28DD628A8170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070A71B-4601-E917-E333-F0CB2161818E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641F8F11-FB6B-AB21-425F-E053E624504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791" y="2171482"/>
            <a:ext cx="251464" cy="1230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1EBDB8F0-6A10-C138-B9B1-7D302CBBDA14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195A6D-120C-247A-2504-C233713815D7}"/>
              </a:ext>
            </a:extLst>
          </p:cNvPr>
          <p:cNvSpPr txBox="1"/>
          <p:nvPr/>
        </p:nvSpPr>
        <p:spPr>
          <a:xfrm>
            <a:off x="9591336" y="5985368"/>
            <a:ext cx="12939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Messaging Disabled</a:t>
            </a:r>
          </a:p>
        </p:txBody>
      </p:sp>
      <p:pic>
        <p:nvPicPr>
          <p:cNvPr id="88" name="Graphic 87" descr="Paperclip with solid fill">
            <a:extLst>
              <a:ext uri="{FF2B5EF4-FFF2-40B4-BE49-F238E27FC236}">
                <a16:creationId xmlns:a16="http://schemas.microsoft.com/office/drawing/2014/main" id="{87DFA72D-CCCD-0627-4788-52748A70AC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E28CF35-A6E2-05DF-B105-4BDE6008ADF1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0" name="Graphic 89" descr="Send with solid fill">
            <a:extLst>
              <a:ext uri="{FF2B5EF4-FFF2-40B4-BE49-F238E27FC236}">
                <a16:creationId xmlns:a16="http://schemas.microsoft.com/office/drawing/2014/main" id="{38C8BAE6-3D09-BEDA-1CA3-77417A6CFF1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45CC4CD0-64C5-5E32-C8EF-9675FF56BDE3}"/>
              </a:ext>
            </a:extLst>
          </p:cNvPr>
          <p:cNvSpPr txBox="1"/>
          <p:nvPr/>
        </p:nvSpPr>
        <p:spPr>
          <a:xfrm>
            <a:off x="9216368" y="2476573"/>
            <a:ext cx="28875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There’s an incorrect currency value in invoice 2347346576543..</a:t>
            </a:r>
          </a:p>
          <a:p>
            <a:endParaRPr lang="en-US" sz="1000" dirty="0"/>
          </a:p>
          <a:p>
            <a:endParaRPr lang="en-US" sz="1000" dirty="0"/>
          </a:p>
          <a:p>
            <a:pPr algn="r"/>
            <a:r>
              <a:rPr lang="en-US" sz="1000" b="1" dirty="0"/>
              <a:t>Manager</a:t>
            </a:r>
          </a:p>
          <a:p>
            <a:pPr algn="r"/>
            <a:r>
              <a:rPr lang="en-US" sz="1000" dirty="0"/>
              <a:t>Did you inform the client?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Yes, they’re re-uploading the corrected version.</a:t>
            </a:r>
          </a:p>
          <a:p>
            <a:endParaRPr lang="en-US" sz="1000" b="1" dirty="0"/>
          </a:p>
          <a:p>
            <a:endParaRPr lang="en-US" sz="1000" b="1" dirty="0"/>
          </a:p>
          <a:p>
            <a:pPr algn="r"/>
            <a:r>
              <a:rPr lang="en-US" sz="1000" b="1" dirty="0"/>
              <a:t>Manager</a:t>
            </a:r>
          </a:p>
          <a:p>
            <a:pPr algn="r"/>
            <a:r>
              <a:rPr lang="en-US" sz="1000" dirty="0"/>
              <a:t>Good. Verify once it's updated.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8FB05A-CF4F-500D-9D4C-6300C009FF6D}"/>
              </a:ext>
            </a:extLst>
          </p:cNvPr>
          <p:cNvSpPr txBox="1"/>
          <p:nvPr/>
        </p:nvSpPr>
        <p:spPr>
          <a:xfrm>
            <a:off x="1906443" y="5050533"/>
            <a:ext cx="2225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Adhoc</a:t>
            </a:r>
            <a:r>
              <a:rPr lang="en-IN" sz="1200" b="1" dirty="0"/>
              <a:t> Reconciliation Report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D4D240-A882-B42C-0E66-A117A183B2F9}"/>
              </a:ext>
            </a:extLst>
          </p:cNvPr>
          <p:cNvSpPr txBox="1"/>
          <p:nvPr/>
        </p:nvSpPr>
        <p:spPr>
          <a:xfrm>
            <a:off x="1905821" y="1411417"/>
            <a:ext cx="2225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Code: AE-2347346576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53B6F7-ADE6-578E-3C72-A6E9D51E28B3}"/>
              </a:ext>
            </a:extLst>
          </p:cNvPr>
          <p:cNvSpPr txBox="1"/>
          <p:nvPr/>
        </p:nvSpPr>
        <p:spPr>
          <a:xfrm>
            <a:off x="4045322" y="1411417"/>
            <a:ext cx="61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DHL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96D127C-A052-0BE4-421F-84F7761749B2}"/>
              </a:ext>
            </a:extLst>
          </p:cNvPr>
          <p:cNvGrpSpPr/>
          <p:nvPr/>
        </p:nvGrpSpPr>
        <p:grpSpPr>
          <a:xfrm>
            <a:off x="7729040" y="1429374"/>
            <a:ext cx="1094801" cy="307777"/>
            <a:chOff x="7615422" y="1454723"/>
            <a:chExt cx="1094801" cy="30777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74C11A9-D225-7F5B-7504-57FEFA25867B}"/>
                </a:ext>
              </a:extLst>
            </p:cNvPr>
            <p:cNvSpPr/>
            <p:nvPr/>
          </p:nvSpPr>
          <p:spPr>
            <a:xfrm>
              <a:off x="7615422" y="1462859"/>
              <a:ext cx="1094801" cy="2888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/>
                <a:t>|  </a:t>
              </a:r>
            </a:p>
          </p:txBody>
        </p:sp>
        <p:pic>
          <p:nvPicPr>
            <p:cNvPr id="20" name="Graphic 27" descr="Caret Down with solid fill">
              <a:extLst>
                <a:ext uri="{FF2B5EF4-FFF2-40B4-BE49-F238E27FC236}">
                  <a16:creationId xmlns:a16="http://schemas.microsoft.com/office/drawing/2014/main" id="{E07C6005-3DE0-0316-21A0-D9E3D096C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18362" y="1546901"/>
              <a:ext cx="140105" cy="1281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62095B-0FF6-7BAD-FAD7-4D3F3FBD77BB}"/>
                </a:ext>
              </a:extLst>
            </p:cNvPr>
            <p:cNvSpPr txBox="1"/>
            <p:nvPr/>
          </p:nvSpPr>
          <p:spPr>
            <a:xfrm>
              <a:off x="7857539" y="1454723"/>
              <a:ext cx="589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Year</a:t>
              </a:r>
            </a:p>
          </p:txBody>
        </p:sp>
      </p:grpSp>
      <p:sp>
        <p:nvSpPr>
          <p:cNvPr id="27" name="Arrow: Left 26">
            <a:extLst>
              <a:ext uri="{FF2B5EF4-FFF2-40B4-BE49-F238E27FC236}">
                <a16:creationId xmlns:a16="http://schemas.microsoft.com/office/drawing/2014/main" id="{75D2CE44-0A43-1321-EACD-9B13AC384C74}"/>
              </a:ext>
            </a:extLst>
          </p:cNvPr>
          <p:cNvSpPr/>
          <p:nvPr/>
        </p:nvSpPr>
        <p:spPr>
          <a:xfrm>
            <a:off x="2693640" y="630832"/>
            <a:ext cx="171379" cy="149753"/>
          </a:xfrm>
          <a:prstGeom prst="lef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 descr="Home with solid fill">
            <a:extLst>
              <a:ext uri="{FF2B5EF4-FFF2-40B4-BE49-F238E27FC236}">
                <a16:creationId xmlns:a16="http://schemas.microsoft.com/office/drawing/2014/main" id="{52CF3DFB-6F03-A7C1-704A-0A65295B05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49038" y="534545"/>
            <a:ext cx="305290" cy="30529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2730C90-E099-40CA-7E6C-EF3A5E0BCFEF}"/>
              </a:ext>
            </a:extLst>
          </p:cNvPr>
          <p:cNvSpPr txBox="1"/>
          <p:nvPr/>
        </p:nvSpPr>
        <p:spPr>
          <a:xfrm>
            <a:off x="1770555" y="813840"/>
            <a:ext cx="862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b="1" dirty="0"/>
              <a:t>Audit Home</a:t>
            </a:r>
          </a:p>
        </p:txBody>
      </p:sp>
      <p:pic>
        <p:nvPicPr>
          <p:cNvPr id="5" name="Graphic 4" descr="Chat outline">
            <a:extLst>
              <a:ext uri="{FF2B5EF4-FFF2-40B4-BE49-F238E27FC236}">
                <a16:creationId xmlns:a16="http://schemas.microsoft.com/office/drawing/2014/main" id="{8DD424E0-B390-C5C5-F148-4B53F8481F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5416409"/>
            <a:ext cx="252000" cy="252000"/>
          </a:xfrm>
          <a:prstGeom prst="rect">
            <a:avLst/>
          </a:prstGeom>
        </p:spPr>
      </p:pic>
      <p:pic>
        <p:nvPicPr>
          <p:cNvPr id="18" name="Graphic 17" descr="Chat outline">
            <a:extLst>
              <a:ext uri="{FF2B5EF4-FFF2-40B4-BE49-F238E27FC236}">
                <a16:creationId xmlns:a16="http://schemas.microsoft.com/office/drawing/2014/main" id="{3141A7A3-3701-A2CB-035D-BA7D5A1D6D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5861809"/>
            <a:ext cx="252000" cy="25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065373-7005-29AC-0DC4-32B30C5BBDC2}"/>
              </a:ext>
            </a:extLst>
          </p:cNvPr>
          <p:cNvSpPr txBox="1"/>
          <p:nvPr/>
        </p:nvSpPr>
        <p:spPr>
          <a:xfrm>
            <a:off x="1906443" y="5376869"/>
            <a:ext cx="6504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err="1"/>
              <a:t>Adhoc</a:t>
            </a:r>
            <a:r>
              <a:rPr lang="en-IN" sz="1000" dirty="0"/>
              <a:t> 1              2/4/2024        2/4/2025               </a:t>
            </a:r>
            <a:r>
              <a:rPr lang="en-IN" sz="1000" dirty="0">
                <a:hlinkClick r:id="rId6" action="ppaction://hlinkfile"/>
              </a:rPr>
              <a:t>Stock</a:t>
            </a:r>
            <a:r>
              <a:rPr lang="en-IN" sz="1000" dirty="0"/>
              <a:t>         </a:t>
            </a:r>
            <a:r>
              <a:rPr lang="en-IN" sz="1000" dirty="0">
                <a:hlinkClick r:id="rId6" action="ppaction://hlinkfile"/>
              </a:rPr>
              <a:t>Customs Transactions</a:t>
            </a:r>
            <a:r>
              <a:rPr lang="en-IN" sz="1000" dirty="0"/>
              <a:t>          </a:t>
            </a:r>
            <a:r>
              <a:rPr lang="en-IN" sz="1000" dirty="0">
                <a:hlinkClick r:id="rId6" action="ppaction://hlinkfile"/>
              </a:rPr>
              <a:t>Reconciliation Adhoc1</a:t>
            </a:r>
            <a:r>
              <a:rPr lang="en-IN" sz="1000" dirty="0"/>
              <a:t>         Closed</a:t>
            </a:r>
            <a:br>
              <a:rPr lang="en-IN" sz="1000" dirty="0">
                <a:hlinkClick r:id="rId6" action="ppaction://hlinkfile"/>
              </a:rPr>
            </a:br>
            <a:r>
              <a:rPr lang="en-IN" sz="1000" dirty="0"/>
              <a:t>                                                                                             </a:t>
            </a:r>
            <a:r>
              <a:rPr lang="en-IN" sz="1000" dirty="0">
                <a:hlinkClick r:id="rId6" action="ppaction://hlinkfile"/>
              </a:rPr>
              <a:t>Adhoc1</a:t>
            </a:r>
            <a:r>
              <a:rPr lang="en-IN" sz="1000" dirty="0"/>
              <a:t>      </a:t>
            </a:r>
            <a:r>
              <a:rPr lang="en-IN" sz="1000" dirty="0" err="1">
                <a:hlinkClick r:id="rId6" action="ppaction://hlinkfile"/>
              </a:rPr>
              <a:t>Adhoc1</a:t>
            </a:r>
            <a:endParaRPr lang="en-IN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CC9C3A-F7FD-0E5E-4DA2-4A64CE025EC5}"/>
              </a:ext>
            </a:extLst>
          </p:cNvPr>
          <p:cNvSpPr txBox="1"/>
          <p:nvPr/>
        </p:nvSpPr>
        <p:spPr>
          <a:xfrm>
            <a:off x="1905821" y="5851440"/>
            <a:ext cx="6504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err="1"/>
              <a:t>Adhoc</a:t>
            </a:r>
            <a:r>
              <a:rPr lang="en-IN" sz="1000" dirty="0"/>
              <a:t> 2              2/4/2025       1/6/2025               </a:t>
            </a:r>
            <a:r>
              <a:rPr lang="en-IN" sz="1000" dirty="0">
                <a:hlinkClick r:id="rId6" action="ppaction://hlinkfile"/>
              </a:rPr>
              <a:t>Stock</a:t>
            </a:r>
            <a:r>
              <a:rPr lang="en-IN" sz="1000" dirty="0"/>
              <a:t>         </a:t>
            </a:r>
            <a:r>
              <a:rPr lang="en-IN" sz="1000" dirty="0">
                <a:hlinkClick r:id="rId6" action="ppaction://hlinkfile"/>
              </a:rPr>
              <a:t>Customs Transactions</a:t>
            </a:r>
            <a:r>
              <a:rPr lang="en-IN" sz="1000" dirty="0"/>
              <a:t>          </a:t>
            </a:r>
            <a:r>
              <a:rPr lang="en-IN" sz="1000" dirty="0">
                <a:hlinkClick r:id="rId6" action="ppaction://hlinkfile"/>
              </a:rPr>
              <a:t>Reconciliation Adhoc2</a:t>
            </a:r>
            <a:r>
              <a:rPr lang="en-IN" sz="1000" dirty="0"/>
              <a:t>         Closed</a:t>
            </a:r>
            <a:br>
              <a:rPr lang="en-IN" sz="1000" dirty="0">
                <a:hlinkClick r:id="rId6" action="ppaction://hlinkfile"/>
              </a:rPr>
            </a:br>
            <a:r>
              <a:rPr lang="en-IN" sz="1000" dirty="0"/>
              <a:t>                                                                                             </a:t>
            </a:r>
            <a:r>
              <a:rPr lang="en-IN" sz="1000" dirty="0">
                <a:hlinkClick r:id="rId6" action="ppaction://hlinkfile"/>
              </a:rPr>
              <a:t>Adhoc2</a:t>
            </a:r>
            <a:r>
              <a:rPr lang="en-IN" sz="1000" dirty="0"/>
              <a:t>      </a:t>
            </a:r>
            <a:r>
              <a:rPr lang="en-IN" sz="1000" dirty="0" err="1">
                <a:hlinkClick r:id="rId6" action="ppaction://hlinkfile"/>
              </a:rPr>
              <a:t>Adhoc2</a:t>
            </a:r>
            <a:endParaRPr lang="en-IN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E3599A3-4703-9522-0201-52EACECBF054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868" y="5053705"/>
            <a:ext cx="262603" cy="26260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ECE8036-60E7-5643-1D49-24EB35838884}"/>
              </a:ext>
            </a:extLst>
          </p:cNvPr>
          <p:cNvGrpSpPr/>
          <p:nvPr/>
        </p:nvGrpSpPr>
        <p:grpSpPr>
          <a:xfrm>
            <a:off x="9265825" y="1697034"/>
            <a:ext cx="944766" cy="267556"/>
            <a:chOff x="9509665" y="6380794"/>
            <a:chExt cx="944766" cy="26755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960D6B7-A3F6-5B50-20FB-D817962394F7}"/>
                </a:ext>
              </a:extLst>
            </p:cNvPr>
            <p:cNvSpPr/>
            <p:nvPr/>
          </p:nvSpPr>
          <p:spPr>
            <a:xfrm>
              <a:off x="9509665" y="6394434"/>
              <a:ext cx="944766" cy="25391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DBC30C-49EB-E572-FAAB-F96B0054341E}"/>
                </a:ext>
              </a:extLst>
            </p:cNvPr>
            <p:cNvSpPr txBox="1"/>
            <p:nvPr/>
          </p:nvSpPr>
          <p:spPr>
            <a:xfrm>
              <a:off x="9591336" y="6380794"/>
              <a:ext cx="785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Everyone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74067A0-C586-F36E-149E-C59DD6E6DFA8}"/>
              </a:ext>
            </a:extLst>
          </p:cNvPr>
          <p:cNvGrpSpPr/>
          <p:nvPr/>
        </p:nvGrpSpPr>
        <p:grpSpPr>
          <a:xfrm>
            <a:off x="11135927" y="1676703"/>
            <a:ext cx="944766" cy="267556"/>
            <a:chOff x="9509665" y="6380794"/>
            <a:chExt cx="944766" cy="267556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A4E28D73-C8C8-C834-97AE-FBA0C84543C0}"/>
                </a:ext>
              </a:extLst>
            </p:cNvPr>
            <p:cNvSpPr/>
            <p:nvPr/>
          </p:nvSpPr>
          <p:spPr>
            <a:xfrm>
              <a:off x="9509665" y="6394434"/>
              <a:ext cx="944766" cy="25391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676FBA7-3F34-5A4E-BE2E-5DCD34A3ECBB}"/>
                </a:ext>
              </a:extLst>
            </p:cNvPr>
            <p:cNvSpPr txBox="1"/>
            <p:nvPr/>
          </p:nvSpPr>
          <p:spPr>
            <a:xfrm>
              <a:off x="9591336" y="6380794"/>
              <a:ext cx="785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Auditor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625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A5F66-D2D7-D144-20B3-83F20CA1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BA3F-4750-808A-ECB8-668FF48A1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en-US" sz="4800" dirty="0"/>
              <a:t>Manager</a:t>
            </a:r>
          </a:p>
          <a:p>
            <a:pPr marL="0" indent="0" algn="ctr">
              <a:buNone/>
            </a:pPr>
            <a:r>
              <a:rPr lang="en-US" sz="4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0383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5924-A247-A64F-8D75-73B2E8A2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rectangle">
            <a:extLst>
              <a:ext uri="{FF2B5EF4-FFF2-40B4-BE49-F238E27FC236}">
                <a16:creationId xmlns:a16="http://schemas.microsoft.com/office/drawing/2014/main" id="{4A1567C7-820F-6A25-B9ED-7C56FA79D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712" y="2226"/>
            <a:ext cx="10212568" cy="9767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2379B7-9A0B-7B9D-B5AF-A0D3C1EF4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0540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Auditor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68BA18-CCDF-DF4E-334A-CC58B3F780B9}"/>
              </a:ext>
            </a:extLst>
          </p:cNvPr>
          <p:cNvSpPr/>
          <p:nvPr/>
        </p:nvSpPr>
        <p:spPr>
          <a:xfrm>
            <a:off x="2605209" y="1297173"/>
            <a:ext cx="8885042" cy="44393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CC39C-0166-FBB8-56E4-B2D0A3478C61}"/>
              </a:ext>
            </a:extLst>
          </p:cNvPr>
          <p:cNvCxnSpPr>
            <a:cxnSpLocks/>
          </p:cNvCxnSpPr>
          <p:nvPr/>
        </p:nvCxnSpPr>
        <p:spPr>
          <a:xfrm>
            <a:off x="2616647" y="1819816"/>
            <a:ext cx="8873604" cy="164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E6F47D-7C39-2533-01EE-FDAFDE04D7AC}"/>
              </a:ext>
            </a:extLst>
          </p:cNvPr>
          <p:cNvSpPr txBox="1"/>
          <p:nvPr/>
        </p:nvSpPr>
        <p:spPr>
          <a:xfrm>
            <a:off x="5227813" y="1401835"/>
            <a:ext cx="181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Closed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50556D-39AD-D29A-7771-3A1208F589DB}"/>
              </a:ext>
            </a:extLst>
          </p:cNvPr>
          <p:cNvSpPr txBox="1"/>
          <p:nvPr/>
        </p:nvSpPr>
        <p:spPr>
          <a:xfrm>
            <a:off x="2591092" y="1450484"/>
            <a:ext cx="1505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Auditor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7BE665-A033-424E-B731-CDCB543E7552}"/>
              </a:ext>
            </a:extLst>
          </p:cNvPr>
          <p:cNvSpPr txBox="1"/>
          <p:nvPr/>
        </p:nvSpPr>
        <p:spPr>
          <a:xfrm>
            <a:off x="8232510" y="1271745"/>
            <a:ext cx="1818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Pending with Client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0F208D-AF44-89BC-F472-1075ED6D088D}"/>
              </a:ext>
            </a:extLst>
          </p:cNvPr>
          <p:cNvSpPr txBox="1"/>
          <p:nvPr/>
        </p:nvSpPr>
        <p:spPr>
          <a:xfrm>
            <a:off x="6621314" y="1409797"/>
            <a:ext cx="181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Open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58751A-4705-AB19-0007-D96FE5602BB1}"/>
              </a:ext>
            </a:extLst>
          </p:cNvPr>
          <p:cNvSpPr txBox="1"/>
          <p:nvPr/>
        </p:nvSpPr>
        <p:spPr>
          <a:xfrm>
            <a:off x="2757996" y="3042404"/>
            <a:ext cx="1520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Raja &amp; Kumar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008DB1-A5DD-3F63-19AC-FEDCBDF41D55}"/>
              </a:ext>
            </a:extLst>
          </p:cNvPr>
          <p:cNvSpPr txBox="1"/>
          <p:nvPr/>
        </p:nvSpPr>
        <p:spPr>
          <a:xfrm>
            <a:off x="2757996" y="3867096"/>
            <a:ext cx="1520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Kumar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063D72-A221-3C32-FD0F-026CB0BE2A07}"/>
              </a:ext>
            </a:extLst>
          </p:cNvPr>
          <p:cNvSpPr txBox="1"/>
          <p:nvPr/>
        </p:nvSpPr>
        <p:spPr>
          <a:xfrm>
            <a:off x="2757996" y="4586908"/>
            <a:ext cx="1520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Suresh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DB37AB-2B12-C86B-BA5C-3620B5434760}"/>
              </a:ext>
            </a:extLst>
          </p:cNvPr>
          <p:cNvSpPr txBox="1"/>
          <p:nvPr/>
        </p:nvSpPr>
        <p:spPr>
          <a:xfrm>
            <a:off x="2757996" y="5254720"/>
            <a:ext cx="1520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Mani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87488F-D1AE-F179-2B52-D84246853097}"/>
              </a:ext>
            </a:extLst>
          </p:cNvPr>
          <p:cNvSpPr txBox="1"/>
          <p:nvPr/>
        </p:nvSpPr>
        <p:spPr>
          <a:xfrm>
            <a:off x="2757996" y="2271127"/>
            <a:ext cx="1520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Raja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E9D1D9-F5C2-0433-634E-9D0389F7A00A}"/>
              </a:ext>
            </a:extLst>
          </p:cNvPr>
          <p:cNvSpPr txBox="1"/>
          <p:nvPr/>
        </p:nvSpPr>
        <p:spPr>
          <a:xfrm>
            <a:off x="5835217" y="2271127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958740-8163-7442-99E8-A9F27FEA0F7D}"/>
              </a:ext>
            </a:extLst>
          </p:cNvPr>
          <p:cNvSpPr txBox="1"/>
          <p:nvPr/>
        </p:nvSpPr>
        <p:spPr>
          <a:xfrm>
            <a:off x="7414874" y="2271127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C69E7C-0751-33EF-0A21-4071F63056E2}"/>
              </a:ext>
            </a:extLst>
          </p:cNvPr>
          <p:cNvSpPr txBox="1"/>
          <p:nvPr/>
        </p:nvSpPr>
        <p:spPr>
          <a:xfrm>
            <a:off x="5835217" y="3042404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D8C030-2C56-2126-99E1-7A9C4E822247}"/>
              </a:ext>
            </a:extLst>
          </p:cNvPr>
          <p:cNvSpPr txBox="1"/>
          <p:nvPr/>
        </p:nvSpPr>
        <p:spPr>
          <a:xfrm>
            <a:off x="5835217" y="3867096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45E757-9744-E69D-A2D0-31D238E4A4FB}"/>
              </a:ext>
            </a:extLst>
          </p:cNvPr>
          <p:cNvSpPr txBox="1"/>
          <p:nvPr/>
        </p:nvSpPr>
        <p:spPr>
          <a:xfrm>
            <a:off x="5835217" y="4586908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A853C8-56E2-307A-1DFB-D8DF156EAB26}"/>
              </a:ext>
            </a:extLst>
          </p:cNvPr>
          <p:cNvSpPr txBox="1"/>
          <p:nvPr/>
        </p:nvSpPr>
        <p:spPr>
          <a:xfrm>
            <a:off x="5835217" y="5254720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BEE006-6D59-DB90-71E7-5F59C4CA72F2}"/>
              </a:ext>
            </a:extLst>
          </p:cNvPr>
          <p:cNvSpPr txBox="1"/>
          <p:nvPr/>
        </p:nvSpPr>
        <p:spPr>
          <a:xfrm>
            <a:off x="7414874" y="3042404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719DB3-A2FE-82F4-42B9-A3D54FCFE2B2}"/>
              </a:ext>
            </a:extLst>
          </p:cNvPr>
          <p:cNvSpPr txBox="1"/>
          <p:nvPr/>
        </p:nvSpPr>
        <p:spPr>
          <a:xfrm>
            <a:off x="7414874" y="3867096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CCC77B-85C9-447E-ADC6-FC7F98F76BB6}"/>
              </a:ext>
            </a:extLst>
          </p:cNvPr>
          <p:cNvSpPr txBox="1"/>
          <p:nvPr/>
        </p:nvSpPr>
        <p:spPr>
          <a:xfrm>
            <a:off x="7414874" y="4586908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20F2B68-A584-E66E-1ECF-043AB3D03C13}"/>
              </a:ext>
            </a:extLst>
          </p:cNvPr>
          <p:cNvSpPr txBox="1"/>
          <p:nvPr/>
        </p:nvSpPr>
        <p:spPr>
          <a:xfrm>
            <a:off x="7414874" y="5254720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C9E6598-3A45-B0D2-5FF1-8FB2FAECC16D}"/>
              </a:ext>
            </a:extLst>
          </p:cNvPr>
          <p:cNvSpPr txBox="1"/>
          <p:nvPr/>
        </p:nvSpPr>
        <p:spPr>
          <a:xfrm>
            <a:off x="8898673" y="5254720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8F0F0F-B374-C204-9BB8-C02E8D32CBCA}"/>
              </a:ext>
            </a:extLst>
          </p:cNvPr>
          <p:cNvSpPr txBox="1"/>
          <p:nvPr/>
        </p:nvSpPr>
        <p:spPr>
          <a:xfrm>
            <a:off x="8898673" y="3042404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542FEE-558D-124F-7AB7-C14DE8FB26CD}"/>
              </a:ext>
            </a:extLst>
          </p:cNvPr>
          <p:cNvSpPr txBox="1"/>
          <p:nvPr/>
        </p:nvSpPr>
        <p:spPr>
          <a:xfrm>
            <a:off x="8898673" y="3867096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F4E35C-A2A0-A999-C2CC-31723CA78524}"/>
              </a:ext>
            </a:extLst>
          </p:cNvPr>
          <p:cNvSpPr txBox="1"/>
          <p:nvPr/>
        </p:nvSpPr>
        <p:spPr>
          <a:xfrm>
            <a:off x="8898673" y="4586908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A6E999-81B8-ADE8-2F6E-A1ACB25529DE}"/>
              </a:ext>
            </a:extLst>
          </p:cNvPr>
          <p:cNvSpPr txBox="1"/>
          <p:nvPr/>
        </p:nvSpPr>
        <p:spPr>
          <a:xfrm>
            <a:off x="8898673" y="2271127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10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E1E34BD-4BA0-7DF3-10C5-37B656887F24}"/>
              </a:ext>
            </a:extLst>
          </p:cNvPr>
          <p:cNvGrpSpPr/>
          <p:nvPr/>
        </p:nvGrpSpPr>
        <p:grpSpPr>
          <a:xfrm>
            <a:off x="10688746" y="495287"/>
            <a:ext cx="1094801" cy="263725"/>
            <a:chOff x="6237863" y="2183530"/>
            <a:chExt cx="1891208" cy="517182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BA02ABD-7FAF-533E-5D90-D601CFE2B29C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2" name="Graphic 27" descr="Caret Down with solid fill">
              <a:extLst>
                <a:ext uri="{FF2B5EF4-FFF2-40B4-BE49-F238E27FC236}">
                  <a16:creationId xmlns:a16="http://schemas.microsoft.com/office/drawing/2014/main" id="{01FF3AD5-885B-EE40-B306-2F96DEDE9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49396" y="2331063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5375D62-8336-4C5B-0A2E-649CC26D5F75}"/>
              </a:ext>
            </a:extLst>
          </p:cNvPr>
          <p:cNvGrpSpPr/>
          <p:nvPr/>
        </p:nvGrpSpPr>
        <p:grpSpPr>
          <a:xfrm>
            <a:off x="9349917" y="490429"/>
            <a:ext cx="1094801" cy="263725"/>
            <a:chOff x="6237863" y="2183530"/>
            <a:chExt cx="1891208" cy="517182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E6FE514-D854-F48C-98BE-830A31FC807A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5" name="Graphic 27" descr="Caret Down with solid fill">
              <a:extLst>
                <a:ext uri="{FF2B5EF4-FFF2-40B4-BE49-F238E27FC236}">
                  <a16:creationId xmlns:a16="http://schemas.microsoft.com/office/drawing/2014/main" id="{687D3ADD-6335-3E6A-8C79-33210AC56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64297" y="2331063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A1D092D0-3323-C414-0529-4E2CD515C74C}"/>
              </a:ext>
            </a:extLst>
          </p:cNvPr>
          <p:cNvSpPr txBox="1"/>
          <p:nvPr/>
        </p:nvSpPr>
        <p:spPr>
          <a:xfrm>
            <a:off x="9524140" y="506791"/>
            <a:ext cx="58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Year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8203693-9547-09D7-C6F3-0AF846DA0A81}"/>
              </a:ext>
            </a:extLst>
          </p:cNvPr>
          <p:cNvSpPr txBox="1"/>
          <p:nvPr/>
        </p:nvSpPr>
        <p:spPr>
          <a:xfrm>
            <a:off x="10885073" y="502922"/>
            <a:ext cx="73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Month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B95786-A184-CCE9-451F-395CB86A9EB5}"/>
              </a:ext>
            </a:extLst>
          </p:cNvPr>
          <p:cNvSpPr txBox="1"/>
          <p:nvPr/>
        </p:nvSpPr>
        <p:spPr>
          <a:xfrm>
            <a:off x="4151344" y="1415665"/>
            <a:ext cx="1505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Assigned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75EA63-E3C0-8B8E-AB89-52BF80E3D8EA}"/>
              </a:ext>
            </a:extLst>
          </p:cNvPr>
          <p:cNvSpPr txBox="1"/>
          <p:nvPr/>
        </p:nvSpPr>
        <p:spPr>
          <a:xfrm>
            <a:off x="4572447" y="2271127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1212DD-6F0B-3132-0A16-1E942B504C1F}"/>
              </a:ext>
            </a:extLst>
          </p:cNvPr>
          <p:cNvSpPr txBox="1"/>
          <p:nvPr/>
        </p:nvSpPr>
        <p:spPr>
          <a:xfrm>
            <a:off x="4572447" y="3042404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0F64A0-D6E8-E4A2-AEE0-D21011F331A0}"/>
              </a:ext>
            </a:extLst>
          </p:cNvPr>
          <p:cNvSpPr txBox="1"/>
          <p:nvPr/>
        </p:nvSpPr>
        <p:spPr>
          <a:xfrm>
            <a:off x="4572447" y="3867096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A257EA-8F8E-0412-C63A-F2E8CC3D04E7}"/>
              </a:ext>
            </a:extLst>
          </p:cNvPr>
          <p:cNvSpPr txBox="1"/>
          <p:nvPr/>
        </p:nvSpPr>
        <p:spPr>
          <a:xfrm>
            <a:off x="4572447" y="4586908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5205D6-8CA6-5307-C330-400FA4A5D772}"/>
              </a:ext>
            </a:extLst>
          </p:cNvPr>
          <p:cNvSpPr txBox="1"/>
          <p:nvPr/>
        </p:nvSpPr>
        <p:spPr>
          <a:xfrm>
            <a:off x="4572447" y="5254720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73238D-7851-6DD0-F2F3-7F9839024859}"/>
              </a:ext>
            </a:extLst>
          </p:cNvPr>
          <p:cNvSpPr txBox="1"/>
          <p:nvPr/>
        </p:nvSpPr>
        <p:spPr>
          <a:xfrm>
            <a:off x="8012427" y="960051"/>
            <a:ext cx="302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Declarations Based Count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03C8CF4-6BCF-8279-9756-233270EE66F3}"/>
              </a:ext>
            </a:extLst>
          </p:cNvPr>
          <p:cNvGrpSpPr/>
          <p:nvPr/>
        </p:nvGrpSpPr>
        <p:grpSpPr>
          <a:xfrm>
            <a:off x="0" y="1"/>
            <a:ext cx="1995214" cy="6858000"/>
            <a:chOff x="0" y="1"/>
            <a:chExt cx="1995214" cy="6858000"/>
          </a:xfrm>
        </p:grpSpPr>
        <p:pic>
          <p:nvPicPr>
            <p:cNvPr id="14" name="Picture 1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69C7A3BA-88D6-B6B1-F5E6-CF2E7E8D6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"/>
              <a:ext cx="1995214" cy="68580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BE56E1A-0FC8-ADA6-D436-41142720DD8C}"/>
                </a:ext>
              </a:extLst>
            </p:cNvPr>
            <p:cNvSpPr/>
            <p:nvPr/>
          </p:nvSpPr>
          <p:spPr>
            <a:xfrm>
              <a:off x="78059" y="1297172"/>
              <a:ext cx="1700388" cy="3929632"/>
            </a:xfrm>
            <a:prstGeom prst="rect">
              <a:avLst/>
            </a:prstGeom>
            <a:solidFill>
              <a:srgbClr val="000B58"/>
            </a:solidFill>
            <a:ln>
              <a:solidFill>
                <a:srgbClr val="000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B79DE77-1BE9-C38A-A108-F396845192C0}"/>
              </a:ext>
            </a:extLst>
          </p:cNvPr>
          <p:cNvSpPr txBox="1"/>
          <p:nvPr/>
        </p:nvSpPr>
        <p:spPr>
          <a:xfrm>
            <a:off x="86368" y="1468417"/>
            <a:ext cx="143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Auditors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16069-2ACB-07AF-5BC3-6B62D7683880}"/>
              </a:ext>
            </a:extLst>
          </p:cNvPr>
          <p:cNvSpPr txBox="1"/>
          <p:nvPr/>
        </p:nvSpPr>
        <p:spPr>
          <a:xfrm>
            <a:off x="86368" y="2366202"/>
            <a:ext cx="178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5C578-716D-5F64-FC48-49C300325E4F}"/>
              </a:ext>
            </a:extLst>
          </p:cNvPr>
          <p:cNvSpPr txBox="1"/>
          <p:nvPr/>
        </p:nvSpPr>
        <p:spPr>
          <a:xfrm>
            <a:off x="86368" y="3212213"/>
            <a:ext cx="1879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Stock Audit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D5D155-FA64-2A38-6700-BDCD523AF7F3}"/>
              </a:ext>
            </a:extLst>
          </p:cNvPr>
          <p:cNvSpPr txBox="1"/>
          <p:nvPr/>
        </p:nvSpPr>
        <p:spPr>
          <a:xfrm>
            <a:off x="9727013" y="1297173"/>
            <a:ext cx="1818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Pending with Auditor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D46B19-D048-4C86-B117-0431A2ECE0E6}"/>
              </a:ext>
            </a:extLst>
          </p:cNvPr>
          <p:cNvSpPr txBox="1"/>
          <p:nvPr/>
        </p:nvSpPr>
        <p:spPr>
          <a:xfrm>
            <a:off x="10373659" y="5254720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6005AB-5B72-A897-4228-4384349328E1}"/>
              </a:ext>
            </a:extLst>
          </p:cNvPr>
          <p:cNvSpPr txBox="1"/>
          <p:nvPr/>
        </p:nvSpPr>
        <p:spPr>
          <a:xfrm>
            <a:off x="10373659" y="3042404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6EE280-BE08-9B62-9926-6166158C407B}"/>
              </a:ext>
            </a:extLst>
          </p:cNvPr>
          <p:cNvSpPr txBox="1"/>
          <p:nvPr/>
        </p:nvSpPr>
        <p:spPr>
          <a:xfrm>
            <a:off x="10373659" y="3867096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8C5B27-B376-2F26-D392-703051DB9AC3}"/>
              </a:ext>
            </a:extLst>
          </p:cNvPr>
          <p:cNvSpPr txBox="1"/>
          <p:nvPr/>
        </p:nvSpPr>
        <p:spPr>
          <a:xfrm>
            <a:off x="10373659" y="4586908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10DB8E-85AE-32F5-57B5-C31B1C23350F}"/>
              </a:ext>
            </a:extLst>
          </p:cNvPr>
          <p:cNvSpPr txBox="1"/>
          <p:nvPr/>
        </p:nvSpPr>
        <p:spPr>
          <a:xfrm>
            <a:off x="10373659" y="2271127"/>
            <a:ext cx="46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60172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A537B-0EE7-3A6A-3FE0-F474BD9A3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white rectangle">
            <a:extLst>
              <a:ext uri="{FF2B5EF4-FFF2-40B4-BE49-F238E27FC236}">
                <a16:creationId xmlns:a16="http://schemas.microsoft.com/office/drawing/2014/main" id="{E40C3B12-56AD-4CBE-44D8-A4B1718F2C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712" y="2226"/>
            <a:ext cx="10212568" cy="9767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3079A1-52B8-285E-48FC-A8D13328F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054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Auditor Status – Company wise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7533B6-B5AB-502B-8A0F-D477486571B0}"/>
              </a:ext>
            </a:extLst>
          </p:cNvPr>
          <p:cNvSpPr/>
          <p:nvPr/>
        </p:nvSpPr>
        <p:spPr>
          <a:xfrm>
            <a:off x="2167228" y="1297173"/>
            <a:ext cx="9323024" cy="465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F48F36-30A2-27D7-43F8-A96A7C3F8E29}"/>
              </a:ext>
            </a:extLst>
          </p:cNvPr>
          <p:cNvCxnSpPr>
            <a:cxnSpLocks/>
          </p:cNvCxnSpPr>
          <p:nvPr/>
        </p:nvCxnSpPr>
        <p:spPr>
          <a:xfrm>
            <a:off x="2167227" y="1825551"/>
            <a:ext cx="9323024" cy="10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1FE1C7E-306D-1431-2A43-F1F125265CF0}"/>
              </a:ext>
            </a:extLst>
          </p:cNvPr>
          <p:cNvSpPr txBox="1"/>
          <p:nvPr/>
        </p:nvSpPr>
        <p:spPr>
          <a:xfrm>
            <a:off x="2197955" y="1396227"/>
            <a:ext cx="1670856" cy="348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Company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91CF8-6E2A-EA5F-8F2F-76085F7EBFEC}"/>
              </a:ext>
            </a:extLst>
          </p:cNvPr>
          <p:cNvSpPr txBox="1"/>
          <p:nvPr/>
        </p:nvSpPr>
        <p:spPr>
          <a:xfrm>
            <a:off x="3883933" y="1382049"/>
            <a:ext cx="170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Company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378ACE-BB35-FE2A-85A4-A32401099128}"/>
              </a:ext>
            </a:extLst>
          </p:cNvPr>
          <p:cNvSpPr txBox="1"/>
          <p:nvPr/>
        </p:nvSpPr>
        <p:spPr>
          <a:xfrm>
            <a:off x="5447636" y="1392685"/>
            <a:ext cx="181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F627E-B179-8DE5-3BEC-77B87281F81E}"/>
              </a:ext>
            </a:extLst>
          </p:cNvPr>
          <p:cNvSpPr txBox="1"/>
          <p:nvPr/>
        </p:nvSpPr>
        <p:spPr>
          <a:xfrm>
            <a:off x="6692629" y="1394029"/>
            <a:ext cx="181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Closed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FD40F4-F5B2-EB1F-40D6-F2EB726E45E2}"/>
              </a:ext>
            </a:extLst>
          </p:cNvPr>
          <p:cNvSpPr txBox="1"/>
          <p:nvPr/>
        </p:nvSpPr>
        <p:spPr>
          <a:xfrm>
            <a:off x="2167228" y="2248854"/>
            <a:ext cx="3047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AE-2347346576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D1393-F307-FC23-A26B-8C932472C387}"/>
              </a:ext>
            </a:extLst>
          </p:cNvPr>
          <p:cNvSpPr txBox="1"/>
          <p:nvPr/>
        </p:nvSpPr>
        <p:spPr>
          <a:xfrm>
            <a:off x="2167228" y="2988806"/>
            <a:ext cx="2040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AE-7634567567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78C510-D76C-3319-665D-06E3A0A96DB6}"/>
              </a:ext>
            </a:extLst>
          </p:cNvPr>
          <p:cNvSpPr txBox="1"/>
          <p:nvPr/>
        </p:nvSpPr>
        <p:spPr>
          <a:xfrm>
            <a:off x="2167228" y="3757876"/>
            <a:ext cx="231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AE-7457346573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553606-AB87-CE80-F8A8-7278F54F7F95}"/>
              </a:ext>
            </a:extLst>
          </p:cNvPr>
          <p:cNvSpPr txBox="1"/>
          <p:nvPr/>
        </p:nvSpPr>
        <p:spPr>
          <a:xfrm>
            <a:off x="2167228" y="5352868"/>
            <a:ext cx="22030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AE-3847567845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BE8FCB-0764-41D9-0341-CC946CD83730}"/>
              </a:ext>
            </a:extLst>
          </p:cNvPr>
          <p:cNvSpPr txBox="1"/>
          <p:nvPr/>
        </p:nvSpPr>
        <p:spPr>
          <a:xfrm>
            <a:off x="2167228" y="4492082"/>
            <a:ext cx="2197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AE-7846374657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EB36E1-D93F-B316-752C-C1DB6E079E82}"/>
              </a:ext>
            </a:extLst>
          </p:cNvPr>
          <p:cNvSpPr txBox="1"/>
          <p:nvPr/>
        </p:nvSpPr>
        <p:spPr>
          <a:xfrm>
            <a:off x="3931080" y="2248854"/>
            <a:ext cx="1449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DHL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71CA9D-E8BE-F7B6-C8BA-2C44267C0DA0}"/>
              </a:ext>
            </a:extLst>
          </p:cNvPr>
          <p:cNvSpPr txBox="1"/>
          <p:nvPr/>
        </p:nvSpPr>
        <p:spPr>
          <a:xfrm>
            <a:off x="3931080" y="2988806"/>
            <a:ext cx="1449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AL FUTTAIM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38A6A2-79F6-F896-15BF-702E67783D12}"/>
              </a:ext>
            </a:extLst>
          </p:cNvPr>
          <p:cNvSpPr txBox="1"/>
          <p:nvPr/>
        </p:nvSpPr>
        <p:spPr>
          <a:xfrm>
            <a:off x="3931080" y="3757876"/>
            <a:ext cx="2184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NINJAVAH LOGISTICS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82D78A-718F-1FCD-0B18-64442F9231F1}"/>
              </a:ext>
            </a:extLst>
          </p:cNvPr>
          <p:cNvSpPr txBox="1"/>
          <p:nvPr/>
        </p:nvSpPr>
        <p:spPr>
          <a:xfrm>
            <a:off x="3931080" y="4492082"/>
            <a:ext cx="2073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NAQUEL LOGISTICS</a:t>
            </a: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3A35A-E60B-3305-70A9-A927C18711EF}"/>
              </a:ext>
            </a:extLst>
          </p:cNvPr>
          <p:cNvSpPr txBox="1"/>
          <p:nvPr/>
        </p:nvSpPr>
        <p:spPr>
          <a:xfrm>
            <a:off x="3931080" y="5229758"/>
            <a:ext cx="2354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MONSANADA LOGISTICS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949454-FFA2-5382-6420-92FE8AD3F158}"/>
              </a:ext>
            </a:extLst>
          </p:cNvPr>
          <p:cNvSpPr txBox="1"/>
          <p:nvPr/>
        </p:nvSpPr>
        <p:spPr>
          <a:xfrm>
            <a:off x="8824342" y="1278645"/>
            <a:ext cx="1399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Pending with Client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9AE958-7A01-358B-B946-AD2C71E0C7D1}"/>
              </a:ext>
            </a:extLst>
          </p:cNvPr>
          <p:cNvSpPr txBox="1"/>
          <p:nvPr/>
        </p:nvSpPr>
        <p:spPr>
          <a:xfrm>
            <a:off x="7682237" y="1375489"/>
            <a:ext cx="181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Open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BAE068-424F-3551-DC7A-00A739740887}"/>
              </a:ext>
            </a:extLst>
          </p:cNvPr>
          <p:cNvSpPr txBox="1"/>
          <p:nvPr/>
        </p:nvSpPr>
        <p:spPr>
          <a:xfrm>
            <a:off x="7401467" y="2248854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0C6377-067F-19A9-8A25-B0DA12F18E6D}"/>
              </a:ext>
            </a:extLst>
          </p:cNvPr>
          <p:cNvSpPr txBox="1"/>
          <p:nvPr/>
        </p:nvSpPr>
        <p:spPr>
          <a:xfrm>
            <a:off x="8349397" y="2248854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B8B1B9-25B0-450E-DAFF-8D9F6DA202CF}"/>
              </a:ext>
            </a:extLst>
          </p:cNvPr>
          <p:cNvSpPr txBox="1"/>
          <p:nvPr/>
        </p:nvSpPr>
        <p:spPr>
          <a:xfrm>
            <a:off x="7397927" y="2988806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56BDF8-F95D-0E8E-07C3-CC32D8BC4A5B}"/>
              </a:ext>
            </a:extLst>
          </p:cNvPr>
          <p:cNvSpPr txBox="1"/>
          <p:nvPr/>
        </p:nvSpPr>
        <p:spPr>
          <a:xfrm>
            <a:off x="7397806" y="3757876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4D7A59-1B88-490C-0D51-31066564B661}"/>
              </a:ext>
            </a:extLst>
          </p:cNvPr>
          <p:cNvSpPr txBox="1"/>
          <p:nvPr/>
        </p:nvSpPr>
        <p:spPr>
          <a:xfrm>
            <a:off x="7442997" y="4492082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2E6A96-0435-F725-71A9-F3E4719FD1F4}"/>
              </a:ext>
            </a:extLst>
          </p:cNvPr>
          <p:cNvSpPr txBox="1"/>
          <p:nvPr/>
        </p:nvSpPr>
        <p:spPr>
          <a:xfrm>
            <a:off x="7430211" y="5352868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9BBAA8-B2EB-B66C-D5D8-1012B9681DA7}"/>
              </a:ext>
            </a:extLst>
          </p:cNvPr>
          <p:cNvSpPr txBox="1"/>
          <p:nvPr/>
        </p:nvSpPr>
        <p:spPr>
          <a:xfrm>
            <a:off x="8290446" y="2988806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884902-3826-8C71-7A03-0CEEE9E15AFF}"/>
              </a:ext>
            </a:extLst>
          </p:cNvPr>
          <p:cNvSpPr txBox="1"/>
          <p:nvPr/>
        </p:nvSpPr>
        <p:spPr>
          <a:xfrm>
            <a:off x="8324357" y="3757876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4D7576-E45F-90D9-CB66-A33FC05C06C3}"/>
              </a:ext>
            </a:extLst>
          </p:cNvPr>
          <p:cNvSpPr txBox="1"/>
          <p:nvPr/>
        </p:nvSpPr>
        <p:spPr>
          <a:xfrm>
            <a:off x="8346775" y="4492082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B3A84F-C7A2-3996-ECE1-E5A641C6A377}"/>
              </a:ext>
            </a:extLst>
          </p:cNvPr>
          <p:cNvSpPr txBox="1"/>
          <p:nvPr/>
        </p:nvSpPr>
        <p:spPr>
          <a:xfrm>
            <a:off x="8427299" y="5352868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22CF879-3514-CEFA-1AC9-87F04944A6F0}"/>
              </a:ext>
            </a:extLst>
          </p:cNvPr>
          <p:cNvSpPr txBox="1"/>
          <p:nvPr/>
        </p:nvSpPr>
        <p:spPr>
          <a:xfrm>
            <a:off x="9289312" y="5352868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632CEB-5472-1866-1153-034EA5F973FB}"/>
              </a:ext>
            </a:extLst>
          </p:cNvPr>
          <p:cNvSpPr txBox="1"/>
          <p:nvPr/>
        </p:nvSpPr>
        <p:spPr>
          <a:xfrm>
            <a:off x="9266777" y="2988806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9424D8-79C0-D8A5-8ACC-7912E39E2EBF}"/>
              </a:ext>
            </a:extLst>
          </p:cNvPr>
          <p:cNvSpPr txBox="1"/>
          <p:nvPr/>
        </p:nvSpPr>
        <p:spPr>
          <a:xfrm>
            <a:off x="9251783" y="3757876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FA54787-A3B2-BA35-D163-A35BCFD3BE48}"/>
              </a:ext>
            </a:extLst>
          </p:cNvPr>
          <p:cNvSpPr txBox="1"/>
          <p:nvPr/>
        </p:nvSpPr>
        <p:spPr>
          <a:xfrm>
            <a:off x="9244475" y="4492082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4FFE2D3-F79B-FF03-DF85-9E5BF51BBFA6}"/>
              </a:ext>
            </a:extLst>
          </p:cNvPr>
          <p:cNvSpPr txBox="1"/>
          <p:nvPr/>
        </p:nvSpPr>
        <p:spPr>
          <a:xfrm>
            <a:off x="9262934" y="2248854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10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7E0FF3A-3680-A53C-056E-6CB6DCBBB4C7}"/>
              </a:ext>
            </a:extLst>
          </p:cNvPr>
          <p:cNvGrpSpPr/>
          <p:nvPr/>
        </p:nvGrpSpPr>
        <p:grpSpPr>
          <a:xfrm>
            <a:off x="10688746" y="495287"/>
            <a:ext cx="1094801" cy="263725"/>
            <a:chOff x="6237863" y="2183530"/>
            <a:chExt cx="1891208" cy="517182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BD488BE-1322-4D5D-C8A0-45938D7A0DEF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2" name="Graphic 27" descr="Caret Down with solid fill">
              <a:extLst>
                <a:ext uri="{FF2B5EF4-FFF2-40B4-BE49-F238E27FC236}">
                  <a16:creationId xmlns:a16="http://schemas.microsoft.com/office/drawing/2014/main" id="{9AB2FAEC-134D-B028-CB6A-B388F811D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2A04D86-9E2D-11DA-E40F-61288898147F}"/>
              </a:ext>
            </a:extLst>
          </p:cNvPr>
          <p:cNvGrpSpPr/>
          <p:nvPr/>
        </p:nvGrpSpPr>
        <p:grpSpPr>
          <a:xfrm>
            <a:off x="9349917" y="490429"/>
            <a:ext cx="1094801" cy="263725"/>
            <a:chOff x="6237863" y="2183530"/>
            <a:chExt cx="1891208" cy="517182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B913E7D-0A68-5B22-7D06-891E0AA22DD7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5" name="Graphic 27" descr="Caret Down with solid fill">
              <a:extLst>
                <a:ext uri="{FF2B5EF4-FFF2-40B4-BE49-F238E27FC236}">
                  <a16:creationId xmlns:a16="http://schemas.microsoft.com/office/drawing/2014/main" id="{BC909328-A8C2-6BAD-FCA9-7C4EB4F51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31CE7B30-C8F7-FCD9-9042-DF834C85EB98}"/>
              </a:ext>
            </a:extLst>
          </p:cNvPr>
          <p:cNvSpPr txBox="1"/>
          <p:nvPr/>
        </p:nvSpPr>
        <p:spPr>
          <a:xfrm>
            <a:off x="9524140" y="506791"/>
            <a:ext cx="58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Year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D870D3F-C65B-E86D-894B-3335148B6313}"/>
              </a:ext>
            </a:extLst>
          </p:cNvPr>
          <p:cNvSpPr txBox="1"/>
          <p:nvPr/>
        </p:nvSpPr>
        <p:spPr>
          <a:xfrm>
            <a:off x="10885073" y="502922"/>
            <a:ext cx="73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Month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46DDB24-86B3-3FA2-08A8-5FE41CCEF885}"/>
              </a:ext>
            </a:extLst>
          </p:cNvPr>
          <p:cNvSpPr txBox="1"/>
          <p:nvPr/>
        </p:nvSpPr>
        <p:spPr>
          <a:xfrm>
            <a:off x="8277771" y="927837"/>
            <a:ext cx="302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Declarations Based Count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5913A-EB15-2770-DD8E-32ABE2CC1034}"/>
              </a:ext>
            </a:extLst>
          </p:cNvPr>
          <p:cNvSpPr txBox="1"/>
          <p:nvPr/>
        </p:nvSpPr>
        <p:spPr>
          <a:xfrm>
            <a:off x="6025602" y="2248854"/>
            <a:ext cx="1615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F4602-EA83-0340-1C28-1976E6E83980}"/>
              </a:ext>
            </a:extLst>
          </p:cNvPr>
          <p:cNvSpPr txBox="1"/>
          <p:nvPr/>
        </p:nvSpPr>
        <p:spPr>
          <a:xfrm>
            <a:off x="6025602" y="2988806"/>
            <a:ext cx="1615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Mainland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73B429-EA3B-FB6B-F596-EFF82FD48D57}"/>
              </a:ext>
            </a:extLst>
          </p:cNvPr>
          <p:cNvSpPr txBox="1"/>
          <p:nvPr/>
        </p:nvSpPr>
        <p:spPr>
          <a:xfrm>
            <a:off x="6025602" y="3757876"/>
            <a:ext cx="1615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Broker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7772EC-2103-5B1A-DDE9-B4A05FD74ACB}"/>
              </a:ext>
            </a:extLst>
          </p:cNvPr>
          <p:cNvSpPr txBox="1"/>
          <p:nvPr/>
        </p:nvSpPr>
        <p:spPr>
          <a:xfrm>
            <a:off x="6025603" y="5352868"/>
            <a:ext cx="1218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Mainland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EA56AC-AC54-3D47-9F93-560D6C767AC8}"/>
              </a:ext>
            </a:extLst>
          </p:cNvPr>
          <p:cNvSpPr txBox="1"/>
          <p:nvPr/>
        </p:nvSpPr>
        <p:spPr>
          <a:xfrm>
            <a:off x="6025603" y="4492082"/>
            <a:ext cx="1218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Warehouse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AF7E26-A03A-209E-39E6-E2B5624A4AAB}"/>
              </a:ext>
            </a:extLst>
          </p:cNvPr>
          <p:cNvSpPr txBox="1"/>
          <p:nvPr/>
        </p:nvSpPr>
        <p:spPr>
          <a:xfrm>
            <a:off x="2391669" y="910762"/>
            <a:ext cx="20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Auditor : Suresh</a:t>
            </a:r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74008716-A7DE-5600-6BF4-B3CC85AF1C3F}"/>
              </a:ext>
            </a:extLst>
          </p:cNvPr>
          <p:cNvSpPr/>
          <p:nvPr/>
        </p:nvSpPr>
        <p:spPr>
          <a:xfrm>
            <a:off x="2387256" y="576799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6D0CB3-5B43-7A84-4543-E55A186258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995214" cy="6858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EC29DC1-5B6A-E157-223B-FED1368743BA}"/>
              </a:ext>
            </a:extLst>
          </p:cNvPr>
          <p:cNvSpPr txBox="1"/>
          <p:nvPr/>
        </p:nvSpPr>
        <p:spPr>
          <a:xfrm>
            <a:off x="172014" y="1468417"/>
            <a:ext cx="143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Auditor List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7875EE-B07B-33A3-ED66-DA9205817710}"/>
              </a:ext>
            </a:extLst>
          </p:cNvPr>
          <p:cNvSpPr txBox="1"/>
          <p:nvPr/>
        </p:nvSpPr>
        <p:spPr>
          <a:xfrm>
            <a:off x="86368" y="2366202"/>
            <a:ext cx="178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Company List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0F8384-E7A9-CC71-2C1F-62A4880E7704}"/>
              </a:ext>
            </a:extLst>
          </p:cNvPr>
          <p:cNvSpPr/>
          <p:nvPr/>
        </p:nvSpPr>
        <p:spPr>
          <a:xfrm>
            <a:off x="78059" y="1297172"/>
            <a:ext cx="1700388" cy="3929632"/>
          </a:xfrm>
          <a:prstGeom prst="rect">
            <a:avLst/>
          </a:prstGeom>
          <a:solidFill>
            <a:srgbClr val="000B58"/>
          </a:solidFill>
          <a:ln>
            <a:solidFill>
              <a:srgbClr val="000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A4E4D1-6578-7CD1-A1C9-B367989378D6}"/>
              </a:ext>
            </a:extLst>
          </p:cNvPr>
          <p:cNvSpPr txBox="1"/>
          <p:nvPr/>
        </p:nvSpPr>
        <p:spPr>
          <a:xfrm>
            <a:off x="10321521" y="5352868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D093AD-8744-8C01-8304-CC2B995AE4D9}"/>
              </a:ext>
            </a:extLst>
          </p:cNvPr>
          <p:cNvSpPr txBox="1"/>
          <p:nvPr/>
        </p:nvSpPr>
        <p:spPr>
          <a:xfrm>
            <a:off x="10298986" y="2988806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DCAFB7-088E-91C3-9599-2A9AC224942F}"/>
              </a:ext>
            </a:extLst>
          </p:cNvPr>
          <p:cNvSpPr txBox="1"/>
          <p:nvPr/>
        </p:nvSpPr>
        <p:spPr>
          <a:xfrm>
            <a:off x="10283992" y="3757876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38A0E3-A389-5734-B0EE-0C846B640B14}"/>
              </a:ext>
            </a:extLst>
          </p:cNvPr>
          <p:cNvSpPr txBox="1"/>
          <p:nvPr/>
        </p:nvSpPr>
        <p:spPr>
          <a:xfrm>
            <a:off x="10276684" y="4492082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FE8E6D-61CF-9A7D-A458-BB4B3132F5E9}"/>
              </a:ext>
            </a:extLst>
          </p:cNvPr>
          <p:cNvSpPr txBox="1"/>
          <p:nvPr/>
        </p:nvSpPr>
        <p:spPr>
          <a:xfrm>
            <a:off x="10295143" y="2248854"/>
            <a:ext cx="503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10F05A-B935-3DAF-8235-68ED71363571}"/>
              </a:ext>
            </a:extLst>
          </p:cNvPr>
          <p:cNvSpPr txBox="1"/>
          <p:nvPr/>
        </p:nvSpPr>
        <p:spPr>
          <a:xfrm>
            <a:off x="10090656" y="1276660"/>
            <a:ext cx="1399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Pending with Auditor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20F0C7-506C-244B-C9BA-63A22E1DFBB6}"/>
              </a:ext>
            </a:extLst>
          </p:cNvPr>
          <p:cNvSpPr txBox="1"/>
          <p:nvPr/>
        </p:nvSpPr>
        <p:spPr>
          <a:xfrm>
            <a:off x="86368" y="1468417"/>
            <a:ext cx="143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Auditors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DB5BFE-BA09-C2CD-6091-5C80AE8EFE45}"/>
              </a:ext>
            </a:extLst>
          </p:cNvPr>
          <p:cNvSpPr txBox="1"/>
          <p:nvPr/>
        </p:nvSpPr>
        <p:spPr>
          <a:xfrm>
            <a:off x="86368" y="2366202"/>
            <a:ext cx="178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Companies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07CE09-9CEB-74DB-82CC-500633719D94}"/>
              </a:ext>
            </a:extLst>
          </p:cNvPr>
          <p:cNvSpPr txBox="1"/>
          <p:nvPr/>
        </p:nvSpPr>
        <p:spPr>
          <a:xfrm>
            <a:off x="86368" y="3212213"/>
            <a:ext cx="1879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Stock Audit</a:t>
            </a:r>
          </a:p>
        </p:txBody>
      </p:sp>
    </p:spTree>
    <p:extLst>
      <p:ext uri="{BB962C8B-B14F-4D97-AF65-F5344CB8AC3E}">
        <p14:creationId xmlns:p14="http://schemas.microsoft.com/office/powerpoint/2010/main" val="3464854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8191-DFDD-F393-A3F5-2B6EE6BA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1DA4EE-76FD-7999-0D6C-BBA0C30AD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774276" cy="6858000"/>
          </a:xfrm>
          <a:prstGeom prst="rect">
            <a:avLst/>
          </a:prstGeom>
        </p:spPr>
      </p:pic>
      <p:pic>
        <p:nvPicPr>
          <p:cNvPr id="8" name="Picture 7" descr="A blue and white rectangle">
            <a:extLst>
              <a:ext uri="{FF2B5EF4-FFF2-40B4-BE49-F238E27FC236}">
                <a16:creationId xmlns:a16="http://schemas.microsoft.com/office/drawing/2014/main" id="{4B782B98-DBAF-7528-C687-7A2A030EF1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277" y="2450"/>
            <a:ext cx="10428554" cy="976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00AF8C-E53C-7C6C-7CDB-EB19925CE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0540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                    Auditor Status – Declaration wise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5D98C3-691F-1C88-7BE7-89ED8F8C7FB2}"/>
              </a:ext>
            </a:extLst>
          </p:cNvPr>
          <p:cNvSpPr txBox="1"/>
          <p:nvPr/>
        </p:nvSpPr>
        <p:spPr>
          <a:xfrm>
            <a:off x="2084465" y="941460"/>
            <a:ext cx="150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Auditor: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88644-611C-B9C7-BF94-6200811AE47D}"/>
              </a:ext>
            </a:extLst>
          </p:cNvPr>
          <p:cNvSpPr txBox="1"/>
          <p:nvPr/>
        </p:nvSpPr>
        <p:spPr>
          <a:xfrm>
            <a:off x="2868194" y="951717"/>
            <a:ext cx="150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Suresh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36539B-EB14-729E-E9B7-BB306C24A30A}"/>
              </a:ext>
            </a:extLst>
          </p:cNvPr>
          <p:cNvSpPr txBox="1"/>
          <p:nvPr/>
        </p:nvSpPr>
        <p:spPr>
          <a:xfrm>
            <a:off x="3202143" y="1215682"/>
            <a:ext cx="304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AE-2347346576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08138E-4F80-FBCF-1A1D-F8EB9A83C255}"/>
              </a:ext>
            </a:extLst>
          </p:cNvPr>
          <p:cNvSpPr txBox="1"/>
          <p:nvPr/>
        </p:nvSpPr>
        <p:spPr>
          <a:xfrm>
            <a:off x="1995214" y="1203881"/>
            <a:ext cx="150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Code: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62DD59-072B-D360-28B1-6E8F92472FB1}"/>
              </a:ext>
            </a:extLst>
          </p:cNvPr>
          <p:cNvSpPr txBox="1"/>
          <p:nvPr/>
        </p:nvSpPr>
        <p:spPr>
          <a:xfrm>
            <a:off x="4524889" y="1038354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DHL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F4A4EFEC-FEA4-2041-2943-BDE543E89D70}"/>
              </a:ext>
            </a:extLst>
          </p:cNvPr>
          <p:cNvSpPr/>
          <p:nvPr/>
        </p:nvSpPr>
        <p:spPr>
          <a:xfrm>
            <a:off x="2309935" y="534272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43EFEC-6B07-5303-BF2B-33B4F51EF612}"/>
              </a:ext>
            </a:extLst>
          </p:cNvPr>
          <p:cNvSpPr txBox="1"/>
          <p:nvPr/>
        </p:nvSpPr>
        <p:spPr>
          <a:xfrm>
            <a:off x="172014" y="1468417"/>
            <a:ext cx="143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Auditor List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EC4337-B938-84CF-54DF-308054F1BCBD}"/>
              </a:ext>
            </a:extLst>
          </p:cNvPr>
          <p:cNvSpPr txBox="1"/>
          <p:nvPr/>
        </p:nvSpPr>
        <p:spPr>
          <a:xfrm>
            <a:off x="86368" y="2366202"/>
            <a:ext cx="178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Company List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C89F97-BBAC-B9C4-98FB-BFFD06EE645C}"/>
              </a:ext>
            </a:extLst>
          </p:cNvPr>
          <p:cNvSpPr/>
          <p:nvPr/>
        </p:nvSpPr>
        <p:spPr>
          <a:xfrm>
            <a:off x="78059" y="1297172"/>
            <a:ext cx="1582168" cy="3929632"/>
          </a:xfrm>
          <a:prstGeom prst="rect">
            <a:avLst/>
          </a:prstGeom>
          <a:solidFill>
            <a:srgbClr val="000B58"/>
          </a:solidFill>
          <a:ln>
            <a:solidFill>
              <a:srgbClr val="000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75BCF-50E6-2DCF-2EA6-CCE3F2803523}"/>
              </a:ext>
            </a:extLst>
          </p:cNvPr>
          <p:cNvSpPr txBox="1"/>
          <p:nvPr/>
        </p:nvSpPr>
        <p:spPr>
          <a:xfrm>
            <a:off x="86368" y="1468417"/>
            <a:ext cx="143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Auditors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F311B-F0BC-C9B4-BE6E-3E692ECC43D9}"/>
              </a:ext>
            </a:extLst>
          </p:cNvPr>
          <p:cNvSpPr txBox="1"/>
          <p:nvPr/>
        </p:nvSpPr>
        <p:spPr>
          <a:xfrm>
            <a:off x="86368" y="2366202"/>
            <a:ext cx="178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F4BA1-8F20-4C3A-4ACF-CBF7C3D8E96C}"/>
              </a:ext>
            </a:extLst>
          </p:cNvPr>
          <p:cNvSpPr txBox="1"/>
          <p:nvPr/>
        </p:nvSpPr>
        <p:spPr>
          <a:xfrm>
            <a:off x="86368" y="3212213"/>
            <a:ext cx="1879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Stock Audit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1E4B3B-6F10-B832-9E82-64DCF8FEC43D}"/>
              </a:ext>
            </a:extLst>
          </p:cNvPr>
          <p:cNvSpPr txBox="1"/>
          <p:nvPr/>
        </p:nvSpPr>
        <p:spPr>
          <a:xfrm>
            <a:off x="1906443" y="1942576"/>
            <a:ext cx="8663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No.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4567579807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2345987654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2345769807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4576980876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4357698076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36E4F8-5C07-51B6-E0CC-5754E0F3CE5B}"/>
              </a:ext>
            </a:extLst>
          </p:cNvPr>
          <p:cNvSpPr txBox="1"/>
          <p:nvPr/>
        </p:nvSpPr>
        <p:spPr>
          <a:xfrm>
            <a:off x="3332753" y="1948378"/>
            <a:ext cx="54027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Issue Count</a:t>
            </a:r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endParaRPr lang="en-IN" sz="1000" dirty="0"/>
          </a:p>
          <a:p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4</a:t>
            </a:r>
          </a:p>
          <a:p>
            <a:endParaRPr lang="en-IN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F90B4-E6F3-0016-40EC-72E3E795BA60}"/>
              </a:ext>
            </a:extLst>
          </p:cNvPr>
          <p:cNvSpPr txBox="1"/>
          <p:nvPr/>
        </p:nvSpPr>
        <p:spPr>
          <a:xfrm>
            <a:off x="2713505" y="1942576"/>
            <a:ext cx="726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Date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F528A-905D-D9D8-8686-A9DE5054A862}"/>
              </a:ext>
            </a:extLst>
          </p:cNvPr>
          <p:cNvSpPr txBox="1"/>
          <p:nvPr/>
        </p:nvSpPr>
        <p:spPr>
          <a:xfrm>
            <a:off x="3765723" y="1959828"/>
            <a:ext cx="726252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Auditor Findings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Wrong CFI</a:t>
            </a:r>
            <a:br>
              <a:rPr lang="en-IN" sz="1000" dirty="0"/>
            </a:br>
            <a:br>
              <a:rPr lang="en-IN" sz="1000" dirty="0"/>
            </a:b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CFI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68A318-566E-E3E9-4900-4C870736A746}"/>
              </a:ext>
            </a:extLst>
          </p:cNvPr>
          <p:cNvSpPr txBox="1"/>
          <p:nvPr/>
        </p:nvSpPr>
        <p:spPr>
          <a:xfrm>
            <a:off x="4401604" y="1948879"/>
            <a:ext cx="11690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Auditor </a:t>
            </a:r>
            <a:br>
              <a:rPr lang="en-IN" sz="1000" b="1" dirty="0"/>
            </a:br>
            <a:r>
              <a:rPr lang="en-IN" sz="1000" b="1" dirty="0"/>
              <a:t>Remarks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CFI value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037724-69BE-A45F-85E3-C6CC15849E38}"/>
              </a:ext>
            </a:extLst>
          </p:cNvPr>
          <p:cNvSpPr txBox="1"/>
          <p:nvPr/>
        </p:nvSpPr>
        <p:spPr>
          <a:xfrm>
            <a:off x="5480488" y="1938355"/>
            <a:ext cx="7622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Response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5" action="ppaction://hlinkfile"/>
              </a:rPr>
            </a:br>
            <a:r>
              <a:rPr lang="en-IN" sz="1000" dirty="0"/>
              <a:t>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19D602-8A58-0D02-5959-13A86E115962}"/>
              </a:ext>
            </a:extLst>
          </p:cNvPr>
          <p:cNvSpPr txBox="1"/>
          <p:nvPr/>
        </p:nvSpPr>
        <p:spPr>
          <a:xfrm>
            <a:off x="6170685" y="1932707"/>
            <a:ext cx="8254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Remarks</a:t>
            </a:r>
          </a:p>
          <a:p>
            <a:br>
              <a:rPr lang="en-IN" sz="1000" dirty="0"/>
            </a:br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Updated latest doc</a:t>
            </a:r>
          </a:p>
        </p:txBody>
      </p:sp>
      <p:pic>
        <p:nvPicPr>
          <p:cNvPr id="20" name="Graphic 19" descr="Chat outline">
            <a:extLst>
              <a:ext uri="{FF2B5EF4-FFF2-40B4-BE49-F238E27FC236}">
                <a16:creationId xmlns:a16="http://schemas.microsoft.com/office/drawing/2014/main" id="{821C5659-9743-2059-C60F-AC19490F76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22" name="Graphic 21" descr="Chat outline">
            <a:extLst>
              <a:ext uri="{FF2B5EF4-FFF2-40B4-BE49-F238E27FC236}">
                <a16:creationId xmlns:a16="http://schemas.microsoft.com/office/drawing/2014/main" id="{9C076AB3-B90B-DC19-BC2A-100302391A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23" name="Graphic 22" descr="Chat outline">
            <a:extLst>
              <a:ext uri="{FF2B5EF4-FFF2-40B4-BE49-F238E27FC236}">
                <a16:creationId xmlns:a16="http://schemas.microsoft.com/office/drawing/2014/main" id="{5A36B3D4-CE84-1E3C-6E5A-9BFAFF490F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9548" y="3420588"/>
            <a:ext cx="252000" cy="252000"/>
          </a:xfrm>
          <a:prstGeom prst="rect">
            <a:avLst/>
          </a:prstGeom>
        </p:spPr>
      </p:pic>
      <p:pic>
        <p:nvPicPr>
          <p:cNvPr id="24" name="Graphic 23" descr="Chat outline">
            <a:extLst>
              <a:ext uri="{FF2B5EF4-FFF2-40B4-BE49-F238E27FC236}">
                <a16:creationId xmlns:a16="http://schemas.microsoft.com/office/drawing/2014/main" id="{57B90BDD-FB41-0E02-6EB4-1AF42C8B06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3812120"/>
            <a:ext cx="252000" cy="252000"/>
          </a:xfrm>
          <a:prstGeom prst="rect">
            <a:avLst/>
          </a:prstGeom>
        </p:spPr>
      </p:pic>
      <p:pic>
        <p:nvPicPr>
          <p:cNvPr id="27" name="Graphic 26" descr="Chat outline">
            <a:extLst>
              <a:ext uri="{FF2B5EF4-FFF2-40B4-BE49-F238E27FC236}">
                <a16:creationId xmlns:a16="http://schemas.microsoft.com/office/drawing/2014/main" id="{C18F68DB-277B-AEC2-C88E-A4D4A45ABD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4129501"/>
            <a:ext cx="252000" cy="2520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65508F5-1396-DEE7-81C6-080798D8F238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B3FA12-FB35-F103-594A-09219A3696B1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381D04-A05B-80B3-2B47-BC89B675F6FC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ACE77FF-AC67-E869-C6FC-559EC73A885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791" y="2171482"/>
            <a:ext cx="251464" cy="123052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7D091A1A-B1EE-8041-A9A5-CBA6078CF0C0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966958-A648-8E0E-EC5B-7476B8F74BB5}"/>
              </a:ext>
            </a:extLst>
          </p:cNvPr>
          <p:cNvSpPr txBox="1"/>
          <p:nvPr/>
        </p:nvSpPr>
        <p:spPr>
          <a:xfrm>
            <a:off x="9591336" y="5985368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Enter the message</a:t>
            </a:r>
          </a:p>
        </p:txBody>
      </p:sp>
      <p:pic>
        <p:nvPicPr>
          <p:cNvPr id="39" name="Graphic 38" descr="Paperclip with solid fill">
            <a:extLst>
              <a:ext uri="{FF2B5EF4-FFF2-40B4-BE49-F238E27FC236}">
                <a16:creationId xmlns:a16="http://schemas.microsoft.com/office/drawing/2014/main" id="{7D982B9B-C72E-2096-3699-8AFC42E96D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6C5961C-34E2-BCE5-2E9D-A5DF9D0BCC57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3" name="Graphic 42" descr="Send with solid fill">
            <a:extLst>
              <a:ext uri="{FF2B5EF4-FFF2-40B4-BE49-F238E27FC236}">
                <a16:creationId xmlns:a16="http://schemas.microsoft.com/office/drawing/2014/main" id="{B95E9ACA-C1DA-A9D6-4042-DA6FEF7955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C43E240-3FE8-EBF7-9ABB-FDE707B22715}"/>
              </a:ext>
            </a:extLst>
          </p:cNvPr>
          <p:cNvSpPr txBox="1"/>
          <p:nvPr/>
        </p:nvSpPr>
        <p:spPr>
          <a:xfrm>
            <a:off x="9216368" y="2476573"/>
            <a:ext cx="28875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There’s an incorrect currency value in invoice 2347346576543..</a:t>
            </a:r>
          </a:p>
          <a:p>
            <a:endParaRPr lang="en-US" sz="1000" dirty="0"/>
          </a:p>
          <a:p>
            <a:endParaRPr lang="en-US" sz="1000" dirty="0"/>
          </a:p>
          <a:p>
            <a:pPr algn="r"/>
            <a:r>
              <a:rPr lang="en-US" sz="1000" b="1" dirty="0"/>
              <a:t>Manager</a:t>
            </a:r>
          </a:p>
          <a:p>
            <a:pPr algn="r"/>
            <a:r>
              <a:rPr lang="en-US" sz="1000" dirty="0"/>
              <a:t>Did you inform the client?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Yes, they’re re-uploading the corrected version.</a:t>
            </a:r>
          </a:p>
          <a:p>
            <a:endParaRPr lang="en-US" sz="1000" b="1" dirty="0"/>
          </a:p>
          <a:p>
            <a:endParaRPr lang="en-US" sz="1000" b="1" dirty="0"/>
          </a:p>
          <a:p>
            <a:pPr algn="r"/>
            <a:r>
              <a:rPr lang="en-US" sz="1000" b="1" dirty="0"/>
              <a:t>Manager</a:t>
            </a:r>
          </a:p>
          <a:p>
            <a:pPr algn="r"/>
            <a:r>
              <a:rPr lang="en-US" sz="1000" dirty="0"/>
              <a:t>Good. Verify once it's updated.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AF0C58-DF0E-FF87-D6E5-7B24941476AF}"/>
              </a:ext>
            </a:extLst>
          </p:cNvPr>
          <p:cNvSpPr txBox="1"/>
          <p:nvPr/>
        </p:nvSpPr>
        <p:spPr>
          <a:xfrm>
            <a:off x="6938957" y="1950240"/>
            <a:ext cx="82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Actions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Completed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Not Started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8F62AD-503A-E3AE-7117-1C20B3C7BCAD}"/>
              </a:ext>
            </a:extLst>
          </p:cNvPr>
          <p:cNvSpPr txBox="1"/>
          <p:nvPr/>
        </p:nvSpPr>
        <p:spPr>
          <a:xfrm>
            <a:off x="7670630" y="1950240"/>
            <a:ext cx="90699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Client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Pending with Auditor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D2F0A6-554C-2495-B700-64367E939391}"/>
              </a:ext>
            </a:extLst>
          </p:cNvPr>
          <p:cNvSpPr txBox="1"/>
          <p:nvPr/>
        </p:nvSpPr>
        <p:spPr>
          <a:xfrm>
            <a:off x="9223823" y="6380794"/>
            <a:ext cx="8972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Client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6654F68-DBCB-3E5A-96FC-6E5F07172E55}"/>
              </a:ext>
            </a:extLst>
          </p:cNvPr>
          <p:cNvGrpSpPr/>
          <p:nvPr/>
        </p:nvGrpSpPr>
        <p:grpSpPr>
          <a:xfrm>
            <a:off x="9265825" y="1697034"/>
            <a:ext cx="944766" cy="267556"/>
            <a:chOff x="9509665" y="6380794"/>
            <a:chExt cx="944766" cy="267556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8FEAE12-55CD-1F6F-28C4-6A5D0A832EFA}"/>
                </a:ext>
              </a:extLst>
            </p:cNvPr>
            <p:cNvSpPr/>
            <p:nvPr/>
          </p:nvSpPr>
          <p:spPr>
            <a:xfrm>
              <a:off x="9509665" y="6394434"/>
              <a:ext cx="944766" cy="25391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A5C9962-893B-4C57-76FC-4985E8FBEB4F}"/>
                </a:ext>
              </a:extLst>
            </p:cNvPr>
            <p:cNvSpPr txBox="1"/>
            <p:nvPr/>
          </p:nvSpPr>
          <p:spPr>
            <a:xfrm>
              <a:off x="9591336" y="6380794"/>
              <a:ext cx="785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Everyone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62D7FE-520F-0857-C109-0C09D52F6226}"/>
              </a:ext>
            </a:extLst>
          </p:cNvPr>
          <p:cNvGrpSpPr/>
          <p:nvPr/>
        </p:nvGrpSpPr>
        <p:grpSpPr>
          <a:xfrm>
            <a:off x="11135927" y="1676703"/>
            <a:ext cx="944766" cy="267556"/>
            <a:chOff x="9509665" y="6380794"/>
            <a:chExt cx="944766" cy="267556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BBB6032-A679-EE57-7C5F-22DFF67DA2C4}"/>
                </a:ext>
              </a:extLst>
            </p:cNvPr>
            <p:cNvSpPr/>
            <p:nvPr/>
          </p:nvSpPr>
          <p:spPr>
            <a:xfrm>
              <a:off x="9509665" y="6394434"/>
              <a:ext cx="944766" cy="25391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17BE7C9-0B5B-3546-AD82-40694B16B6A0}"/>
                </a:ext>
              </a:extLst>
            </p:cNvPr>
            <p:cNvSpPr txBox="1"/>
            <p:nvPr/>
          </p:nvSpPr>
          <p:spPr>
            <a:xfrm>
              <a:off x="9591336" y="6380794"/>
              <a:ext cx="785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Auditor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8606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BA718-2D72-0625-C748-763E8ADFD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white rectangle">
            <a:extLst>
              <a:ext uri="{FF2B5EF4-FFF2-40B4-BE49-F238E27FC236}">
                <a16:creationId xmlns:a16="http://schemas.microsoft.com/office/drawing/2014/main" id="{2FBF76F3-6E36-1346-0F54-698E3C61B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577" y="2226"/>
            <a:ext cx="10405703" cy="9767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997B1C-E079-F3D4-9940-D375A8997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054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Company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BBA5FC-BA15-4A07-2349-D4229DF6ED40}"/>
              </a:ext>
            </a:extLst>
          </p:cNvPr>
          <p:cNvSpPr/>
          <p:nvPr/>
        </p:nvSpPr>
        <p:spPr>
          <a:xfrm>
            <a:off x="2227611" y="1297173"/>
            <a:ext cx="9258842" cy="44874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5078F5-66B4-9DFA-D12F-4B3F3447B481}"/>
              </a:ext>
            </a:extLst>
          </p:cNvPr>
          <p:cNvCxnSpPr>
            <a:cxnSpLocks/>
          </p:cNvCxnSpPr>
          <p:nvPr/>
        </p:nvCxnSpPr>
        <p:spPr>
          <a:xfrm>
            <a:off x="2231409" y="1825625"/>
            <a:ext cx="9258842" cy="106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2AC7CF-135C-0A22-235E-EF5B79660496}"/>
              </a:ext>
            </a:extLst>
          </p:cNvPr>
          <p:cNvSpPr txBox="1"/>
          <p:nvPr/>
        </p:nvSpPr>
        <p:spPr>
          <a:xfrm>
            <a:off x="2196905" y="1396228"/>
            <a:ext cx="1636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Company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CF2F4-801C-6FB6-4F70-ACAD5565AF53}"/>
              </a:ext>
            </a:extLst>
          </p:cNvPr>
          <p:cNvSpPr txBox="1"/>
          <p:nvPr/>
        </p:nvSpPr>
        <p:spPr>
          <a:xfrm>
            <a:off x="3694153" y="1382049"/>
            <a:ext cx="1914561" cy="34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Company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CDE768-BDB7-280B-1F17-FD6A171C6CD8}"/>
              </a:ext>
            </a:extLst>
          </p:cNvPr>
          <p:cNvSpPr txBox="1"/>
          <p:nvPr/>
        </p:nvSpPr>
        <p:spPr>
          <a:xfrm>
            <a:off x="5751157" y="1392685"/>
            <a:ext cx="1565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C40645-F4E3-2A28-19BA-49532A246E0B}"/>
              </a:ext>
            </a:extLst>
          </p:cNvPr>
          <p:cNvSpPr txBox="1"/>
          <p:nvPr/>
        </p:nvSpPr>
        <p:spPr>
          <a:xfrm>
            <a:off x="6908287" y="1394029"/>
            <a:ext cx="181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Closed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599634-2414-3A9B-A3C9-23EE1908DCBA}"/>
              </a:ext>
            </a:extLst>
          </p:cNvPr>
          <p:cNvSpPr txBox="1"/>
          <p:nvPr/>
        </p:nvSpPr>
        <p:spPr>
          <a:xfrm>
            <a:off x="2167228" y="2276841"/>
            <a:ext cx="1578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AE-2347346576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06FAE6-ADD0-69C5-BD6E-D98C6F69F2F3}"/>
              </a:ext>
            </a:extLst>
          </p:cNvPr>
          <p:cNvSpPr txBox="1"/>
          <p:nvPr/>
        </p:nvSpPr>
        <p:spPr>
          <a:xfrm>
            <a:off x="2167228" y="3059670"/>
            <a:ext cx="1578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AE-7634567567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4E8C6D-38FD-2E66-F952-CB98FA886620}"/>
              </a:ext>
            </a:extLst>
          </p:cNvPr>
          <p:cNvSpPr txBox="1"/>
          <p:nvPr/>
        </p:nvSpPr>
        <p:spPr>
          <a:xfrm>
            <a:off x="2167228" y="3804534"/>
            <a:ext cx="1794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AE-7457346573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135F07-F3F7-892F-C179-85A944375699}"/>
              </a:ext>
            </a:extLst>
          </p:cNvPr>
          <p:cNvSpPr txBox="1"/>
          <p:nvPr/>
        </p:nvSpPr>
        <p:spPr>
          <a:xfrm>
            <a:off x="2167228" y="5280318"/>
            <a:ext cx="1704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AE-3847567845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C184BC-347B-86D3-4A9B-D8CF0AA8053D}"/>
              </a:ext>
            </a:extLst>
          </p:cNvPr>
          <p:cNvSpPr txBox="1"/>
          <p:nvPr/>
        </p:nvSpPr>
        <p:spPr>
          <a:xfrm>
            <a:off x="2167229" y="4523668"/>
            <a:ext cx="1700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AE-7846374657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58170B-89D6-BD38-24F5-8297C1CE9666}"/>
              </a:ext>
            </a:extLst>
          </p:cNvPr>
          <p:cNvSpPr txBox="1"/>
          <p:nvPr/>
        </p:nvSpPr>
        <p:spPr>
          <a:xfrm>
            <a:off x="3732678" y="2269503"/>
            <a:ext cx="156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DHL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8BD750-8893-6A6C-7381-E1CD8FDC2F25}"/>
              </a:ext>
            </a:extLst>
          </p:cNvPr>
          <p:cNvSpPr txBox="1"/>
          <p:nvPr/>
        </p:nvSpPr>
        <p:spPr>
          <a:xfrm>
            <a:off x="3732678" y="3034482"/>
            <a:ext cx="156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AL FUTTAIM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E5A3F9-BD9C-BAF4-DA2F-E5A5896FFDBD}"/>
              </a:ext>
            </a:extLst>
          </p:cNvPr>
          <p:cNvSpPr txBox="1"/>
          <p:nvPr/>
        </p:nvSpPr>
        <p:spPr>
          <a:xfrm>
            <a:off x="3732679" y="3844285"/>
            <a:ext cx="2361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NINJAVAH LOGISTICS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DEECA8-6E3B-F926-E907-E6E1A724F52A}"/>
              </a:ext>
            </a:extLst>
          </p:cNvPr>
          <p:cNvSpPr txBox="1"/>
          <p:nvPr/>
        </p:nvSpPr>
        <p:spPr>
          <a:xfrm>
            <a:off x="3732678" y="4540593"/>
            <a:ext cx="2241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NAQUEL LOGISTICS</a:t>
            </a: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0CD727-AFBA-8A9E-79E2-032A654935A0}"/>
              </a:ext>
            </a:extLst>
          </p:cNvPr>
          <p:cNvSpPr txBox="1"/>
          <p:nvPr/>
        </p:nvSpPr>
        <p:spPr>
          <a:xfrm>
            <a:off x="3732678" y="5271797"/>
            <a:ext cx="2544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MONSANADA LOGISTICS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301B4D-EE86-6F1E-907A-06D9D3195268}"/>
              </a:ext>
            </a:extLst>
          </p:cNvPr>
          <p:cNvSpPr txBox="1"/>
          <p:nvPr/>
        </p:nvSpPr>
        <p:spPr>
          <a:xfrm>
            <a:off x="8975067" y="1266728"/>
            <a:ext cx="1258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Pending with Client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B08B8E-2AEA-595F-F4B9-92DD419B2702}"/>
              </a:ext>
            </a:extLst>
          </p:cNvPr>
          <p:cNvSpPr txBox="1"/>
          <p:nvPr/>
        </p:nvSpPr>
        <p:spPr>
          <a:xfrm>
            <a:off x="7725367" y="1375489"/>
            <a:ext cx="181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Open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7C5FFD-5699-8436-0B28-8528E7328705}"/>
              </a:ext>
            </a:extLst>
          </p:cNvPr>
          <p:cNvSpPr txBox="1"/>
          <p:nvPr/>
        </p:nvSpPr>
        <p:spPr>
          <a:xfrm>
            <a:off x="7532115" y="2230182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91BC5D-3FA8-DD65-070F-BFE35C8AACC2}"/>
              </a:ext>
            </a:extLst>
          </p:cNvPr>
          <p:cNvSpPr txBox="1"/>
          <p:nvPr/>
        </p:nvSpPr>
        <p:spPr>
          <a:xfrm>
            <a:off x="8332564" y="2282853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CD2853B-0E8E-6987-41B5-37B8240323EB}"/>
              </a:ext>
            </a:extLst>
          </p:cNvPr>
          <p:cNvSpPr txBox="1"/>
          <p:nvPr/>
        </p:nvSpPr>
        <p:spPr>
          <a:xfrm>
            <a:off x="7532115" y="2936860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A4BB89-7A01-C54D-A337-69C240000E29}"/>
              </a:ext>
            </a:extLst>
          </p:cNvPr>
          <p:cNvSpPr txBox="1"/>
          <p:nvPr/>
        </p:nvSpPr>
        <p:spPr>
          <a:xfrm>
            <a:off x="7532115" y="3688721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B0B72B-3821-132A-5CD0-722A871F7A9C}"/>
              </a:ext>
            </a:extLst>
          </p:cNvPr>
          <p:cNvSpPr txBox="1"/>
          <p:nvPr/>
        </p:nvSpPr>
        <p:spPr>
          <a:xfrm>
            <a:off x="7532115" y="4478667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D81163-999E-D529-80D9-58E9A17109DD}"/>
              </a:ext>
            </a:extLst>
          </p:cNvPr>
          <p:cNvSpPr txBox="1"/>
          <p:nvPr/>
        </p:nvSpPr>
        <p:spPr>
          <a:xfrm>
            <a:off x="7532115" y="5226991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9194DB-9DD8-95E5-3DA6-2F7C06C4417F}"/>
              </a:ext>
            </a:extLst>
          </p:cNvPr>
          <p:cNvSpPr txBox="1"/>
          <p:nvPr/>
        </p:nvSpPr>
        <p:spPr>
          <a:xfrm>
            <a:off x="8332564" y="2931281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8E7383-5392-1322-F668-2FC7EA40310A}"/>
              </a:ext>
            </a:extLst>
          </p:cNvPr>
          <p:cNvSpPr txBox="1"/>
          <p:nvPr/>
        </p:nvSpPr>
        <p:spPr>
          <a:xfrm>
            <a:off x="8332564" y="3700112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47A67D-B052-0C0B-5DA4-9182286A8A18}"/>
              </a:ext>
            </a:extLst>
          </p:cNvPr>
          <p:cNvSpPr txBox="1"/>
          <p:nvPr/>
        </p:nvSpPr>
        <p:spPr>
          <a:xfrm>
            <a:off x="8332564" y="4464586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2857CB2-ADB6-1279-6086-378040EA62B0}"/>
              </a:ext>
            </a:extLst>
          </p:cNvPr>
          <p:cNvSpPr txBox="1"/>
          <p:nvPr/>
        </p:nvSpPr>
        <p:spPr>
          <a:xfrm>
            <a:off x="8332564" y="5213007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BA23BD-4D6A-5AD0-BD76-014C6CB81A24}"/>
              </a:ext>
            </a:extLst>
          </p:cNvPr>
          <p:cNvSpPr txBox="1"/>
          <p:nvPr/>
        </p:nvSpPr>
        <p:spPr>
          <a:xfrm>
            <a:off x="9344101" y="5204971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26DE9BB-E68E-3259-13F3-D55BB1C95E5A}"/>
              </a:ext>
            </a:extLst>
          </p:cNvPr>
          <p:cNvSpPr txBox="1"/>
          <p:nvPr/>
        </p:nvSpPr>
        <p:spPr>
          <a:xfrm>
            <a:off x="9344101" y="2917944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AFE6B6-47FE-EE7A-98C7-86F82A493EB6}"/>
              </a:ext>
            </a:extLst>
          </p:cNvPr>
          <p:cNvSpPr txBox="1"/>
          <p:nvPr/>
        </p:nvSpPr>
        <p:spPr>
          <a:xfrm>
            <a:off x="9344101" y="3727152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F3E507-B245-1D94-A0A5-9E824F8ED2DB}"/>
              </a:ext>
            </a:extLst>
          </p:cNvPr>
          <p:cNvSpPr txBox="1"/>
          <p:nvPr/>
        </p:nvSpPr>
        <p:spPr>
          <a:xfrm>
            <a:off x="9344101" y="4460497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26C95C-045B-1660-5A8F-C454ED63BFF4}"/>
              </a:ext>
            </a:extLst>
          </p:cNvPr>
          <p:cNvSpPr txBox="1"/>
          <p:nvPr/>
        </p:nvSpPr>
        <p:spPr>
          <a:xfrm>
            <a:off x="9344101" y="2258212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10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DD4F691-D3C3-6A0C-6444-0B5419D898FF}"/>
              </a:ext>
            </a:extLst>
          </p:cNvPr>
          <p:cNvGrpSpPr/>
          <p:nvPr/>
        </p:nvGrpSpPr>
        <p:grpSpPr>
          <a:xfrm>
            <a:off x="10688746" y="495287"/>
            <a:ext cx="1094801" cy="263725"/>
            <a:chOff x="6237863" y="2183530"/>
            <a:chExt cx="1891208" cy="517182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CC63794-FFA0-468A-39AA-37F880BA8072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2" name="Graphic 27" descr="Caret Down with solid fill">
              <a:extLst>
                <a:ext uri="{FF2B5EF4-FFF2-40B4-BE49-F238E27FC236}">
                  <a16:creationId xmlns:a16="http://schemas.microsoft.com/office/drawing/2014/main" id="{4A62C6EA-BC23-2E16-F88E-A3FA3314F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D8FB384-E14E-14C2-3044-087D0F10A6EC}"/>
              </a:ext>
            </a:extLst>
          </p:cNvPr>
          <p:cNvGrpSpPr/>
          <p:nvPr/>
        </p:nvGrpSpPr>
        <p:grpSpPr>
          <a:xfrm>
            <a:off x="9349917" y="490429"/>
            <a:ext cx="1094801" cy="263725"/>
            <a:chOff x="6237863" y="2183530"/>
            <a:chExt cx="1891208" cy="517182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41CD88E-C78B-BC9B-D7CC-840D9E9E9B59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5" name="Graphic 27" descr="Caret Down with solid fill">
              <a:extLst>
                <a:ext uri="{FF2B5EF4-FFF2-40B4-BE49-F238E27FC236}">
                  <a16:creationId xmlns:a16="http://schemas.microsoft.com/office/drawing/2014/main" id="{CEA20EE3-8F14-A032-EE8C-66485B5CD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B6D56875-91CD-FCA0-89C5-24E468825433}"/>
              </a:ext>
            </a:extLst>
          </p:cNvPr>
          <p:cNvSpPr txBox="1"/>
          <p:nvPr/>
        </p:nvSpPr>
        <p:spPr>
          <a:xfrm>
            <a:off x="9524140" y="506791"/>
            <a:ext cx="58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Year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7F17E67-B7C9-7699-1FF5-E5960DEB1586}"/>
              </a:ext>
            </a:extLst>
          </p:cNvPr>
          <p:cNvSpPr txBox="1"/>
          <p:nvPr/>
        </p:nvSpPr>
        <p:spPr>
          <a:xfrm>
            <a:off x="10885073" y="502922"/>
            <a:ext cx="73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Month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4D0F379-7008-6068-17F5-79601549D445}"/>
              </a:ext>
            </a:extLst>
          </p:cNvPr>
          <p:cNvSpPr txBox="1"/>
          <p:nvPr/>
        </p:nvSpPr>
        <p:spPr>
          <a:xfrm>
            <a:off x="8277771" y="927837"/>
            <a:ext cx="302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Declarations Based Count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4F341-84AB-C964-00AF-F6D44E525573}"/>
              </a:ext>
            </a:extLst>
          </p:cNvPr>
          <p:cNvSpPr txBox="1"/>
          <p:nvPr/>
        </p:nvSpPr>
        <p:spPr>
          <a:xfrm>
            <a:off x="5765592" y="2214858"/>
            <a:ext cx="1565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63B58-F9F6-1CA6-2BEF-C227C7DE4994}"/>
              </a:ext>
            </a:extLst>
          </p:cNvPr>
          <p:cNvSpPr txBox="1"/>
          <p:nvPr/>
        </p:nvSpPr>
        <p:spPr>
          <a:xfrm>
            <a:off x="5878176" y="2936348"/>
            <a:ext cx="1565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Mainland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CDDFA2-568C-9832-5A1D-85BE91D60E32}"/>
              </a:ext>
            </a:extLst>
          </p:cNvPr>
          <p:cNvSpPr txBox="1"/>
          <p:nvPr/>
        </p:nvSpPr>
        <p:spPr>
          <a:xfrm>
            <a:off x="5849383" y="3706758"/>
            <a:ext cx="1565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Broker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7BE72B-0ECE-1FBA-CC82-0393988A0FF8}"/>
              </a:ext>
            </a:extLst>
          </p:cNvPr>
          <p:cNvSpPr txBox="1"/>
          <p:nvPr/>
        </p:nvSpPr>
        <p:spPr>
          <a:xfrm>
            <a:off x="6068505" y="5226992"/>
            <a:ext cx="1180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Mainland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221B6B-A42F-5968-5075-D7E4EC8B7305}"/>
              </a:ext>
            </a:extLst>
          </p:cNvPr>
          <p:cNvSpPr txBox="1"/>
          <p:nvPr/>
        </p:nvSpPr>
        <p:spPr>
          <a:xfrm>
            <a:off x="6059876" y="4479064"/>
            <a:ext cx="1180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Warehouse</a:t>
            </a:r>
          </a:p>
        </p:txBody>
      </p:sp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850160-8510-FBF3-67CD-41D7B78BCC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785577" cy="6858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DB45108-FF3B-2E97-EED9-1F940AD8B285}"/>
              </a:ext>
            </a:extLst>
          </p:cNvPr>
          <p:cNvSpPr txBox="1"/>
          <p:nvPr/>
        </p:nvSpPr>
        <p:spPr>
          <a:xfrm>
            <a:off x="172014" y="1468417"/>
            <a:ext cx="143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Auditor List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2578DF-627C-E13D-73FD-5A847E4E0AC2}"/>
              </a:ext>
            </a:extLst>
          </p:cNvPr>
          <p:cNvSpPr txBox="1"/>
          <p:nvPr/>
        </p:nvSpPr>
        <p:spPr>
          <a:xfrm>
            <a:off x="86368" y="2366202"/>
            <a:ext cx="178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Company List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D0FB5C-EC6E-6F09-7E89-141F8D88B3CC}"/>
              </a:ext>
            </a:extLst>
          </p:cNvPr>
          <p:cNvSpPr/>
          <p:nvPr/>
        </p:nvSpPr>
        <p:spPr>
          <a:xfrm>
            <a:off x="78059" y="1297172"/>
            <a:ext cx="1700388" cy="3929632"/>
          </a:xfrm>
          <a:prstGeom prst="rect">
            <a:avLst/>
          </a:prstGeom>
          <a:solidFill>
            <a:srgbClr val="000B58"/>
          </a:solidFill>
          <a:ln>
            <a:solidFill>
              <a:srgbClr val="000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F876F3-8B1B-7A1B-810C-F0A5F405155D}"/>
              </a:ext>
            </a:extLst>
          </p:cNvPr>
          <p:cNvSpPr txBox="1"/>
          <p:nvPr/>
        </p:nvSpPr>
        <p:spPr>
          <a:xfrm>
            <a:off x="246842" y="1620817"/>
            <a:ext cx="143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Auditors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6A7E72-5C68-CFC5-1C3F-6ED0413031F8}"/>
              </a:ext>
            </a:extLst>
          </p:cNvPr>
          <p:cNvSpPr txBox="1"/>
          <p:nvPr/>
        </p:nvSpPr>
        <p:spPr>
          <a:xfrm>
            <a:off x="164884" y="2223420"/>
            <a:ext cx="178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Companies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6269F5-8BF8-CF0C-B1C2-2F4A5311B58E}"/>
              </a:ext>
            </a:extLst>
          </p:cNvPr>
          <p:cNvSpPr txBox="1"/>
          <p:nvPr/>
        </p:nvSpPr>
        <p:spPr>
          <a:xfrm>
            <a:off x="192267" y="2931281"/>
            <a:ext cx="2088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Stock Audit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4194D8-DF5B-D8DC-9E99-97CCFD09E005}"/>
              </a:ext>
            </a:extLst>
          </p:cNvPr>
          <p:cNvSpPr txBox="1"/>
          <p:nvPr/>
        </p:nvSpPr>
        <p:spPr>
          <a:xfrm>
            <a:off x="10548048" y="5216262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79ACE2-0492-2D3D-8F27-BB67AE7D6261}"/>
              </a:ext>
            </a:extLst>
          </p:cNvPr>
          <p:cNvSpPr txBox="1"/>
          <p:nvPr/>
        </p:nvSpPr>
        <p:spPr>
          <a:xfrm>
            <a:off x="10548048" y="2929235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9BFAFE-9BE3-AB1F-7802-FA4EB72D20A0}"/>
              </a:ext>
            </a:extLst>
          </p:cNvPr>
          <p:cNvSpPr txBox="1"/>
          <p:nvPr/>
        </p:nvSpPr>
        <p:spPr>
          <a:xfrm>
            <a:off x="10548048" y="3738443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70D4B3-45E6-1C83-8F30-7CB6A55E740F}"/>
              </a:ext>
            </a:extLst>
          </p:cNvPr>
          <p:cNvSpPr txBox="1"/>
          <p:nvPr/>
        </p:nvSpPr>
        <p:spPr>
          <a:xfrm>
            <a:off x="10548048" y="4471788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47BF5E-7EF5-57A0-210F-E79A311A07AE}"/>
              </a:ext>
            </a:extLst>
          </p:cNvPr>
          <p:cNvSpPr txBox="1"/>
          <p:nvPr/>
        </p:nvSpPr>
        <p:spPr>
          <a:xfrm>
            <a:off x="10548048" y="2269503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63A20F-825B-0EB7-4F41-0372D1A700CB}"/>
              </a:ext>
            </a:extLst>
          </p:cNvPr>
          <p:cNvSpPr txBox="1"/>
          <p:nvPr/>
        </p:nvSpPr>
        <p:spPr>
          <a:xfrm>
            <a:off x="10184772" y="1263998"/>
            <a:ext cx="1327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Pending with Auditor</a:t>
            </a:r>
          </a:p>
        </p:txBody>
      </p:sp>
    </p:spTree>
    <p:extLst>
      <p:ext uri="{BB962C8B-B14F-4D97-AF65-F5344CB8AC3E}">
        <p14:creationId xmlns:p14="http://schemas.microsoft.com/office/powerpoint/2010/main" val="520088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1FDEB-811E-32C7-9A80-42694268E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AB46-A7B2-2078-E380-7B5C021F8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05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Audit Summary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E3620-45C7-29B1-BB75-F24C77D33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A1DB4E-1298-3225-9D5E-BE00C6A0C8C3}"/>
              </a:ext>
            </a:extLst>
          </p:cNvPr>
          <p:cNvSpPr/>
          <p:nvPr/>
        </p:nvSpPr>
        <p:spPr>
          <a:xfrm>
            <a:off x="2122464" y="1538708"/>
            <a:ext cx="9367787" cy="50147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1163CB-791A-66C8-7A14-F868499C20A8}"/>
              </a:ext>
            </a:extLst>
          </p:cNvPr>
          <p:cNvCxnSpPr>
            <a:cxnSpLocks/>
          </p:cNvCxnSpPr>
          <p:nvPr/>
        </p:nvCxnSpPr>
        <p:spPr>
          <a:xfrm>
            <a:off x="5263376" y="2067161"/>
            <a:ext cx="6226875" cy="106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200367-8318-713E-4556-B08BA663AA88}"/>
              </a:ext>
            </a:extLst>
          </p:cNvPr>
          <p:cNvSpPr txBox="1"/>
          <p:nvPr/>
        </p:nvSpPr>
        <p:spPr>
          <a:xfrm>
            <a:off x="7949040" y="1500998"/>
            <a:ext cx="1818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Pending with Client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443923-460A-CE28-026B-C57BC28C0E01}"/>
              </a:ext>
            </a:extLst>
          </p:cNvPr>
          <p:cNvSpPr txBox="1"/>
          <p:nvPr/>
        </p:nvSpPr>
        <p:spPr>
          <a:xfrm>
            <a:off x="436382" y="650396"/>
            <a:ext cx="1505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Auditor: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C01EE1-EAE4-A033-1DE6-77DA7986D0B0}"/>
              </a:ext>
            </a:extLst>
          </p:cNvPr>
          <p:cNvSpPr txBox="1"/>
          <p:nvPr/>
        </p:nvSpPr>
        <p:spPr>
          <a:xfrm>
            <a:off x="9516271" y="1495919"/>
            <a:ext cx="1818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Pending with Auditor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DCB95B-6820-0C00-5F70-6C95C3C686D2}"/>
              </a:ext>
            </a:extLst>
          </p:cNvPr>
          <p:cNvSpPr txBox="1"/>
          <p:nvPr/>
        </p:nvSpPr>
        <p:spPr>
          <a:xfrm>
            <a:off x="6381809" y="1626386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Open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69484B-520B-954A-D679-988F0013B38C}"/>
              </a:ext>
            </a:extLst>
          </p:cNvPr>
          <p:cNvSpPr txBox="1"/>
          <p:nvPr/>
        </p:nvSpPr>
        <p:spPr>
          <a:xfrm>
            <a:off x="2050336" y="2476763"/>
            <a:ext cx="245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Findings Summary: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AE35AC-CAFF-0336-0AD7-153B16438200}"/>
              </a:ext>
            </a:extLst>
          </p:cNvPr>
          <p:cNvSpPr txBox="1"/>
          <p:nvPr/>
        </p:nvSpPr>
        <p:spPr>
          <a:xfrm>
            <a:off x="8725428" y="2161130"/>
            <a:ext cx="46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DF614D-DC38-7ABA-0786-24E96F4DC596}"/>
              </a:ext>
            </a:extLst>
          </p:cNvPr>
          <p:cNvSpPr txBox="1"/>
          <p:nvPr/>
        </p:nvSpPr>
        <p:spPr>
          <a:xfrm>
            <a:off x="7133926" y="2174849"/>
            <a:ext cx="46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8D570A-C0B3-1507-8EAB-7C3DF9484EB1}"/>
              </a:ext>
            </a:extLst>
          </p:cNvPr>
          <p:cNvSpPr txBox="1"/>
          <p:nvPr/>
        </p:nvSpPr>
        <p:spPr>
          <a:xfrm>
            <a:off x="10104439" y="2167989"/>
            <a:ext cx="46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AA02DE5-10B4-FF5B-204A-CD0CEADC55B0}"/>
              </a:ext>
            </a:extLst>
          </p:cNvPr>
          <p:cNvGrpSpPr/>
          <p:nvPr/>
        </p:nvGrpSpPr>
        <p:grpSpPr>
          <a:xfrm>
            <a:off x="10688746" y="495287"/>
            <a:ext cx="1094801" cy="263725"/>
            <a:chOff x="6237863" y="2183530"/>
            <a:chExt cx="1891208" cy="517182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A68AB5A-74BD-5446-1C3F-D93EA93280C5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2" name="Graphic 27" descr="Caret Down with solid fill">
              <a:extLst>
                <a:ext uri="{FF2B5EF4-FFF2-40B4-BE49-F238E27FC236}">
                  <a16:creationId xmlns:a16="http://schemas.microsoft.com/office/drawing/2014/main" id="{8BED67F1-4616-D60E-2886-2B1363B97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7E1A9D7-BA69-33B3-5543-4802ABFA19EC}"/>
              </a:ext>
            </a:extLst>
          </p:cNvPr>
          <p:cNvGrpSpPr/>
          <p:nvPr/>
        </p:nvGrpSpPr>
        <p:grpSpPr>
          <a:xfrm>
            <a:off x="9349917" y="490429"/>
            <a:ext cx="1094801" cy="263725"/>
            <a:chOff x="6237863" y="2183530"/>
            <a:chExt cx="1891208" cy="517182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2701E2F-1638-A59E-194A-6CDF458C0775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5" name="Graphic 27" descr="Caret Down with solid fill">
              <a:extLst>
                <a:ext uri="{FF2B5EF4-FFF2-40B4-BE49-F238E27FC236}">
                  <a16:creationId xmlns:a16="http://schemas.microsoft.com/office/drawing/2014/main" id="{BF7DAB96-6C04-1D0F-F1D2-8D9CBF315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FF4DFE33-7645-574C-D6CC-637F3EFBCAA1}"/>
              </a:ext>
            </a:extLst>
          </p:cNvPr>
          <p:cNvSpPr txBox="1"/>
          <p:nvPr/>
        </p:nvSpPr>
        <p:spPr>
          <a:xfrm>
            <a:off x="9524140" y="506791"/>
            <a:ext cx="58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Year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7533A4B-02EF-9508-F9F5-662CCD246393}"/>
              </a:ext>
            </a:extLst>
          </p:cNvPr>
          <p:cNvSpPr txBox="1"/>
          <p:nvPr/>
        </p:nvSpPr>
        <p:spPr>
          <a:xfrm>
            <a:off x="10885073" y="502922"/>
            <a:ext cx="73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Month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AEA144-5F7A-2036-6279-175BCA47461E}"/>
              </a:ext>
            </a:extLst>
          </p:cNvPr>
          <p:cNvSpPr txBox="1"/>
          <p:nvPr/>
        </p:nvSpPr>
        <p:spPr>
          <a:xfrm>
            <a:off x="7838204" y="1210300"/>
            <a:ext cx="302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Declarations Audit Status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1114F-96D0-14C6-DCD7-1EA1B5BC4E97}"/>
              </a:ext>
            </a:extLst>
          </p:cNvPr>
          <p:cNvSpPr txBox="1"/>
          <p:nvPr/>
        </p:nvSpPr>
        <p:spPr>
          <a:xfrm>
            <a:off x="4835603" y="1651333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Closed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10C42-045D-A288-AF0D-7BDE86DC28B8}"/>
              </a:ext>
            </a:extLst>
          </p:cNvPr>
          <p:cNvSpPr txBox="1"/>
          <p:nvPr/>
        </p:nvSpPr>
        <p:spPr>
          <a:xfrm>
            <a:off x="5560223" y="2231255"/>
            <a:ext cx="46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A4C83F-3769-416A-0DD1-5DE95406F378}"/>
              </a:ext>
            </a:extLst>
          </p:cNvPr>
          <p:cNvSpPr txBox="1"/>
          <p:nvPr/>
        </p:nvSpPr>
        <p:spPr>
          <a:xfrm>
            <a:off x="2278906" y="650396"/>
            <a:ext cx="1505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Suresh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AA20F2-FAC1-DF57-DFC8-FD571B07603C}"/>
              </a:ext>
            </a:extLst>
          </p:cNvPr>
          <p:cNvSpPr txBox="1"/>
          <p:nvPr/>
        </p:nvSpPr>
        <p:spPr>
          <a:xfrm>
            <a:off x="2497790" y="1190095"/>
            <a:ext cx="3047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AE-2347346576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31D5EC-97AA-776B-4C48-1B23C9FC1729}"/>
              </a:ext>
            </a:extLst>
          </p:cNvPr>
          <p:cNvSpPr txBox="1"/>
          <p:nvPr/>
        </p:nvSpPr>
        <p:spPr>
          <a:xfrm>
            <a:off x="327252" y="958634"/>
            <a:ext cx="1505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Code: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33F25-56B3-1D76-0D47-027845910FD9}"/>
              </a:ext>
            </a:extLst>
          </p:cNvPr>
          <p:cNvSpPr txBox="1"/>
          <p:nvPr/>
        </p:nvSpPr>
        <p:spPr>
          <a:xfrm>
            <a:off x="4091651" y="1223168"/>
            <a:ext cx="1818168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DHL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0380B66-C717-C671-71F7-31C5DA72BB3D}"/>
              </a:ext>
            </a:extLst>
          </p:cNvPr>
          <p:cNvCxnSpPr>
            <a:cxnSpLocks/>
          </p:cNvCxnSpPr>
          <p:nvPr/>
        </p:nvCxnSpPr>
        <p:spPr>
          <a:xfrm flipV="1">
            <a:off x="5263376" y="1536783"/>
            <a:ext cx="0" cy="541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543ECA7-CADF-9FCA-019D-475A0CCAB777}"/>
              </a:ext>
            </a:extLst>
          </p:cNvPr>
          <p:cNvSpPr txBox="1"/>
          <p:nvPr/>
        </p:nvSpPr>
        <p:spPr>
          <a:xfrm>
            <a:off x="1751624" y="2841745"/>
            <a:ext cx="245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Declaration No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870E24-094C-A34C-53E8-23944EA9062D}"/>
              </a:ext>
            </a:extLst>
          </p:cNvPr>
          <p:cNvSpPr txBox="1"/>
          <p:nvPr/>
        </p:nvSpPr>
        <p:spPr>
          <a:xfrm>
            <a:off x="4139848" y="3123090"/>
            <a:ext cx="245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Finding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C4B37D-2BEC-00E7-3B41-9DB40186942A}"/>
              </a:ext>
            </a:extLst>
          </p:cNvPr>
          <p:cNvSpPr txBox="1"/>
          <p:nvPr/>
        </p:nvSpPr>
        <p:spPr>
          <a:xfrm>
            <a:off x="2140248" y="3568690"/>
            <a:ext cx="1829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2347346576345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940230-7C86-E5AD-09DE-6384D7C21A4F}"/>
              </a:ext>
            </a:extLst>
          </p:cNvPr>
          <p:cNvSpPr txBox="1"/>
          <p:nvPr/>
        </p:nvSpPr>
        <p:spPr>
          <a:xfrm>
            <a:off x="2146598" y="4021190"/>
            <a:ext cx="1829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3473467463457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1E6EF7-00D3-E721-835F-E3837AB72E96}"/>
              </a:ext>
            </a:extLst>
          </p:cNvPr>
          <p:cNvSpPr txBox="1"/>
          <p:nvPr/>
        </p:nvSpPr>
        <p:spPr>
          <a:xfrm>
            <a:off x="2146598" y="4468506"/>
            <a:ext cx="1829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3984734657634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2F2EBF-D06C-FCC0-7984-DA850D6F98A0}"/>
              </a:ext>
            </a:extLst>
          </p:cNvPr>
          <p:cNvSpPr txBox="1"/>
          <p:nvPr/>
        </p:nvSpPr>
        <p:spPr>
          <a:xfrm>
            <a:off x="2122465" y="4940844"/>
            <a:ext cx="1829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2379734657634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25A333-3B74-E181-02B5-772B6A0494DC}"/>
              </a:ext>
            </a:extLst>
          </p:cNvPr>
          <p:cNvSpPr txBox="1"/>
          <p:nvPr/>
        </p:nvSpPr>
        <p:spPr>
          <a:xfrm>
            <a:off x="2140247" y="5458095"/>
            <a:ext cx="1829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5678846576345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8E9099-8A9C-286B-47C4-C2D7809D80D4}"/>
              </a:ext>
            </a:extLst>
          </p:cNvPr>
          <p:cNvSpPr txBox="1"/>
          <p:nvPr/>
        </p:nvSpPr>
        <p:spPr>
          <a:xfrm>
            <a:off x="2140248" y="5966311"/>
            <a:ext cx="1829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4547346576345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5321A4C-1FC5-DD0E-9A53-BE8B90263223}"/>
              </a:ext>
            </a:extLst>
          </p:cNvPr>
          <p:cNvSpPr txBox="1"/>
          <p:nvPr/>
        </p:nvSpPr>
        <p:spPr>
          <a:xfrm>
            <a:off x="4500198" y="3534145"/>
            <a:ext cx="245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Wrong Evaluation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D2014C9-5F0E-834C-79D7-5B1B3E79B610}"/>
              </a:ext>
            </a:extLst>
          </p:cNvPr>
          <p:cNvSpPr txBox="1"/>
          <p:nvPr/>
        </p:nvSpPr>
        <p:spPr>
          <a:xfrm>
            <a:off x="4413990" y="4021190"/>
            <a:ext cx="245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Wrong Currency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848C52-036C-8A92-A074-E1F1240A0A50}"/>
              </a:ext>
            </a:extLst>
          </p:cNvPr>
          <p:cNvSpPr txBox="1"/>
          <p:nvPr/>
        </p:nvSpPr>
        <p:spPr>
          <a:xfrm>
            <a:off x="4496579" y="4477828"/>
            <a:ext cx="245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HS Code Mistake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3CA8460-9818-7B5E-EB9B-9A1E98482994}"/>
              </a:ext>
            </a:extLst>
          </p:cNvPr>
          <p:cNvSpPr txBox="1"/>
          <p:nvPr/>
        </p:nvSpPr>
        <p:spPr>
          <a:xfrm>
            <a:off x="4450529" y="4985882"/>
            <a:ext cx="245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Wrong CFI Value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5FE1FF0-B496-3901-87D1-0E00CEB23CD8}"/>
              </a:ext>
            </a:extLst>
          </p:cNvPr>
          <p:cNvSpPr txBox="1"/>
          <p:nvPr/>
        </p:nvSpPr>
        <p:spPr>
          <a:xfrm>
            <a:off x="4490228" y="5495651"/>
            <a:ext cx="245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Wrong FOB Value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920BFD-E9A6-6418-5138-F96DA99E5B45}"/>
              </a:ext>
            </a:extLst>
          </p:cNvPr>
          <p:cNvSpPr txBox="1"/>
          <p:nvPr/>
        </p:nvSpPr>
        <p:spPr>
          <a:xfrm>
            <a:off x="4466127" y="5949482"/>
            <a:ext cx="245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Wrong Insurance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1EC799E0-2148-0C34-F924-C3B9663A6407}"/>
              </a:ext>
            </a:extLst>
          </p:cNvPr>
          <p:cNvSpPr/>
          <p:nvPr/>
        </p:nvSpPr>
        <p:spPr>
          <a:xfrm>
            <a:off x="3346262" y="576799"/>
            <a:ext cx="171379" cy="14975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and white rectangle">
            <a:extLst>
              <a:ext uri="{FF2B5EF4-FFF2-40B4-BE49-F238E27FC236}">
                <a16:creationId xmlns:a16="http://schemas.microsoft.com/office/drawing/2014/main" id="{A36D7DA9-0E53-220D-FB56-386D506EF1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308" y="2450"/>
            <a:ext cx="10396523" cy="97673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E64F37-E829-5292-6E64-A053FC955B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06308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025B6A9-BBD6-7764-51BE-C1C270C2E9BA}"/>
              </a:ext>
            </a:extLst>
          </p:cNvPr>
          <p:cNvSpPr/>
          <p:nvPr/>
        </p:nvSpPr>
        <p:spPr>
          <a:xfrm>
            <a:off x="78059" y="1297172"/>
            <a:ext cx="1700388" cy="3929632"/>
          </a:xfrm>
          <a:prstGeom prst="rect">
            <a:avLst/>
          </a:prstGeom>
          <a:solidFill>
            <a:srgbClr val="000B58"/>
          </a:solidFill>
          <a:ln>
            <a:solidFill>
              <a:srgbClr val="000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CF11E2-041D-D930-D665-19FDF7D6DEB5}"/>
              </a:ext>
            </a:extLst>
          </p:cNvPr>
          <p:cNvSpPr txBox="1"/>
          <p:nvPr/>
        </p:nvSpPr>
        <p:spPr>
          <a:xfrm>
            <a:off x="282815" y="1685351"/>
            <a:ext cx="143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Auditors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7C2162-C3D9-122A-5840-5288C374177C}"/>
              </a:ext>
            </a:extLst>
          </p:cNvPr>
          <p:cNvSpPr txBox="1"/>
          <p:nvPr/>
        </p:nvSpPr>
        <p:spPr>
          <a:xfrm>
            <a:off x="193935" y="2376086"/>
            <a:ext cx="178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Companies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95595FD8-0FB7-B235-3DB4-FFC864113347}"/>
              </a:ext>
            </a:extLst>
          </p:cNvPr>
          <p:cNvSpPr/>
          <p:nvPr/>
        </p:nvSpPr>
        <p:spPr>
          <a:xfrm>
            <a:off x="2250977" y="585011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E238F2-FA00-3807-F955-055B018A264A}"/>
              </a:ext>
            </a:extLst>
          </p:cNvPr>
          <p:cNvSpPr txBox="1"/>
          <p:nvPr/>
        </p:nvSpPr>
        <p:spPr>
          <a:xfrm>
            <a:off x="186584" y="3081226"/>
            <a:ext cx="2450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Stock Audit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2247FDA-10EA-DE77-D311-47949F3379A5}"/>
              </a:ext>
            </a:extLst>
          </p:cNvPr>
          <p:cNvSpPr txBox="1">
            <a:spLocks/>
          </p:cNvSpPr>
          <p:nvPr/>
        </p:nvSpPr>
        <p:spPr>
          <a:xfrm>
            <a:off x="990600" y="517526"/>
            <a:ext cx="10515600" cy="570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Company Status – Declaration wise</a:t>
            </a:r>
          </a:p>
        </p:txBody>
      </p:sp>
    </p:spTree>
    <p:extLst>
      <p:ext uri="{BB962C8B-B14F-4D97-AF65-F5344CB8AC3E}">
        <p14:creationId xmlns:p14="http://schemas.microsoft.com/office/powerpoint/2010/main" val="824356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BAC2E-7915-5484-43A9-7C65E98F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white rectangle">
            <a:extLst>
              <a:ext uri="{FF2B5EF4-FFF2-40B4-BE49-F238E27FC236}">
                <a16:creationId xmlns:a16="http://schemas.microsoft.com/office/drawing/2014/main" id="{AC839F6B-A519-8DF6-8D69-3EF87B9F1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599" y="0"/>
            <a:ext cx="10393401" cy="9165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F2D9D7-AE5B-E14D-5616-4CCD85741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962" y="362981"/>
            <a:ext cx="3960124" cy="57054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Stock Audit Dashboard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08E4F3E-A487-E64A-8F6B-BBA920D2EF99}"/>
                  </a:ext>
                </a:extLst>
              </p14:cNvPr>
              <p14:cNvContentPartPr/>
              <p14:nvPr/>
            </p14:nvContentPartPr>
            <p14:xfrm>
              <a:off x="13113509" y="4549777"/>
              <a:ext cx="36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08E4F3E-A487-E64A-8F6B-BBA920D2EF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07389" y="454365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7CCE9359-41B7-B92C-3368-6A7EC7159A1A}"/>
              </a:ext>
            </a:extLst>
          </p:cNvPr>
          <p:cNvGrpSpPr/>
          <p:nvPr/>
        </p:nvGrpSpPr>
        <p:grpSpPr>
          <a:xfrm>
            <a:off x="12990749" y="4460497"/>
            <a:ext cx="360" cy="360"/>
            <a:chOff x="11786426" y="446049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E15104E-5BD4-B4CB-8E9B-A5D96A7E914A}"/>
                    </a:ext>
                  </a:extLst>
                </p14:cNvPr>
                <p14:cNvContentPartPr/>
                <p14:nvPr/>
              </p14:nvContentPartPr>
              <p14:xfrm>
                <a:off x="11786426" y="4460497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E15104E-5BD4-B4CB-8E9B-A5D96A7E91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80306" y="44543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3351849-EA68-AD4E-8CE8-57B4FFD90DBC}"/>
                    </a:ext>
                  </a:extLst>
                </p14:cNvPr>
                <p14:cNvContentPartPr/>
                <p14:nvPr/>
              </p14:nvContentPartPr>
              <p14:xfrm>
                <a:off x="11786426" y="4460497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3351849-EA68-AD4E-8CE8-57B4FFD90DB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80306" y="44543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9AADECF-E0F2-75D8-966E-46EDA6F40E48}"/>
                    </a:ext>
                  </a:extLst>
                </p14:cNvPr>
                <p14:cNvContentPartPr/>
                <p14:nvPr/>
              </p14:nvContentPartPr>
              <p14:xfrm>
                <a:off x="11786426" y="4460497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9AADECF-E0F2-75D8-966E-46EDA6F40E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80306" y="44543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69DB1DD-AA22-B245-C4D2-5152BFC7028B}"/>
              </a:ext>
            </a:extLst>
          </p:cNvPr>
          <p:cNvGrpSpPr/>
          <p:nvPr/>
        </p:nvGrpSpPr>
        <p:grpSpPr>
          <a:xfrm>
            <a:off x="10688746" y="495287"/>
            <a:ext cx="1094801" cy="263725"/>
            <a:chOff x="6237863" y="2183530"/>
            <a:chExt cx="1891208" cy="517182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1332A59-FE18-2495-08EC-2F7727D8B8FB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2" name="Graphic 27" descr="Caret Down with solid fill">
              <a:extLst>
                <a:ext uri="{FF2B5EF4-FFF2-40B4-BE49-F238E27FC236}">
                  <a16:creationId xmlns:a16="http://schemas.microsoft.com/office/drawing/2014/main" id="{AD838D22-8789-CFE0-281E-9A84F6AE5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68A9905-C788-8E32-1132-AE533A47F093}"/>
              </a:ext>
            </a:extLst>
          </p:cNvPr>
          <p:cNvGrpSpPr/>
          <p:nvPr/>
        </p:nvGrpSpPr>
        <p:grpSpPr>
          <a:xfrm>
            <a:off x="9349917" y="490429"/>
            <a:ext cx="1094801" cy="263725"/>
            <a:chOff x="6237863" y="2183530"/>
            <a:chExt cx="1891208" cy="517182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EFC56BE-7292-FA40-8473-A1221F02D47F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5" name="Graphic 27" descr="Caret Down with solid fill">
              <a:extLst>
                <a:ext uri="{FF2B5EF4-FFF2-40B4-BE49-F238E27FC236}">
                  <a16:creationId xmlns:a16="http://schemas.microsoft.com/office/drawing/2014/main" id="{03E75674-F26C-F054-A975-4515EAB04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18D27EC1-C338-438F-42D9-917B8AF3FEA7}"/>
              </a:ext>
            </a:extLst>
          </p:cNvPr>
          <p:cNvSpPr txBox="1"/>
          <p:nvPr/>
        </p:nvSpPr>
        <p:spPr>
          <a:xfrm>
            <a:off x="9524140" y="506791"/>
            <a:ext cx="58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Year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7A5C188-68C5-1ACF-F4FE-5F6D9A126658}"/>
              </a:ext>
            </a:extLst>
          </p:cNvPr>
          <p:cNvSpPr txBox="1"/>
          <p:nvPr/>
        </p:nvSpPr>
        <p:spPr>
          <a:xfrm>
            <a:off x="10885073" y="502922"/>
            <a:ext cx="73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Month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DA16B2-4E14-9B95-FAC3-EDE4623EA5B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19043" cy="6858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B724AE9-F694-6DB7-3A91-9579F167F3F5}"/>
              </a:ext>
            </a:extLst>
          </p:cNvPr>
          <p:cNvSpPr txBox="1"/>
          <p:nvPr/>
        </p:nvSpPr>
        <p:spPr>
          <a:xfrm>
            <a:off x="421423" y="4779558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24" name="Picture 23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6723C126-D37E-38FD-DF80-1746B723F9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816358"/>
            <a:ext cx="234175" cy="234175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7E665C-ED06-72C5-0CBB-66CF091B8D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792704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B812061-1B91-2913-16F3-88FCBC5BE15F}"/>
              </a:ext>
            </a:extLst>
          </p:cNvPr>
          <p:cNvSpPr/>
          <p:nvPr/>
        </p:nvSpPr>
        <p:spPr>
          <a:xfrm>
            <a:off x="78059" y="1297172"/>
            <a:ext cx="1700388" cy="3929632"/>
          </a:xfrm>
          <a:prstGeom prst="rect">
            <a:avLst/>
          </a:prstGeom>
          <a:solidFill>
            <a:srgbClr val="000B58"/>
          </a:solidFill>
          <a:ln>
            <a:solidFill>
              <a:srgbClr val="000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70DC02-134D-0886-C01D-CA1FBF1777D4}"/>
              </a:ext>
            </a:extLst>
          </p:cNvPr>
          <p:cNvSpPr txBox="1"/>
          <p:nvPr/>
        </p:nvSpPr>
        <p:spPr>
          <a:xfrm>
            <a:off x="246842" y="1620817"/>
            <a:ext cx="143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Auditors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B7750B-9D49-1268-78DA-41D2F728C5C5}"/>
              </a:ext>
            </a:extLst>
          </p:cNvPr>
          <p:cNvSpPr txBox="1"/>
          <p:nvPr/>
        </p:nvSpPr>
        <p:spPr>
          <a:xfrm>
            <a:off x="238768" y="2518602"/>
            <a:ext cx="178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Companies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18F54A-8911-924B-5353-E4FAF01C05F4}"/>
              </a:ext>
            </a:extLst>
          </p:cNvPr>
          <p:cNvSpPr txBox="1"/>
          <p:nvPr/>
        </p:nvSpPr>
        <p:spPr>
          <a:xfrm>
            <a:off x="231349" y="3306866"/>
            <a:ext cx="182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Stock Audit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AB0749-DA1C-0069-E617-0EF986B8116E}"/>
              </a:ext>
            </a:extLst>
          </p:cNvPr>
          <p:cNvSpPr/>
          <p:nvPr/>
        </p:nvSpPr>
        <p:spPr>
          <a:xfrm>
            <a:off x="2461522" y="1616348"/>
            <a:ext cx="9214091" cy="37234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3914B30-4C03-FFA6-3BD2-21E8D34BB01E}"/>
              </a:ext>
            </a:extLst>
          </p:cNvPr>
          <p:cNvCxnSpPr>
            <a:cxnSpLocks/>
          </p:cNvCxnSpPr>
          <p:nvPr/>
        </p:nvCxnSpPr>
        <p:spPr>
          <a:xfrm>
            <a:off x="2461522" y="2144801"/>
            <a:ext cx="92140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8C82738-2ACB-6AA5-7336-199E7D8753BE}"/>
              </a:ext>
            </a:extLst>
          </p:cNvPr>
          <p:cNvSpPr txBox="1"/>
          <p:nvPr/>
        </p:nvSpPr>
        <p:spPr>
          <a:xfrm>
            <a:off x="2475779" y="1740049"/>
            <a:ext cx="1632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Company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D33700-5012-1788-F9E5-A54DB77EA3B2}"/>
              </a:ext>
            </a:extLst>
          </p:cNvPr>
          <p:cNvSpPr txBox="1"/>
          <p:nvPr/>
        </p:nvSpPr>
        <p:spPr>
          <a:xfrm>
            <a:off x="4124917" y="1745526"/>
            <a:ext cx="2406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Company Name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5F374F-3B68-4D55-6975-28FFC8CB0716}"/>
              </a:ext>
            </a:extLst>
          </p:cNvPr>
          <p:cNvSpPr txBox="1"/>
          <p:nvPr/>
        </p:nvSpPr>
        <p:spPr>
          <a:xfrm>
            <a:off x="7311984" y="1733330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Manager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B49D87-BC1E-F4C9-C20A-DEA17AC2DBD4}"/>
              </a:ext>
            </a:extLst>
          </p:cNvPr>
          <p:cNvSpPr txBox="1"/>
          <p:nvPr/>
        </p:nvSpPr>
        <p:spPr>
          <a:xfrm>
            <a:off x="2544787" y="2421098"/>
            <a:ext cx="143819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AE-2347346576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BA3AA3-005F-03EF-9074-F42119E00F95}"/>
              </a:ext>
            </a:extLst>
          </p:cNvPr>
          <p:cNvSpPr txBox="1"/>
          <p:nvPr/>
        </p:nvSpPr>
        <p:spPr>
          <a:xfrm>
            <a:off x="2544787" y="299906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AE-7634567567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15CC2B-CD28-37D4-1F64-685A8D6489AA}"/>
              </a:ext>
            </a:extLst>
          </p:cNvPr>
          <p:cNvSpPr txBox="1"/>
          <p:nvPr/>
        </p:nvSpPr>
        <p:spPr>
          <a:xfrm>
            <a:off x="2544787" y="3594288"/>
            <a:ext cx="163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AE-7457346573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2C2BA2-5FC4-F1BF-9673-A786BC527932}"/>
              </a:ext>
            </a:extLst>
          </p:cNvPr>
          <p:cNvSpPr txBox="1"/>
          <p:nvPr/>
        </p:nvSpPr>
        <p:spPr>
          <a:xfrm>
            <a:off x="2544787" y="4732975"/>
            <a:ext cx="1553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AE-3847567845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677DF4-9F46-1DBB-173B-BDF3903759BF}"/>
              </a:ext>
            </a:extLst>
          </p:cNvPr>
          <p:cNvSpPr txBox="1"/>
          <p:nvPr/>
        </p:nvSpPr>
        <p:spPr>
          <a:xfrm>
            <a:off x="2544788" y="4151704"/>
            <a:ext cx="1438195" cy="314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AE-7846374657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2712A4-AAB2-E207-C0AB-CD449EDEA9A8}"/>
              </a:ext>
            </a:extLst>
          </p:cNvPr>
          <p:cNvSpPr txBox="1"/>
          <p:nvPr/>
        </p:nvSpPr>
        <p:spPr>
          <a:xfrm>
            <a:off x="4209684" y="242109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DHL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47B507-0362-3AFA-07DC-B4B0E5C74781}"/>
              </a:ext>
            </a:extLst>
          </p:cNvPr>
          <p:cNvSpPr txBox="1"/>
          <p:nvPr/>
        </p:nvSpPr>
        <p:spPr>
          <a:xfrm>
            <a:off x="4209684" y="299906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AL FUTTAIM</a:t>
            </a:r>
            <a:endParaRPr 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82A9DC-3D0A-94EF-D3B0-F0A942E39247}"/>
              </a:ext>
            </a:extLst>
          </p:cNvPr>
          <p:cNvSpPr txBox="1"/>
          <p:nvPr/>
        </p:nvSpPr>
        <p:spPr>
          <a:xfrm>
            <a:off x="4209684" y="3594288"/>
            <a:ext cx="2740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NINJAVAH LOGISTICS</a:t>
            </a:r>
            <a:endParaRPr 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873F77-0A65-06F0-9DA5-0E968CBC840C}"/>
              </a:ext>
            </a:extLst>
          </p:cNvPr>
          <p:cNvSpPr txBox="1"/>
          <p:nvPr/>
        </p:nvSpPr>
        <p:spPr>
          <a:xfrm>
            <a:off x="4209684" y="4155002"/>
            <a:ext cx="2600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NAQUEL LOGISTICS</a:t>
            </a:r>
            <a:endParaRPr 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EFF53C-231C-C9DD-2D83-45435C65FE09}"/>
              </a:ext>
            </a:extLst>
          </p:cNvPr>
          <p:cNvSpPr txBox="1"/>
          <p:nvPr/>
        </p:nvSpPr>
        <p:spPr>
          <a:xfrm>
            <a:off x="4209684" y="4732975"/>
            <a:ext cx="2953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MONSANADA LOGISTICS</a:t>
            </a:r>
            <a:endParaRPr 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F66B44-83A0-18BC-BFDA-EC56CB32EFA0}"/>
              </a:ext>
            </a:extLst>
          </p:cNvPr>
          <p:cNvSpPr txBox="1"/>
          <p:nvPr/>
        </p:nvSpPr>
        <p:spPr>
          <a:xfrm>
            <a:off x="8918356" y="1736779"/>
            <a:ext cx="1190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Auditor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C46881-ECF1-7764-DBD1-768A26DA9265}"/>
              </a:ext>
            </a:extLst>
          </p:cNvPr>
          <p:cNvSpPr txBox="1"/>
          <p:nvPr/>
        </p:nvSpPr>
        <p:spPr>
          <a:xfrm>
            <a:off x="7220453" y="242109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Ragu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B8EB78-E155-7003-09BF-8EE188DF3FEB}"/>
              </a:ext>
            </a:extLst>
          </p:cNvPr>
          <p:cNvSpPr txBox="1"/>
          <p:nvPr/>
        </p:nvSpPr>
        <p:spPr>
          <a:xfrm>
            <a:off x="7255844" y="299906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Suresh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C634D0-70EA-4834-ADF3-923BBC5D8030}"/>
              </a:ext>
            </a:extLst>
          </p:cNvPr>
          <p:cNvSpPr txBox="1"/>
          <p:nvPr/>
        </p:nvSpPr>
        <p:spPr>
          <a:xfrm>
            <a:off x="7220453" y="359428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Vimal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8A8EFE-3F42-6EC7-E3D5-3B6DABF5B46C}"/>
              </a:ext>
            </a:extLst>
          </p:cNvPr>
          <p:cNvSpPr txBox="1"/>
          <p:nvPr/>
        </p:nvSpPr>
        <p:spPr>
          <a:xfrm>
            <a:off x="7255844" y="4155002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Sundar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7AAF61-1A72-99B2-6124-8751F34656DA}"/>
              </a:ext>
            </a:extLst>
          </p:cNvPr>
          <p:cNvSpPr txBox="1"/>
          <p:nvPr/>
        </p:nvSpPr>
        <p:spPr>
          <a:xfrm>
            <a:off x="7255844" y="4732975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Joel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89DEBC5-5F0E-8208-AE81-04172BBB229D}"/>
              </a:ext>
            </a:extLst>
          </p:cNvPr>
          <p:cNvSpPr txBox="1"/>
          <p:nvPr/>
        </p:nvSpPr>
        <p:spPr>
          <a:xfrm>
            <a:off x="8761933" y="299906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Raja &amp; Kumar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1C79E1-2DD2-D070-7C9E-FA3BF4E01868}"/>
              </a:ext>
            </a:extLst>
          </p:cNvPr>
          <p:cNvSpPr txBox="1"/>
          <p:nvPr/>
        </p:nvSpPr>
        <p:spPr>
          <a:xfrm>
            <a:off x="8761933" y="359428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Kumar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69CC8B-98A8-6032-80EC-2436B5F9C105}"/>
              </a:ext>
            </a:extLst>
          </p:cNvPr>
          <p:cNvSpPr txBox="1"/>
          <p:nvPr/>
        </p:nvSpPr>
        <p:spPr>
          <a:xfrm>
            <a:off x="8761933" y="4155002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Suresh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CC6279-BFA6-5E3E-8FD5-91AF73DD53A4}"/>
              </a:ext>
            </a:extLst>
          </p:cNvPr>
          <p:cNvSpPr txBox="1"/>
          <p:nvPr/>
        </p:nvSpPr>
        <p:spPr>
          <a:xfrm>
            <a:off x="8761933" y="4732975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Mani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242FF4E-3D93-8CAB-2205-08B6CF991B12}"/>
              </a:ext>
            </a:extLst>
          </p:cNvPr>
          <p:cNvSpPr txBox="1"/>
          <p:nvPr/>
        </p:nvSpPr>
        <p:spPr>
          <a:xfrm>
            <a:off x="8761933" y="242109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Raja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114A1C-ECA9-4D8B-D10C-183839157C1E}"/>
              </a:ext>
            </a:extLst>
          </p:cNvPr>
          <p:cNvSpPr txBox="1"/>
          <p:nvPr/>
        </p:nvSpPr>
        <p:spPr>
          <a:xfrm>
            <a:off x="5936005" y="1743174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Uploaded Date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4E5D844-DD83-F140-3995-821DD351568C}"/>
              </a:ext>
            </a:extLst>
          </p:cNvPr>
          <p:cNvSpPr txBox="1"/>
          <p:nvPr/>
        </p:nvSpPr>
        <p:spPr>
          <a:xfrm>
            <a:off x="6289980" y="2421098"/>
            <a:ext cx="1320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05/07/2024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F8E2D68-A855-828F-FA13-55E1797D0419}"/>
              </a:ext>
            </a:extLst>
          </p:cNvPr>
          <p:cNvSpPr txBox="1"/>
          <p:nvPr/>
        </p:nvSpPr>
        <p:spPr>
          <a:xfrm>
            <a:off x="6289980" y="3594288"/>
            <a:ext cx="1320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05/07/2024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FE7885-2452-FF5D-F76C-2B3DC72E94CD}"/>
              </a:ext>
            </a:extLst>
          </p:cNvPr>
          <p:cNvSpPr txBox="1"/>
          <p:nvPr/>
        </p:nvSpPr>
        <p:spPr>
          <a:xfrm>
            <a:off x="6289980" y="2999068"/>
            <a:ext cx="1320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05/07/2024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3D7642-BB2B-9BAD-DCDB-596574B16880}"/>
              </a:ext>
            </a:extLst>
          </p:cNvPr>
          <p:cNvSpPr txBox="1"/>
          <p:nvPr/>
        </p:nvSpPr>
        <p:spPr>
          <a:xfrm>
            <a:off x="10294335" y="1762931"/>
            <a:ext cx="1190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Status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90DF6E9-3D38-B6A0-F1D7-AF6C0E5486FB}"/>
              </a:ext>
            </a:extLst>
          </p:cNvPr>
          <p:cNvSpPr txBox="1"/>
          <p:nvPr/>
        </p:nvSpPr>
        <p:spPr>
          <a:xfrm>
            <a:off x="10137912" y="3025220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In-Progress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AB0555-F9D4-B43D-B413-23911B4C7403}"/>
              </a:ext>
            </a:extLst>
          </p:cNvPr>
          <p:cNvSpPr txBox="1"/>
          <p:nvPr/>
        </p:nvSpPr>
        <p:spPr>
          <a:xfrm>
            <a:off x="10137912" y="3620440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In-Progress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291CA3-A23F-7030-2E2E-7315A882B75E}"/>
              </a:ext>
            </a:extLst>
          </p:cNvPr>
          <p:cNvSpPr txBox="1"/>
          <p:nvPr/>
        </p:nvSpPr>
        <p:spPr>
          <a:xfrm>
            <a:off x="10137912" y="4181154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Open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5FBDC6-D55A-722F-5DB3-7959633649D3}"/>
              </a:ext>
            </a:extLst>
          </p:cNvPr>
          <p:cNvSpPr txBox="1"/>
          <p:nvPr/>
        </p:nvSpPr>
        <p:spPr>
          <a:xfrm>
            <a:off x="10137912" y="4759127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Closed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68D8486-8362-399D-FDD8-E37C698AE9B8}"/>
              </a:ext>
            </a:extLst>
          </p:cNvPr>
          <p:cNvSpPr txBox="1"/>
          <p:nvPr/>
        </p:nvSpPr>
        <p:spPr>
          <a:xfrm>
            <a:off x="10137912" y="2447250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Closed</a:t>
            </a:r>
          </a:p>
        </p:txBody>
      </p:sp>
    </p:spTree>
    <p:extLst>
      <p:ext uri="{BB962C8B-B14F-4D97-AF65-F5344CB8AC3E}">
        <p14:creationId xmlns:p14="http://schemas.microsoft.com/office/powerpoint/2010/main" val="2190473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9477C-B7BA-B450-5817-4C915AF0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blue and white rectangle">
            <a:extLst>
              <a:ext uri="{FF2B5EF4-FFF2-40B4-BE49-F238E27FC236}">
                <a16:creationId xmlns:a16="http://schemas.microsoft.com/office/drawing/2014/main" id="{AE49CE78-2B0B-F16A-DCED-4384266E7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06" y="0"/>
            <a:ext cx="10364594" cy="171399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0F4FE5A-773F-E298-38E9-D6E3DA909251}"/>
              </a:ext>
            </a:extLst>
          </p:cNvPr>
          <p:cNvSpPr txBox="1"/>
          <p:nvPr/>
        </p:nvSpPr>
        <p:spPr>
          <a:xfrm>
            <a:off x="421423" y="4779558"/>
            <a:ext cx="1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Declaration Audit</a:t>
            </a:r>
          </a:p>
        </p:txBody>
      </p:sp>
      <p:pic>
        <p:nvPicPr>
          <p:cNvPr id="40" name="Picture 39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A8FAB24D-F617-3627-20ED-4D0DB19ED3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919870"/>
            <a:ext cx="234175" cy="23417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023EB19-21D2-41A2-5360-1E7A7A417433}"/>
              </a:ext>
            </a:extLst>
          </p:cNvPr>
          <p:cNvSpPr txBox="1"/>
          <p:nvPr/>
        </p:nvSpPr>
        <p:spPr>
          <a:xfrm>
            <a:off x="4511800" y="1044190"/>
            <a:ext cx="434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Reconciliation Audit</a:t>
            </a:r>
          </a:p>
        </p:txBody>
      </p:sp>
      <p:sp>
        <p:nvSpPr>
          <p:cNvPr id="48" name="Arrow: Left 47">
            <a:extLst>
              <a:ext uri="{FF2B5EF4-FFF2-40B4-BE49-F238E27FC236}">
                <a16:creationId xmlns:a16="http://schemas.microsoft.com/office/drawing/2014/main" id="{B4BF7B13-1201-010A-CA9D-C634BFC01142}"/>
              </a:ext>
            </a:extLst>
          </p:cNvPr>
          <p:cNvSpPr/>
          <p:nvPr/>
        </p:nvSpPr>
        <p:spPr>
          <a:xfrm>
            <a:off x="2081167" y="630832"/>
            <a:ext cx="171379" cy="149753"/>
          </a:xfrm>
          <a:prstGeom prst="lef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3F6BB8-D373-A3DA-EEF1-C9F58CD49363}"/>
              </a:ext>
            </a:extLst>
          </p:cNvPr>
          <p:cNvSpPr txBox="1"/>
          <p:nvPr/>
        </p:nvSpPr>
        <p:spPr>
          <a:xfrm>
            <a:off x="1906443" y="1942576"/>
            <a:ext cx="8810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Document </a:t>
            </a:r>
            <a:br>
              <a:rPr lang="en-IN" sz="1000" b="1" dirty="0"/>
            </a:br>
            <a:r>
              <a:rPr lang="en-IN" sz="1000" b="1" dirty="0"/>
              <a:t>Name</a:t>
            </a:r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1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2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B02D7-2FED-A5C0-7069-1A02718731B3}"/>
              </a:ext>
            </a:extLst>
          </p:cNvPr>
          <p:cNvSpPr txBox="1"/>
          <p:nvPr/>
        </p:nvSpPr>
        <p:spPr>
          <a:xfrm>
            <a:off x="2803590" y="1942576"/>
            <a:ext cx="79650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Month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January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February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March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April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May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June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4FD4F-F560-B9D4-BC73-6711669410BE}"/>
              </a:ext>
            </a:extLst>
          </p:cNvPr>
          <p:cNvSpPr txBox="1"/>
          <p:nvPr/>
        </p:nvSpPr>
        <p:spPr>
          <a:xfrm>
            <a:off x="3480761" y="1942576"/>
            <a:ext cx="7576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Uploaded </a:t>
            </a:r>
            <a:br>
              <a:rPr lang="en-IN" sz="1000" b="1" dirty="0"/>
            </a:br>
            <a:r>
              <a:rPr lang="en-IN" sz="1000" b="1" dirty="0"/>
              <a:t>Date</a:t>
            </a:r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35CAE-F693-0463-0002-24C416020507}"/>
              </a:ext>
            </a:extLst>
          </p:cNvPr>
          <p:cNvSpPr txBox="1"/>
          <p:nvPr/>
        </p:nvSpPr>
        <p:spPr>
          <a:xfrm>
            <a:off x="4274677" y="1942576"/>
            <a:ext cx="9922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Stock </a:t>
            </a:r>
            <a:br>
              <a:rPr lang="en-IN" sz="1000" b="1" dirty="0"/>
            </a:br>
            <a:r>
              <a:rPr lang="en-IN" sz="1000" b="1" dirty="0"/>
              <a:t>Report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5" action="ppaction://hlinkfile"/>
              </a:rPr>
            </a:br>
            <a:r>
              <a:rPr lang="en-IN" sz="1000" dirty="0">
                <a:hlinkClick r:id="rId5" action="ppaction://hlinkfile"/>
              </a:rPr>
              <a:t>Stock 1</a:t>
            </a:r>
            <a:br>
              <a:rPr lang="en-IN" sz="1000" dirty="0">
                <a:hlinkClick r:id="rId5" action="ppaction://hlinkfile"/>
              </a:rPr>
            </a:br>
            <a:endParaRPr lang="en-IN" sz="1000" dirty="0">
              <a:hlinkClick r:id="rId5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5" action="ppaction://hlinkfile"/>
              </a:rPr>
              <a:t>Stock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5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5" action="ppaction://hlinkfile"/>
              </a:rPr>
              <a:t>Stock 3</a:t>
            </a:r>
            <a:endParaRPr lang="en-IN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5BF91-0F76-C6D1-86A9-56AC825B83A0}"/>
              </a:ext>
            </a:extLst>
          </p:cNvPr>
          <p:cNvSpPr txBox="1"/>
          <p:nvPr/>
        </p:nvSpPr>
        <p:spPr>
          <a:xfrm>
            <a:off x="4926902" y="1942576"/>
            <a:ext cx="15026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Customs </a:t>
            </a:r>
            <a:br>
              <a:rPr lang="en-IN" sz="1000" b="1" dirty="0"/>
            </a:br>
            <a:r>
              <a:rPr lang="en-IN" sz="1000" b="1" dirty="0"/>
              <a:t>Transaction Report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>
                <a:hlinkClick r:id="rId5" action="ppaction://hlinkfile"/>
              </a:rPr>
              <a:t>Customs Transaction 1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5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5" action="ppaction://hlinkfile"/>
              </a:rPr>
              <a:t>Customs Transaction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5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5" action="ppaction://hlinkfile"/>
              </a:rPr>
              <a:t>Customs Transaction 3</a:t>
            </a:r>
            <a:endParaRPr lang="en-IN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B6C77E-A8E7-E782-4A53-C5B41D31C318}"/>
              </a:ext>
            </a:extLst>
          </p:cNvPr>
          <p:cNvSpPr txBox="1"/>
          <p:nvPr/>
        </p:nvSpPr>
        <p:spPr>
          <a:xfrm>
            <a:off x="6304257" y="1942576"/>
            <a:ext cx="150269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Reconciliation Report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5" action="ppaction://hlinkfile"/>
              </a:rPr>
            </a:br>
            <a:br>
              <a:rPr lang="en-IN" sz="1000" dirty="0">
                <a:hlinkClick r:id="rId5" action="ppaction://hlinkfile"/>
              </a:rPr>
            </a:br>
            <a:r>
              <a:rPr lang="en-IN" sz="1000" dirty="0">
                <a:hlinkClick r:id="rId5" action="ppaction://hlinkfile"/>
              </a:rPr>
              <a:t>Reconciliation Report 1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5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5" action="ppaction://hlinkfile"/>
              </a:rPr>
              <a:t>Reconciliation Report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5" action="ppaction://hlinkfil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9CDBAC-88EC-172A-F931-6BB9AD0462F9}"/>
              </a:ext>
            </a:extLst>
          </p:cNvPr>
          <p:cNvSpPr txBox="1"/>
          <p:nvPr/>
        </p:nvSpPr>
        <p:spPr>
          <a:xfrm>
            <a:off x="7674690" y="1942576"/>
            <a:ext cx="82549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  <a:p>
            <a:pPr algn="ctr">
              <a:spcAft>
                <a:spcPts val="600"/>
              </a:spcAft>
            </a:pPr>
            <a:endParaRPr lang="en-IN" sz="1000" dirty="0"/>
          </a:p>
          <a:p>
            <a:pPr algn="ctr">
              <a:spcAft>
                <a:spcPts val="600"/>
              </a:spcAft>
            </a:pPr>
            <a:r>
              <a:rPr lang="en-IN" sz="1000" dirty="0"/>
              <a:t>NA</a:t>
            </a:r>
          </a:p>
          <a:p>
            <a:pPr algn="ctr">
              <a:spcAft>
                <a:spcPts val="600"/>
              </a:spcAft>
            </a:pPr>
            <a:endParaRPr lang="en-IN" sz="1000" dirty="0"/>
          </a:p>
          <a:p>
            <a:pPr algn="ctr">
              <a:spcAft>
                <a:spcPts val="600"/>
              </a:spcAft>
            </a:pPr>
            <a:r>
              <a:rPr lang="en-IN" sz="1000" dirty="0"/>
              <a:t>NA</a:t>
            </a:r>
          </a:p>
        </p:txBody>
      </p:sp>
      <p:pic>
        <p:nvPicPr>
          <p:cNvPr id="15" name="Graphic 14" descr="Chat outline">
            <a:extLst>
              <a:ext uri="{FF2B5EF4-FFF2-40B4-BE49-F238E27FC236}">
                <a16:creationId xmlns:a16="http://schemas.microsoft.com/office/drawing/2014/main" id="{9E1A0CD7-B461-85D5-64C6-1E7F94D058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16" name="Graphic 15" descr="Chat outline">
            <a:extLst>
              <a:ext uri="{FF2B5EF4-FFF2-40B4-BE49-F238E27FC236}">
                <a16:creationId xmlns:a16="http://schemas.microsoft.com/office/drawing/2014/main" id="{3EEB98B6-2E35-73BA-BFF6-A4C9C66D26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17" name="Graphic 16" descr="Chat outline">
            <a:extLst>
              <a:ext uri="{FF2B5EF4-FFF2-40B4-BE49-F238E27FC236}">
                <a16:creationId xmlns:a16="http://schemas.microsoft.com/office/drawing/2014/main" id="{5E31D716-E353-72DE-AD10-48D3AF6F14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3332345"/>
            <a:ext cx="252000" cy="252000"/>
          </a:xfrm>
          <a:prstGeom prst="rect">
            <a:avLst/>
          </a:prstGeom>
        </p:spPr>
      </p:pic>
      <p:pic>
        <p:nvPicPr>
          <p:cNvPr id="28" name="Graphic 27" descr="Chat outline">
            <a:extLst>
              <a:ext uri="{FF2B5EF4-FFF2-40B4-BE49-F238E27FC236}">
                <a16:creationId xmlns:a16="http://schemas.microsoft.com/office/drawing/2014/main" id="{3CEFE93E-7621-2438-E818-B895D2A0C5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3767802"/>
            <a:ext cx="252000" cy="252000"/>
          </a:xfrm>
          <a:prstGeom prst="rect">
            <a:avLst/>
          </a:prstGeom>
        </p:spPr>
      </p:pic>
      <p:pic>
        <p:nvPicPr>
          <p:cNvPr id="30" name="Graphic 29" descr="Chat outline">
            <a:extLst>
              <a:ext uri="{FF2B5EF4-FFF2-40B4-BE49-F238E27FC236}">
                <a16:creationId xmlns:a16="http://schemas.microsoft.com/office/drawing/2014/main" id="{5CF8E3AA-0E4E-F980-E657-4542BBC83A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4254908"/>
            <a:ext cx="252000" cy="252000"/>
          </a:xfrm>
          <a:prstGeom prst="rect">
            <a:avLst/>
          </a:prstGeom>
        </p:spPr>
      </p:pic>
      <p:pic>
        <p:nvPicPr>
          <p:cNvPr id="31" name="Graphic 30" descr="Chat outline">
            <a:extLst>
              <a:ext uri="{FF2B5EF4-FFF2-40B4-BE49-F238E27FC236}">
                <a16:creationId xmlns:a16="http://schemas.microsoft.com/office/drawing/2014/main" id="{1E1BACA4-C2CB-10D6-A191-9BE7724284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4690358"/>
            <a:ext cx="252000" cy="252000"/>
          </a:xfrm>
          <a:prstGeom prst="rect">
            <a:avLst/>
          </a:prstGeom>
        </p:spPr>
      </p:pic>
      <p:pic>
        <p:nvPicPr>
          <p:cNvPr id="32" name="Graphic 31" descr="Chat outline">
            <a:extLst>
              <a:ext uri="{FF2B5EF4-FFF2-40B4-BE49-F238E27FC236}">
                <a16:creationId xmlns:a16="http://schemas.microsoft.com/office/drawing/2014/main" id="{FFEFAF89-B786-22D5-80B2-AA6B412DD2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5416409"/>
            <a:ext cx="252000" cy="252000"/>
          </a:xfrm>
          <a:prstGeom prst="rect">
            <a:avLst/>
          </a:prstGeom>
        </p:spPr>
      </p:pic>
      <p:pic>
        <p:nvPicPr>
          <p:cNvPr id="33" name="Graphic 32" descr="Chat outline">
            <a:extLst>
              <a:ext uri="{FF2B5EF4-FFF2-40B4-BE49-F238E27FC236}">
                <a16:creationId xmlns:a16="http://schemas.microsoft.com/office/drawing/2014/main" id="{F6881557-CE5A-9DF8-784A-287D1B8AD9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5861809"/>
            <a:ext cx="252000" cy="252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243518F8-354A-2A63-F1BB-F3ED18E5EEF6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150BD51-8F1B-99CA-618C-EA24E1ACB2C4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FC83DE-7458-3F5D-B7A3-7CD8940D4056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236193D7-1D0D-1D7D-963C-D57A01C8E706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791" y="2171482"/>
            <a:ext cx="251464" cy="1230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AB20E598-41C0-D922-59AD-1FBA30926E9E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CABFEB-6EE1-83BE-E5F9-FD6CA6072FA1}"/>
              </a:ext>
            </a:extLst>
          </p:cNvPr>
          <p:cNvSpPr txBox="1"/>
          <p:nvPr/>
        </p:nvSpPr>
        <p:spPr>
          <a:xfrm>
            <a:off x="9591336" y="5985368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Enter the message</a:t>
            </a:r>
          </a:p>
        </p:txBody>
      </p:sp>
      <p:pic>
        <p:nvPicPr>
          <p:cNvPr id="88" name="Graphic 87" descr="Paperclip with solid fill">
            <a:extLst>
              <a:ext uri="{FF2B5EF4-FFF2-40B4-BE49-F238E27FC236}">
                <a16:creationId xmlns:a16="http://schemas.microsoft.com/office/drawing/2014/main" id="{D281CBE5-ACB8-EF9D-538D-997B9C8A6C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72FDCCF-2631-5C9C-4881-E82ADD864D6B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0" name="Graphic 89" descr="Send with solid fill">
            <a:extLst>
              <a:ext uri="{FF2B5EF4-FFF2-40B4-BE49-F238E27FC236}">
                <a16:creationId xmlns:a16="http://schemas.microsoft.com/office/drawing/2014/main" id="{AE1B7C8D-D054-069A-8B82-E460B4F811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E1F5BD02-3445-B1E1-9E26-D507D392EB89}"/>
              </a:ext>
            </a:extLst>
          </p:cNvPr>
          <p:cNvSpPr txBox="1"/>
          <p:nvPr/>
        </p:nvSpPr>
        <p:spPr>
          <a:xfrm>
            <a:off x="9216368" y="2476573"/>
            <a:ext cx="288754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Please share the Customs Transaction Report for the month of March 2025. Only Stocks report is uploaded as of now.</a:t>
            </a:r>
          </a:p>
          <a:p>
            <a:endParaRPr lang="en-US" sz="1000" dirty="0"/>
          </a:p>
          <a:p>
            <a:endParaRPr lang="en-US" sz="1000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Oh, ok. Thanks for notifying. Uploaded now.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Let me share the Reconciliation Report at the earliest.</a:t>
            </a:r>
          </a:p>
          <a:p>
            <a:endParaRPr lang="en-US" sz="1000" b="1" dirty="0"/>
          </a:p>
          <a:p>
            <a:endParaRPr lang="en-US" sz="1000" b="1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Thank you!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C96BC-EBB6-E3BB-CBCA-08AAED1CA882}"/>
              </a:ext>
            </a:extLst>
          </p:cNvPr>
          <p:cNvSpPr txBox="1"/>
          <p:nvPr/>
        </p:nvSpPr>
        <p:spPr>
          <a:xfrm>
            <a:off x="1906443" y="5050533"/>
            <a:ext cx="2225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Adhoc</a:t>
            </a:r>
            <a:r>
              <a:rPr lang="en-IN" sz="1200" b="1" dirty="0"/>
              <a:t> Reconciliation Report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68C3B-436B-0FB6-5D9B-5AEB0A32434B}"/>
              </a:ext>
            </a:extLst>
          </p:cNvPr>
          <p:cNvSpPr txBox="1"/>
          <p:nvPr/>
        </p:nvSpPr>
        <p:spPr>
          <a:xfrm>
            <a:off x="1906443" y="5376869"/>
            <a:ext cx="6504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err="1"/>
              <a:t>Adhoc</a:t>
            </a:r>
            <a:r>
              <a:rPr lang="en-IN" sz="1000" dirty="0"/>
              <a:t> 1              2/4/2024        2/4/2025               </a:t>
            </a:r>
            <a:r>
              <a:rPr lang="en-IN" sz="1000" dirty="0">
                <a:hlinkClick r:id="rId5" action="ppaction://hlinkfile"/>
              </a:rPr>
              <a:t>Stock</a:t>
            </a:r>
            <a:r>
              <a:rPr lang="en-IN" sz="1000" dirty="0"/>
              <a:t>         </a:t>
            </a:r>
            <a:r>
              <a:rPr lang="en-IN" sz="1000" dirty="0">
                <a:hlinkClick r:id="rId5" action="ppaction://hlinkfile"/>
              </a:rPr>
              <a:t>Customs Transactions</a:t>
            </a:r>
            <a:r>
              <a:rPr lang="en-IN" sz="1000" dirty="0"/>
              <a:t>          </a:t>
            </a:r>
            <a:r>
              <a:rPr lang="en-IN" sz="1000" dirty="0">
                <a:hlinkClick r:id="rId5" action="ppaction://hlinkfile"/>
              </a:rPr>
              <a:t>Reconciliation Adhoc1</a:t>
            </a:r>
            <a:r>
              <a:rPr lang="en-IN" sz="1000" dirty="0"/>
              <a:t>         Closed</a:t>
            </a:r>
            <a:br>
              <a:rPr lang="en-IN" sz="1000" dirty="0">
                <a:hlinkClick r:id="rId5" action="ppaction://hlinkfile"/>
              </a:rPr>
            </a:br>
            <a:r>
              <a:rPr lang="en-IN" sz="1000" dirty="0"/>
              <a:t>                                                                                             </a:t>
            </a:r>
            <a:r>
              <a:rPr lang="en-IN" sz="1000" dirty="0">
                <a:hlinkClick r:id="rId5" action="ppaction://hlinkfile"/>
              </a:rPr>
              <a:t>Adhoc1</a:t>
            </a:r>
            <a:r>
              <a:rPr lang="en-IN" sz="1000" dirty="0"/>
              <a:t>      </a:t>
            </a:r>
            <a:r>
              <a:rPr lang="en-IN" sz="1000" dirty="0" err="1">
                <a:hlinkClick r:id="rId5" action="ppaction://hlinkfile"/>
              </a:rPr>
              <a:t>Adhoc1</a:t>
            </a:r>
            <a:endParaRPr lang="en-IN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AD4BB3-4AE4-F52D-5DE0-7C99552DAE10}"/>
              </a:ext>
            </a:extLst>
          </p:cNvPr>
          <p:cNvSpPr txBox="1"/>
          <p:nvPr/>
        </p:nvSpPr>
        <p:spPr>
          <a:xfrm>
            <a:off x="1905821" y="5851440"/>
            <a:ext cx="6504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err="1"/>
              <a:t>Adhoc</a:t>
            </a:r>
            <a:r>
              <a:rPr lang="en-IN" sz="1000" dirty="0"/>
              <a:t> 2              2/4/2025       1/6/2025               </a:t>
            </a:r>
            <a:r>
              <a:rPr lang="en-IN" sz="1000" dirty="0">
                <a:hlinkClick r:id="rId5" action="ppaction://hlinkfile"/>
              </a:rPr>
              <a:t>Stock</a:t>
            </a:r>
            <a:r>
              <a:rPr lang="en-IN" sz="1000" dirty="0"/>
              <a:t>         </a:t>
            </a:r>
            <a:r>
              <a:rPr lang="en-IN" sz="1000" dirty="0">
                <a:hlinkClick r:id="rId5" action="ppaction://hlinkfile"/>
              </a:rPr>
              <a:t>Customs Transactions</a:t>
            </a:r>
            <a:r>
              <a:rPr lang="en-IN" sz="1000" dirty="0"/>
              <a:t>          </a:t>
            </a:r>
            <a:r>
              <a:rPr lang="en-IN" sz="1000" dirty="0">
                <a:hlinkClick r:id="rId5" action="ppaction://hlinkfile"/>
              </a:rPr>
              <a:t>Reconciliation Adhoc2</a:t>
            </a:r>
            <a:r>
              <a:rPr lang="en-IN" sz="1000" dirty="0"/>
              <a:t>         Closed</a:t>
            </a:r>
            <a:br>
              <a:rPr lang="en-IN" sz="1000" dirty="0">
                <a:hlinkClick r:id="rId5" action="ppaction://hlinkfile"/>
              </a:rPr>
            </a:br>
            <a:r>
              <a:rPr lang="en-IN" sz="1000" dirty="0"/>
              <a:t>                                                                                             </a:t>
            </a:r>
            <a:r>
              <a:rPr lang="en-IN" sz="1000" dirty="0">
                <a:hlinkClick r:id="rId5" action="ppaction://hlinkfile"/>
              </a:rPr>
              <a:t>Adhoc2</a:t>
            </a:r>
            <a:r>
              <a:rPr lang="en-IN" sz="1000" dirty="0"/>
              <a:t>      </a:t>
            </a:r>
            <a:r>
              <a:rPr lang="en-IN" sz="1000" dirty="0" err="1">
                <a:hlinkClick r:id="rId5" action="ppaction://hlinkfile"/>
              </a:rPr>
              <a:t>Adhoc2</a:t>
            </a:r>
            <a:endParaRPr lang="en-IN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74A0B2-C759-0E6F-849B-250ADAB724EF}"/>
              </a:ext>
            </a:extLst>
          </p:cNvPr>
          <p:cNvSpPr txBox="1"/>
          <p:nvPr/>
        </p:nvSpPr>
        <p:spPr>
          <a:xfrm>
            <a:off x="1905821" y="1411417"/>
            <a:ext cx="2225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Code: AE-2347346576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201C3B-5FCE-D891-4DFB-63D3961364D8}"/>
              </a:ext>
            </a:extLst>
          </p:cNvPr>
          <p:cNvSpPr txBox="1"/>
          <p:nvPr/>
        </p:nvSpPr>
        <p:spPr>
          <a:xfrm>
            <a:off x="4045322" y="1411417"/>
            <a:ext cx="61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DHL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81430D-3E7D-9961-EAA7-19AB9B881A62}"/>
              </a:ext>
            </a:extLst>
          </p:cNvPr>
          <p:cNvGrpSpPr/>
          <p:nvPr/>
        </p:nvGrpSpPr>
        <p:grpSpPr>
          <a:xfrm>
            <a:off x="7729040" y="1429374"/>
            <a:ext cx="1094801" cy="307777"/>
            <a:chOff x="7615422" y="1454723"/>
            <a:chExt cx="1094801" cy="30777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1D5A51-6909-0CBA-45B7-38473407CC51}"/>
                </a:ext>
              </a:extLst>
            </p:cNvPr>
            <p:cNvSpPr/>
            <p:nvPr/>
          </p:nvSpPr>
          <p:spPr>
            <a:xfrm>
              <a:off x="7615422" y="1462859"/>
              <a:ext cx="1094801" cy="2888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/>
                <a:t>|  </a:t>
              </a:r>
            </a:p>
          </p:txBody>
        </p:sp>
        <p:pic>
          <p:nvPicPr>
            <p:cNvPr id="20" name="Graphic 27" descr="Caret Down with solid fill">
              <a:extLst>
                <a:ext uri="{FF2B5EF4-FFF2-40B4-BE49-F238E27FC236}">
                  <a16:creationId xmlns:a16="http://schemas.microsoft.com/office/drawing/2014/main" id="{7CC8024F-056C-881C-7296-C0ECEC454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518362" y="1546901"/>
              <a:ext cx="140105" cy="1281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6462505-59DC-949C-40F9-A4F675906306}"/>
                </a:ext>
              </a:extLst>
            </p:cNvPr>
            <p:cNvSpPr txBox="1"/>
            <p:nvPr/>
          </p:nvSpPr>
          <p:spPr>
            <a:xfrm>
              <a:off x="7857539" y="1454723"/>
              <a:ext cx="589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Year</a:t>
              </a:r>
            </a:p>
          </p:txBody>
        </p:sp>
      </p:grp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E03FCF-0D07-9960-CD87-27264B6AF5E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19043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C410EE-6389-2ED0-B183-763ACACD2D25}"/>
              </a:ext>
            </a:extLst>
          </p:cNvPr>
          <p:cNvSpPr txBox="1"/>
          <p:nvPr/>
        </p:nvSpPr>
        <p:spPr>
          <a:xfrm>
            <a:off x="421423" y="4779558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23" name="Picture 22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2E4BEA05-6112-415F-E307-C5048F6E77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816358"/>
            <a:ext cx="234175" cy="234175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974663-C79E-C354-ED96-45768F6EF33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24149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E70DBB5-4DB0-4F85-0F97-AD1853F799B7}"/>
              </a:ext>
            </a:extLst>
          </p:cNvPr>
          <p:cNvSpPr/>
          <p:nvPr/>
        </p:nvSpPr>
        <p:spPr>
          <a:xfrm>
            <a:off x="78059" y="1297172"/>
            <a:ext cx="1700388" cy="3929632"/>
          </a:xfrm>
          <a:prstGeom prst="rect">
            <a:avLst/>
          </a:prstGeom>
          <a:solidFill>
            <a:srgbClr val="000B58"/>
          </a:solidFill>
          <a:ln>
            <a:solidFill>
              <a:srgbClr val="000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499218-F291-5CF0-5757-F40C95D342DA}"/>
              </a:ext>
            </a:extLst>
          </p:cNvPr>
          <p:cNvSpPr txBox="1"/>
          <p:nvPr/>
        </p:nvSpPr>
        <p:spPr>
          <a:xfrm>
            <a:off x="246842" y="1620817"/>
            <a:ext cx="143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Auditors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9C9D52-39FC-C0FE-2A01-67C0DA459E4E}"/>
              </a:ext>
            </a:extLst>
          </p:cNvPr>
          <p:cNvSpPr txBox="1"/>
          <p:nvPr/>
        </p:nvSpPr>
        <p:spPr>
          <a:xfrm>
            <a:off x="238768" y="2518602"/>
            <a:ext cx="178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Companies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23EF8A-A0EF-E30D-82E9-342F1AA60929}"/>
              </a:ext>
            </a:extLst>
          </p:cNvPr>
          <p:cNvSpPr txBox="1"/>
          <p:nvPr/>
        </p:nvSpPr>
        <p:spPr>
          <a:xfrm>
            <a:off x="231349" y="3306866"/>
            <a:ext cx="182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Stock Audit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C13C3E3-32F3-5748-F3BD-B1440065E565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868" y="5053705"/>
            <a:ext cx="262603" cy="262603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8EE037D1-BD61-CE83-7937-31B4423D7870}"/>
              </a:ext>
            </a:extLst>
          </p:cNvPr>
          <p:cNvGrpSpPr/>
          <p:nvPr/>
        </p:nvGrpSpPr>
        <p:grpSpPr>
          <a:xfrm>
            <a:off x="9265825" y="1697034"/>
            <a:ext cx="944766" cy="267556"/>
            <a:chOff x="9509665" y="6380794"/>
            <a:chExt cx="944766" cy="26755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BE6CE73-C2D1-DAD2-CBDF-277BD610A0CB}"/>
                </a:ext>
              </a:extLst>
            </p:cNvPr>
            <p:cNvSpPr/>
            <p:nvPr/>
          </p:nvSpPr>
          <p:spPr>
            <a:xfrm>
              <a:off x="9509665" y="6394434"/>
              <a:ext cx="944766" cy="25391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21DDFF0-8410-0DBE-564A-9FC3F0CB4410}"/>
                </a:ext>
              </a:extLst>
            </p:cNvPr>
            <p:cNvSpPr txBox="1"/>
            <p:nvPr/>
          </p:nvSpPr>
          <p:spPr>
            <a:xfrm>
              <a:off x="9591336" y="6380794"/>
              <a:ext cx="785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Everyone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0594533-D8D6-0AA7-F87D-9A1DE29A1FB5}"/>
              </a:ext>
            </a:extLst>
          </p:cNvPr>
          <p:cNvGrpSpPr/>
          <p:nvPr/>
        </p:nvGrpSpPr>
        <p:grpSpPr>
          <a:xfrm>
            <a:off x="11135927" y="1676703"/>
            <a:ext cx="944766" cy="267556"/>
            <a:chOff x="9509665" y="6380794"/>
            <a:chExt cx="944766" cy="267556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511731C0-E1A8-5F73-2019-0F3D6C7F21E8}"/>
                </a:ext>
              </a:extLst>
            </p:cNvPr>
            <p:cNvSpPr/>
            <p:nvPr/>
          </p:nvSpPr>
          <p:spPr>
            <a:xfrm>
              <a:off x="9509665" y="6394434"/>
              <a:ext cx="944766" cy="25391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3401D9C-D27C-BB9A-0E50-3A8F2DF0F9E3}"/>
                </a:ext>
              </a:extLst>
            </p:cNvPr>
            <p:cNvSpPr txBox="1"/>
            <p:nvPr/>
          </p:nvSpPr>
          <p:spPr>
            <a:xfrm>
              <a:off x="9591336" y="6380794"/>
              <a:ext cx="785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Auditor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8009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83A7C-213D-8903-9667-1FAC3FB4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0A6AC-1976-A787-01EF-7948E0BD3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en-US" sz="4800" dirty="0"/>
              <a:t>Auditor</a:t>
            </a:r>
          </a:p>
          <a:p>
            <a:pPr marL="0" indent="0" algn="ctr">
              <a:buNone/>
            </a:pPr>
            <a:r>
              <a:rPr lang="en-US" sz="4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7010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CE16-E60F-5148-29EC-5E0BD4BB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white rectangle">
            <a:extLst>
              <a:ext uri="{FF2B5EF4-FFF2-40B4-BE49-F238E27FC236}">
                <a16:creationId xmlns:a16="http://schemas.microsoft.com/office/drawing/2014/main" id="{2E2B940E-52C2-3850-BC87-A22A54919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712" y="2226"/>
            <a:ext cx="10212568" cy="9767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CCD2F7-B243-36D3-A110-109C11F2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054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Audit Status – Company wise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5CF03-62BB-B168-9AB2-81BFC8C62BB3}"/>
              </a:ext>
            </a:extLst>
          </p:cNvPr>
          <p:cNvSpPr/>
          <p:nvPr/>
        </p:nvSpPr>
        <p:spPr>
          <a:xfrm>
            <a:off x="2227611" y="1297173"/>
            <a:ext cx="9258842" cy="44874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F75894-A06E-53C1-1A78-50D319E91567}"/>
              </a:ext>
            </a:extLst>
          </p:cNvPr>
          <p:cNvCxnSpPr>
            <a:cxnSpLocks/>
          </p:cNvCxnSpPr>
          <p:nvPr/>
        </p:nvCxnSpPr>
        <p:spPr>
          <a:xfrm>
            <a:off x="2231409" y="1825625"/>
            <a:ext cx="9258842" cy="106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C0C9BC-12CF-D54B-3714-A9BE82B5C121}"/>
              </a:ext>
            </a:extLst>
          </p:cNvPr>
          <p:cNvSpPr txBox="1"/>
          <p:nvPr/>
        </p:nvSpPr>
        <p:spPr>
          <a:xfrm>
            <a:off x="2196905" y="1396228"/>
            <a:ext cx="1636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Company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F8878-BD6E-C7A0-CEE6-BBBA11DB810A}"/>
              </a:ext>
            </a:extLst>
          </p:cNvPr>
          <p:cNvSpPr txBox="1"/>
          <p:nvPr/>
        </p:nvSpPr>
        <p:spPr>
          <a:xfrm>
            <a:off x="3694153" y="1382049"/>
            <a:ext cx="1914561" cy="34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Company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220D3B-25C2-4979-8D1A-BD058E992EC0}"/>
              </a:ext>
            </a:extLst>
          </p:cNvPr>
          <p:cNvSpPr txBox="1"/>
          <p:nvPr/>
        </p:nvSpPr>
        <p:spPr>
          <a:xfrm>
            <a:off x="5751157" y="1392685"/>
            <a:ext cx="1565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D7B524-35F9-AA1C-2AE4-1BE050E7BB36}"/>
              </a:ext>
            </a:extLst>
          </p:cNvPr>
          <p:cNvSpPr txBox="1"/>
          <p:nvPr/>
        </p:nvSpPr>
        <p:spPr>
          <a:xfrm>
            <a:off x="6908287" y="1394029"/>
            <a:ext cx="181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Closed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4EB889-B642-FBD2-2D48-2CEC6B99B5BA}"/>
              </a:ext>
            </a:extLst>
          </p:cNvPr>
          <p:cNvSpPr txBox="1"/>
          <p:nvPr/>
        </p:nvSpPr>
        <p:spPr>
          <a:xfrm>
            <a:off x="2167228" y="2248855"/>
            <a:ext cx="1578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AE-2347346576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9D0895-608A-D72D-B05E-EBEECA67EBA1}"/>
              </a:ext>
            </a:extLst>
          </p:cNvPr>
          <p:cNvSpPr txBox="1"/>
          <p:nvPr/>
        </p:nvSpPr>
        <p:spPr>
          <a:xfrm>
            <a:off x="2167228" y="2988807"/>
            <a:ext cx="1578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AE-7634567567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837DE7-AF05-88AD-5336-6CA290365058}"/>
              </a:ext>
            </a:extLst>
          </p:cNvPr>
          <p:cNvSpPr txBox="1"/>
          <p:nvPr/>
        </p:nvSpPr>
        <p:spPr>
          <a:xfrm>
            <a:off x="2167228" y="3766503"/>
            <a:ext cx="1794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AE-7457346573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3F0701-E8E3-FC11-D20B-98CE4F8A04D2}"/>
              </a:ext>
            </a:extLst>
          </p:cNvPr>
          <p:cNvSpPr txBox="1"/>
          <p:nvPr/>
        </p:nvSpPr>
        <p:spPr>
          <a:xfrm>
            <a:off x="2167228" y="5242644"/>
            <a:ext cx="1704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AE-3847567845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D462D7-E7CC-D4F4-68BE-3B1E14E9CBE1}"/>
              </a:ext>
            </a:extLst>
          </p:cNvPr>
          <p:cNvSpPr txBox="1"/>
          <p:nvPr/>
        </p:nvSpPr>
        <p:spPr>
          <a:xfrm>
            <a:off x="2167229" y="4500545"/>
            <a:ext cx="1700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AE-7846374657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FD87CA-C8EF-559E-6DE9-C7B567253E70}"/>
              </a:ext>
            </a:extLst>
          </p:cNvPr>
          <p:cNvSpPr txBox="1"/>
          <p:nvPr/>
        </p:nvSpPr>
        <p:spPr>
          <a:xfrm>
            <a:off x="3732678" y="2248855"/>
            <a:ext cx="156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DHL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A07626-AC92-A2F2-EAAA-355CED2B4DDD}"/>
              </a:ext>
            </a:extLst>
          </p:cNvPr>
          <p:cNvSpPr txBox="1"/>
          <p:nvPr/>
        </p:nvSpPr>
        <p:spPr>
          <a:xfrm>
            <a:off x="3732678" y="2988807"/>
            <a:ext cx="156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AL FUTTAIM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C30581-E8F2-21D7-7025-2C9F247898C0}"/>
              </a:ext>
            </a:extLst>
          </p:cNvPr>
          <p:cNvSpPr txBox="1"/>
          <p:nvPr/>
        </p:nvSpPr>
        <p:spPr>
          <a:xfrm>
            <a:off x="3732679" y="3766503"/>
            <a:ext cx="2361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NINJAVAH LOGISTICS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B51711-2B5F-F271-1F80-D74B1192D57B}"/>
              </a:ext>
            </a:extLst>
          </p:cNvPr>
          <p:cNvSpPr txBox="1"/>
          <p:nvPr/>
        </p:nvSpPr>
        <p:spPr>
          <a:xfrm>
            <a:off x="3732678" y="4500545"/>
            <a:ext cx="2241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NAQUEL LOGISTICS</a:t>
            </a: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608E2D-14E4-AA82-DA68-1438EBA8E276}"/>
              </a:ext>
            </a:extLst>
          </p:cNvPr>
          <p:cNvSpPr txBox="1"/>
          <p:nvPr/>
        </p:nvSpPr>
        <p:spPr>
          <a:xfrm>
            <a:off x="3732678" y="5242644"/>
            <a:ext cx="2544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</a:rPr>
              <a:t>MONSANADA LOGISTICS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B4C3A8-A0C5-4D53-1CCA-31AE508D8552}"/>
              </a:ext>
            </a:extLst>
          </p:cNvPr>
          <p:cNvSpPr txBox="1"/>
          <p:nvPr/>
        </p:nvSpPr>
        <p:spPr>
          <a:xfrm>
            <a:off x="8975067" y="1266728"/>
            <a:ext cx="1258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Pending with Client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509FB1-9F14-E86C-0F4D-97DB7E31A914}"/>
              </a:ext>
            </a:extLst>
          </p:cNvPr>
          <p:cNvSpPr txBox="1"/>
          <p:nvPr/>
        </p:nvSpPr>
        <p:spPr>
          <a:xfrm>
            <a:off x="7725367" y="1375489"/>
            <a:ext cx="181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Open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AB6953-EC74-EDEB-D41D-7A6D6B6EED28}"/>
              </a:ext>
            </a:extLst>
          </p:cNvPr>
          <p:cNvSpPr txBox="1"/>
          <p:nvPr/>
        </p:nvSpPr>
        <p:spPr>
          <a:xfrm>
            <a:off x="7532115" y="2248855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429056-F1AB-7D79-2D85-A21BDB68AAD8}"/>
              </a:ext>
            </a:extLst>
          </p:cNvPr>
          <p:cNvSpPr txBox="1"/>
          <p:nvPr/>
        </p:nvSpPr>
        <p:spPr>
          <a:xfrm>
            <a:off x="8332564" y="2248855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D37C0B-7257-56A6-8C15-28B24AC54277}"/>
              </a:ext>
            </a:extLst>
          </p:cNvPr>
          <p:cNvSpPr txBox="1"/>
          <p:nvPr/>
        </p:nvSpPr>
        <p:spPr>
          <a:xfrm>
            <a:off x="7532115" y="2988807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FDDC16-7AC0-B467-264D-C2FBEFAE9599}"/>
              </a:ext>
            </a:extLst>
          </p:cNvPr>
          <p:cNvSpPr txBox="1"/>
          <p:nvPr/>
        </p:nvSpPr>
        <p:spPr>
          <a:xfrm>
            <a:off x="7532115" y="3766503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AD29568-F065-E2C8-B392-DD715945EE2E}"/>
              </a:ext>
            </a:extLst>
          </p:cNvPr>
          <p:cNvSpPr txBox="1"/>
          <p:nvPr/>
        </p:nvSpPr>
        <p:spPr>
          <a:xfrm>
            <a:off x="7532115" y="4500545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DA654C-7E90-6CE2-D67F-8537F81D9F3E}"/>
              </a:ext>
            </a:extLst>
          </p:cNvPr>
          <p:cNvSpPr txBox="1"/>
          <p:nvPr/>
        </p:nvSpPr>
        <p:spPr>
          <a:xfrm>
            <a:off x="7532115" y="5242644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03DB1D-7F1B-661A-53C0-839BBA224233}"/>
              </a:ext>
            </a:extLst>
          </p:cNvPr>
          <p:cNvSpPr txBox="1"/>
          <p:nvPr/>
        </p:nvSpPr>
        <p:spPr>
          <a:xfrm>
            <a:off x="8332564" y="2988807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24C246-E052-74C7-D638-9345959F1F69}"/>
              </a:ext>
            </a:extLst>
          </p:cNvPr>
          <p:cNvSpPr txBox="1"/>
          <p:nvPr/>
        </p:nvSpPr>
        <p:spPr>
          <a:xfrm>
            <a:off x="8332564" y="3766503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2C68141-EB88-1256-ED13-787251EFC262}"/>
              </a:ext>
            </a:extLst>
          </p:cNvPr>
          <p:cNvSpPr txBox="1"/>
          <p:nvPr/>
        </p:nvSpPr>
        <p:spPr>
          <a:xfrm>
            <a:off x="8332564" y="4500545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68E54A-01BA-CF60-0361-74F3023A1E47}"/>
              </a:ext>
            </a:extLst>
          </p:cNvPr>
          <p:cNvSpPr txBox="1"/>
          <p:nvPr/>
        </p:nvSpPr>
        <p:spPr>
          <a:xfrm>
            <a:off x="8332564" y="5242644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66DAD31-DD22-2439-5073-CB8BC24A661D}"/>
              </a:ext>
            </a:extLst>
          </p:cNvPr>
          <p:cNvSpPr txBox="1"/>
          <p:nvPr/>
        </p:nvSpPr>
        <p:spPr>
          <a:xfrm>
            <a:off x="9344101" y="5242644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108F41-3FA4-6BEE-7D07-A6444215A31C}"/>
              </a:ext>
            </a:extLst>
          </p:cNvPr>
          <p:cNvSpPr txBox="1"/>
          <p:nvPr/>
        </p:nvSpPr>
        <p:spPr>
          <a:xfrm>
            <a:off x="9344101" y="2988807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F2744E7-1D16-4977-084E-7E31BD7F1DA4}"/>
              </a:ext>
            </a:extLst>
          </p:cNvPr>
          <p:cNvSpPr txBox="1"/>
          <p:nvPr/>
        </p:nvSpPr>
        <p:spPr>
          <a:xfrm>
            <a:off x="9344101" y="3766503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357DA75-31A4-F1A2-2F4F-69A9A18C722A}"/>
              </a:ext>
            </a:extLst>
          </p:cNvPr>
          <p:cNvSpPr txBox="1"/>
          <p:nvPr/>
        </p:nvSpPr>
        <p:spPr>
          <a:xfrm>
            <a:off x="9344101" y="4500545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7E5682E-6063-0BB3-7BD2-A22A8FBBADB5}"/>
              </a:ext>
            </a:extLst>
          </p:cNvPr>
          <p:cNvSpPr txBox="1"/>
          <p:nvPr/>
        </p:nvSpPr>
        <p:spPr>
          <a:xfrm>
            <a:off x="9344101" y="2248855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10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E78AB6A-A038-EC8D-2128-520E33644A72}"/>
              </a:ext>
            </a:extLst>
          </p:cNvPr>
          <p:cNvGrpSpPr/>
          <p:nvPr/>
        </p:nvGrpSpPr>
        <p:grpSpPr>
          <a:xfrm>
            <a:off x="10688746" y="495287"/>
            <a:ext cx="1094801" cy="263725"/>
            <a:chOff x="6237863" y="2183530"/>
            <a:chExt cx="1891208" cy="517182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6AE7050-8B86-22B8-18A0-1F3565A761FE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2" name="Graphic 27" descr="Caret Down with solid fill">
              <a:extLst>
                <a:ext uri="{FF2B5EF4-FFF2-40B4-BE49-F238E27FC236}">
                  <a16:creationId xmlns:a16="http://schemas.microsoft.com/office/drawing/2014/main" id="{F60D9DB3-A661-B5AE-BCF9-F369B1387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921B59F-8151-63F7-93BB-189ABEDEBED4}"/>
              </a:ext>
            </a:extLst>
          </p:cNvPr>
          <p:cNvGrpSpPr/>
          <p:nvPr/>
        </p:nvGrpSpPr>
        <p:grpSpPr>
          <a:xfrm>
            <a:off x="9349917" y="490429"/>
            <a:ext cx="1094801" cy="263725"/>
            <a:chOff x="6237863" y="2183530"/>
            <a:chExt cx="1891208" cy="517182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5344C3A-E1A3-4FB7-6F27-9559312575AB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5" name="Graphic 27" descr="Caret Down with solid fill">
              <a:extLst>
                <a:ext uri="{FF2B5EF4-FFF2-40B4-BE49-F238E27FC236}">
                  <a16:creationId xmlns:a16="http://schemas.microsoft.com/office/drawing/2014/main" id="{61709D98-4E9F-808A-788A-E8AA42E1E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9CCC2F49-367C-3C5E-52ED-780DE4F224BF}"/>
              </a:ext>
            </a:extLst>
          </p:cNvPr>
          <p:cNvSpPr txBox="1"/>
          <p:nvPr/>
        </p:nvSpPr>
        <p:spPr>
          <a:xfrm>
            <a:off x="9524140" y="506791"/>
            <a:ext cx="58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Year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039F009-2888-5B91-7F22-C3A5ABE6952F}"/>
              </a:ext>
            </a:extLst>
          </p:cNvPr>
          <p:cNvSpPr txBox="1"/>
          <p:nvPr/>
        </p:nvSpPr>
        <p:spPr>
          <a:xfrm>
            <a:off x="10885073" y="502922"/>
            <a:ext cx="73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Month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B75DC0-5662-CBC4-DE2E-973C199C2364}"/>
              </a:ext>
            </a:extLst>
          </p:cNvPr>
          <p:cNvSpPr txBox="1"/>
          <p:nvPr/>
        </p:nvSpPr>
        <p:spPr>
          <a:xfrm>
            <a:off x="8277771" y="927837"/>
            <a:ext cx="302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Declarations Based Count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C0EBD-6784-D419-4614-85F624B50721}"/>
              </a:ext>
            </a:extLst>
          </p:cNvPr>
          <p:cNvSpPr txBox="1"/>
          <p:nvPr/>
        </p:nvSpPr>
        <p:spPr>
          <a:xfrm>
            <a:off x="5765592" y="2248855"/>
            <a:ext cx="1565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9F3C0-5C46-2CFD-E0A2-0F96C9437C5A}"/>
              </a:ext>
            </a:extLst>
          </p:cNvPr>
          <p:cNvSpPr txBox="1"/>
          <p:nvPr/>
        </p:nvSpPr>
        <p:spPr>
          <a:xfrm>
            <a:off x="5878176" y="2988807"/>
            <a:ext cx="1565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Mainland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D4063A-FA55-C572-8D9D-33AA7485E1AF}"/>
              </a:ext>
            </a:extLst>
          </p:cNvPr>
          <p:cNvSpPr txBox="1"/>
          <p:nvPr/>
        </p:nvSpPr>
        <p:spPr>
          <a:xfrm>
            <a:off x="5849383" y="3766503"/>
            <a:ext cx="1565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Broker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0570FD-7067-EAF7-1424-93BC8105ECC7}"/>
              </a:ext>
            </a:extLst>
          </p:cNvPr>
          <p:cNvSpPr txBox="1"/>
          <p:nvPr/>
        </p:nvSpPr>
        <p:spPr>
          <a:xfrm>
            <a:off x="6068505" y="5242644"/>
            <a:ext cx="1180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Mainland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65D094-7070-8964-7F90-063B2E2B6EB2}"/>
              </a:ext>
            </a:extLst>
          </p:cNvPr>
          <p:cNvSpPr txBox="1"/>
          <p:nvPr/>
        </p:nvSpPr>
        <p:spPr>
          <a:xfrm>
            <a:off x="6059876" y="4500545"/>
            <a:ext cx="1180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Warehouse</a:t>
            </a:r>
          </a:p>
        </p:txBody>
      </p:sp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7437C5-8EF2-94EC-4930-AC27988313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995214" cy="6858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A770A2E-ABD1-CF5F-3098-6B391334E7F6}"/>
              </a:ext>
            </a:extLst>
          </p:cNvPr>
          <p:cNvSpPr txBox="1"/>
          <p:nvPr/>
        </p:nvSpPr>
        <p:spPr>
          <a:xfrm>
            <a:off x="172014" y="1468417"/>
            <a:ext cx="143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Auditor List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7B4B4E-FB15-D90C-2A9A-35780A9E9CCF}"/>
              </a:ext>
            </a:extLst>
          </p:cNvPr>
          <p:cNvSpPr txBox="1"/>
          <p:nvPr/>
        </p:nvSpPr>
        <p:spPr>
          <a:xfrm>
            <a:off x="86368" y="2366202"/>
            <a:ext cx="178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Company List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E0EDE7-AB28-3D42-2504-A684BA28367F}"/>
              </a:ext>
            </a:extLst>
          </p:cNvPr>
          <p:cNvSpPr/>
          <p:nvPr/>
        </p:nvSpPr>
        <p:spPr>
          <a:xfrm>
            <a:off x="78059" y="1297172"/>
            <a:ext cx="1700388" cy="3929632"/>
          </a:xfrm>
          <a:prstGeom prst="rect">
            <a:avLst/>
          </a:prstGeom>
          <a:solidFill>
            <a:srgbClr val="000B58"/>
          </a:solidFill>
          <a:ln>
            <a:solidFill>
              <a:srgbClr val="000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C8CC83-DC73-4977-7FEE-2B94F3DB2742}"/>
              </a:ext>
            </a:extLst>
          </p:cNvPr>
          <p:cNvSpPr txBox="1"/>
          <p:nvPr/>
        </p:nvSpPr>
        <p:spPr>
          <a:xfrm>
            <a:off x="246842" y="1620817"/>
            <a:ext cx="1432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Declaration Audit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B775D0-7535-C856-1393-5D5161C18FE2}"/>
              </a:ext>
            </a:extLst>
          </p:cNvPr>
          <p:cNvSpPr txBox="1"/>
          <p:nvPr/>
        </p:nvSpPr>
        <p:spPr>
          <a:xfrm>
            <a:off x="246842" y="2610935"/>
            <a:ext cx="1352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Stock Audit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58C027-6108-AC81-91CF-41A99EDA6709}"/>
              </a:ext>
            </a:extLst>
          </p:cNvPr>
          <p:cNvSpPr txBox="1"/>
          <p:nvPr/>
        </p:nvSpPr>
        <p:spPr>
          <a:xfrm>
            <a:off x="10548048" y="5242644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2814BE-881E-68AD-6D68-2A2B2B59B0AC}"/>
              </a:ext>
            </a:extLst>
          </p:cNvPr>
          <p:cNvSpPr txBox="1"/>
          <p:nvPr/>
        </p:nvSpPr>
        <p:spPr>
          <a:xfrm>
            <a:off x="10548048" y="2988807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92AD60-4ED6-97BE-BAD0-D439A5459DB5}"/>
              </a:ext>
            </a:extLst>
          </p:cNvPr>
          <p:cNvSpPr txBox="1"/>
          <p:nvPr/>
        </p:nvSpPr>
        <p:spPr>
          <a:xfrm>
            <a:off x="10548048" y="3766503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3025A8-79AE-719C-1BA1-43742D621761}"/>
              </a:ext>
            </a:extLst>
          </p:cNvPr>
          <p:cNvSpPr txBox="1"/>
          <p:nvPr/>
        </p:nvSpPr>
        <p:spPr>
          <a:xfrm>
            <a:off x="10548048" y="4500545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5301A5-3A77-7C6B-B15F-46971E777CDF}"/>
              </a:ext>
            </a:extLst>
          </p:cNvPr>
          <p:cNvSpPr txBox="1"/>
          <p:nvPr/>
        </p:nvSpPr>
        <p:spPr>
          <a:xfrm>
            <a:off x="10548048" y="2248855"/>
            <a:ext cx="521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5B9349-7F7A-3E4C-CA73-2D4AA77E6AD5}"/>
              </a:ext>
            </a:extLst>
          </p:cNvPr>
          <p:cNvSpPr txBox="1"/>
          <p:nvPr/>
        </p:nvSpPr>
        <p:spPr>
          <a:xfrm>
            <a:off x="10184772" y="1263998"/>
            <a:ext cx="1327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Pending with Auditor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57E90F-6944-9531-C844-FF12A88A087B}"/>
              </a:ext>
            </a:extLst>
          </p:cNvPr>
          <p:cNvGrpSpPr/>
          <p:nvPr/>
        </p:nvGrpSpPr>
        <p:grpSpPr>
          <a:xfrm>
            <a:off x="1499491" y="2636826"/>
            <a:ext cx="290082" cy="338554"/>
            <a:chOff x="1407263" y="3081647"/>
            <a:chExt cx="290082" cy="33855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F033121-8CB5-9CCF-4F0D-19D6BB913C8D}"/>
                </a:ext>
              </a:extLst>
            </p:cNvPr>
            <p:cNvSpPr/>
            <p:nvPr/>
          </p:nvSpPr>
          <p:spPr>
            <a:xfrm>
              <a:off x="1407263" y="3132505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B6EEFBF-B5CF-AC0C-07E1-A94003DF40C6}"/>
                </a:ext>
              </a:extLst>
            </p:cNvPr>
            <p:cNvSpPr txBox="1"/>
            <p:nvPr/>
          </p:nvSpPr>
          <p:spPr>
            <a:xfrm>
              <a:off x="1428451" y="3081647"/>
              <a:ext cx="2511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1E08666-BF4D-739D-1C25-471BDC1CA942}"/>
              </a:ext>
            </a:extLst>
          </p:cNvPr>
          <p:cNvGrpSpPr/>
          <p:nvPr/>
        </p:nvGrpSpPr>
        <p:grpSpPr>
          <a:xfrm>
            <a:off x="1016611" y="1901333"/>
            <a:ext cx="987224" cy="338554"/>
            <a:chOff x="1398197" y="3081647"/>
            <a:chExt cx="577076" cy="313332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559A5BC-989D-3F6F-3985-4533D950AB8D}"/>
                </a:ext>
              </a:extLst>
            </p:cNvPr>
            <p:cNvSpPr/>
            <p:nvPr/>
          </p:nvSpPr>
          <p:spPr>
            <a:xfrm>
              <a:off x="1407263" y="3132505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FE350B6-66E1-BC58-D456-A975B692C295}"/>
                </a:ext>
              </a:extLst>
            </p:cNvPr>
            <p:cNvSpPr txBox="1"/>
            <p:nvPr/>
          </p:nvSpPr>
          <p:spPr>
            <a:xfrm>
              <a:off x="1398197" y="3081647"/>
              <a:ext cx="577076" cy="313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125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2155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CAF44-7787-4830-0B53-5B3947FFC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D00722-D3A6-8423-6C16-0BC208369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12281" cy="6858000"/>
          </a:xfrm>
          <a:prstGeom prst="rect">
            <a:avLst/>
          </a:prstGeom>
        </p:spPr>
      </p:pic>
      <p:pic>
        <p:nvPicPr>
          <p:cNvPr id="8" name="Picture 7" descr="A blue and white rectangle">
            <a:extLst>
              <a:ext uri="{FF2B5EF4-FFF2-40B4-BE49-F238E27FC236}">
                <a16:creationId xmlns:a16="http://schemas.microsoft.com/office/drawing/2014/main" id="{01D235B5-DDE2-8613-639D-3DC88888CE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281" y="2450"/>
            <a:ext cx="10390550" cy="976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21BB4F-8F07-A7F8-9776-9A89CF032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054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                    Open Declarations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21285B-0B94-FA9A-92E1-B549FFD1FEBB}"/>
              </a:ext>
            </a:extLst>
          </p:cNvPr>
          <p:cNvSpPr txBox="1"/>
          <p:nvPr/>
        </p:nvSpPr>
        <p:spPr>
          <a:xfrm>
            <a:off x="3202143" y="1215682"/>
            <a:ext cx="304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AE-2347346576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D80A82-9A99-3F52-D6B3-38D0C240D22C}"/>
              </a:ext>
            </a:extLst>
          </p:cNvPr>
          <p:cNvSpPr txBox="1"/>
          <p:nvPr/>
        </p:nvSpPr>
        <p:spPr>
          <a:xfrm>
            <a:off x="1995214" y="1203881"/>
            <a:ext cx="150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Code: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A610E-C787-8774-251E-465DA52A3474}"/>
              </a:ext>
            </a:extLst>
          </p:cNvPr>
          <p:cNvSpPr txBox="1"/>
          <p:nvPr/>
        </p:nvSpPr>
        <p:spPr>
          <a:xfrm>
            <a:off x="4491975" y="1211027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DHL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42279F97-C801-5B81-1C58-0F386731B0AE}"/>
              </a:ext>
            </a:extLst>
          </p:cNvPr>
          <p:cNvSpPr/>
          <p:nvPr/>
        </p:nvSpPr>
        <p:spPr>
          <a:xfrm>
            <a:off x="2309935" y="534272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FC7E36-EDE3-18BD-3407-5260C27FC915}"/>
              </a:ext>
            </a:extLst>
          </p:cNvPr>
          <p:cNvSpPr/>
          <p:nvPr/>
        </p:nvSpPr>
        <p:spPr>
          <a:xfrm>
            <a:off x="78059" y="1297172"/>
            <a:ext cx="1700388" cy="3929632"/>
          </a:xfrm>
          <a:prstGeom prst="rect">
            <a:avLst/>
          </a:prstGeom>
          <a:solidFill>
            <a:srgbClr val="000B58"/>
          </a:solidFill>
          <a:ln>
            <a:solidFill>
              <a:srgbClr val="000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CCED1-1ED6-A3E8-05EA-18AC1A7A03F5}"/>
              </a:ext>
            </a:extLst>
          </p:cNvPr>
          <p:cNvSpPr txBox="1"/>
          <p:nvPr/>
        </p:nvSpPr>
        <p:spPr>
          <a:xfrm>
            <a:off x="1906443" y="1942576"/>
            <a:ext cx="8663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No.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4567579807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2345987654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2345769807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4576980876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4357698076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A77787-0854-55DB-760E-27C7E8CD2245}"/>
              </a:ext>
            </a:extLst>
          </p:cNvPr>
          <p:cNvSpPr txBox="1"/>
          <p:nvPr/>
        </p:nvSpPr>
        <p:spPr>
          <a:xfrm>
            <a:off x="3332753" y="1948378"/>
            <a:ext cx="54027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Issue Count</a:t>
            </a:r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endParaRPr lang="en-IN" sz="1000" dirty="0"/>
          </a:p>
          <a:p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4</a:t>
            </a:r>
          </a:p>
          <a:p>
            <a:endParaRPr lang="en-IN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42E54-C8A8-458C-580D-58292620BDE4}"/>
              </a:ext>
            </a:extLst>
          </p:cNvPr>
          <p:cNvSpPr txBox="1"/>
          <p:nvPr/>
        </p:nvSpPr>
        <p:spPr>
          <a:xfrm>
            <a:off x="2713505" y="1942576"/>
            <a:ext cx="726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Date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17336F-8F6C-88D6-2E0D-75E25458842D}"/>
              </a:ext>
            </a:extLst>
          </p:cNvPr>
          <p:cNvSpPr txBox="1"/>
          <p:nvPr/>
        </p:nvSpPr>
        <p:spPr>
          <a:xfrm>
            <a:off x="3765723" y="1959828"/>
            <a:ext cx="726252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Auditor Findings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Wrong CFI</a:t>
            </a:r>
            <a:br>
              <a:rPr lang="en-IN" sz="1000" dirty="0"/>
            </a:br>
            <a:br>
              <a:rPr lang="en-IN" sz="1000" dirty="0"/>
            </a:b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CFI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E9F35C-FF6E-F056-B415-A031E05EF2A2}"/>
              </a:ext>
            </a:extLst>
          </p:cNvPr>
          <p:cNvSpPr txBox="1"/>
          <p:nvPr/>
        </p:nvSpPr>
        <p:spPr>
          <a:xfrm>
            <a:off x="4401604" y="1948879"/>
            <a:ext cx="116909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Auditor </a:t>
            </a:r>
            <a:br>
              <a:rPr lang="en-IN" sz="1000" b="1" dirty="0"/>
            </a:br>
            <a:r>
              <a:rPr lang="en-IN" sz="1000" b="1" dirty="0"/>
              <a:t>Remarks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CFI value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>
                <a:solidFill>
                  <a:schemeClr val="bg1">
                    <a:lumMod val="65000"/>
                  </a:schemeClr>
                </a:solidFill>
              </a:rPr>
              <a:t>Enter the message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3C2E25-C91F-0180-F66F-EF2FE7577902}"/>
              </a:ext>
            </a:extLst>
          </p:cNvPr>
          <p:cNvSpPr txBox="1"/>
          <p:nvPr/>
        </p:nvSpPr>
        <p:spPr>
          <a:xfrm>
            <a:off x="5480488" y="1938355"/>
            <a:ext cx="7622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Response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5" action="ppaction://hlinkfile"/>
              </a:rPr>
            </a:br>
            <a:r>
              <a:rPr lang="en-IN" sz="1000" dirty="0"/>
              <a:t>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0E15E0-0D1D-FDFF-B745-5418F8A5BB20}"/>
              </a:ext>
            </a:extLst>
          </p:cNvPr>
          <p:cNvSpPr txBox="1"/>
          <p:nvPr/>
        </p:nvSpPr>
        <p:spPr>
          <a:xfrm>
            <a:off x="6170685" y="1932707"/>
            <a:ext cx="8254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Remarks</a:t>
            </a:r>
          </a:p>
          <a:p>
            <a:br>
              <a:rPr lang="en-IN" sz="1000" dirty="0"/>
            </a:br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Updated latest doc</a:t>
            </a:r>
          </a:p>
        </p:txBody>
      </p:sp>
      <p:pic>
        <p:nvPicPr>
          <p:cNvPr id="20" name="Graphic 19" descr="Chat outline">
            <a:extLst>
              <a:ext uri="{FF2B5EF4-FFF2-40B4-BE49-F238E27FC236}">
                <a16:creationId xmlns:a16="http://schemas.microsoft.com/office/drawing/2014/main" id="{6E4F08CB-5B1A-C951-50FA-CD238A9AC0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22" name="Graphic 21" descr="Chat outline">
            <a:extLst>
              <a:ext uri="{FF2B5EF4-FFF2-40B4-BE49-F238E27FC236}">
                <a16:creationId xmlns:a16="http://schemas.microsoft.com/office/drawing/2014/main" id="{2066F69C-797A-4ADA-1236-3AF50C21E6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23" name="Graphic 22" descr="Chat outline">
            <a:extLst>
              <a:ext uri="{FF2B5EF4-FFF2-40B4-BE49-F238E27FC236}">
                <a16:creationId xmlns:a16="http://schemas.microsoft.com/office/drawing/2014/main" id="{2C3AB807-440D-D175-7401-B4DF6C9A39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9548" y="3420588"/>
            <a:ext cx="252000" cy="252000"/>
          </a:xfrm>
          <a:prstGeom prst="rect">
            <a:avLst/>
          </a:prstGeom>
        </p:spPr>
      </p:pic>
      <p:pic>
        <p:nvPicPr>
          <p:cNvPr id="24" name="Graphic 23" descr="Chat outline">
            <a:extLst>
              <a:ext uri="{FF2B5EF4-FFF2-40B4-BE49-F238E27FC236}">
                <a16:creationId xmlns:a16="http://schemas.microsoft.com/office/drawing/2014/main" id="{4D77B760-FB78-D4C1-3A40-8317200610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3812120"/>
            <a:ext cx="252000" cy="252000"/>
          </a:xfrm>
          <a:prstGeom prst="rect">
            <a:avLst/>
          </a:prstGeom>
        </p:spPr>
      </p:pic>
      <p:pic>
        <p:nvPicPr>
          <p:cNvPr id="27" name="Graphic 26" descr="Chat outline">
            <a:extLst>
              <a:ext uri="{FF2B5EF4-FFF2-40B4-BE49-F238E27FC236}">
                <a16:creationId xmlns:a16="http://schemas.microsoft.com/office/drawing/2014/main" id="{72F73964-87DC-7430-2A67-F9BE42F93C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1841" y="4129501"/>
            <a:ext cx="252000" cy="2520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7453642-C5F7-2487-EE6B-BE5453195458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98D9B0-EB3D-64BF-207B-5F3150DBEA53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310194-87C0-201B-9CB5-BE2D9BCCC28E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2969A74-2A01-E3E3-FA08-19BF6DB06CE4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791" y="2171482"/>
            <a:ext cx="251464" cy="123052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14A796F4-026E-B2E5-B354-EE6E60C582C6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65690E-039B-AAFC-62B0-98E2F4F84D22}"/>
              </a:ext>
            </a:extLst>
          </p:cNvPr>
          <p:cNvSpPr txBox="1"/>
          <p:nvPr/>
        </p:nvSpPr>
        <p:spPr>
          <a:xfrm>
            <a:off x="9591336" y="5985368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Enter the message</a:t>
            </a:r>
          </a:p>
        </p:txBody>
      </p:sp>
      <p:pic>
        <p:nvPicPr>
          <p:cNvPr id="39" name="Graphic 38" descr="Paperclip with solid fill">
            <a:extLst>
              <a:ext uri="{FF2B5EF4-FFF2-40B4-BE49-F238E27FC236}">
                <a16:creationId xmlns:a16="http://schemas.microsoft.com/office/drawing/2014/main" id="{5B1AAE1D-8FB8-FD39-E8B0-0881459319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6C635AF-2B39-FB3A-9C9B-EE8EC3DEFC5A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3" name="Graphic 42" descr="Send with solid fill">
            <a:extLst>
              <a:ext uri="{FF2B5EF4-FFF2-40B4-BE49-F238E27FC236}">
                <a16:creationId xmlns:a16="http://schemas.microsoft.com/office/drawing/2014/main" id="{708C3FB7-E80C-A3A5-270A-3AC25092EB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E877BE9-2BA6-8C36-4449-0147F07B2440}"/>
              </a:ext>
            </a:extLst>
          </p:cNvPr>
          <p:cNvSpPr txBox="1"/>
          <p:nvPr/>
        </p:nvSpPr>
        <p:spPr>
          <a:xfrm>
            <a:off x="9216368" y="2476573"/>
            <a:ext cx="28875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There’s an incorrect currency value in invoice 2347346576543..</a:t>
            </a:r>
          </a:p>
          <a:p>
            <a:endParaRPr lang="en-US" sz="1000" dirty="0"/>
          </a:p>
          <a:p>
            <a:endParaRPr lang="en-US" sz="1000" dirty="0"/>
          </a:p>
          <a:p>
            <a:pPr algn="r"/>
            <a:r>
              <a:rPr lang="en-US" sz="1000" b="1" dirty="0"/>
              <a:t>Manager</a:t>
            </a:r>
          </a:p>
          <a:p>
            <a:pPr algn="r"/>
            <a:r>
              <a:rPr lang="en-US" sz="1000" dirty="0"/>
              <a:t>Did you inform the client?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Yes, they’re re-uploading the corrected version.</a:t>
            </a:r>
          </a:p>
          <a:p>
            <a:endParaRPr lang="en-US" sz="1000" b="1" dirty="0"/>
          </a:p>
          <a:p>
            <a:endParaRPr lang="en-US" sz="1000" b="1" dirty="0"/>
          </a:p>
          <a:p>
            <a:pPr algn="r"/>
            <a:r>
              <a:rPr lang="en-US" sz="1000" b="1" dirty="0"/>
              <a:t>Manager</a:t>
            </a:r>
          </a:p>
          <a:p>
            <a:pPr algn="r"/>
            <a:r>
              <a:rPr lang="en-US" sz="1000" dirty="0"/>
              <a:t>Good. Verify once it's updated.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0CEBC5-EE80-EDB5-6F1D-1B1AAB600BE0}"/>
              </a:ext>
            </a:extLst>
          </p:cNvPr>
          <p:cNvSpPr txBox="1"/>
          <p:nvPr/>
        </p:nvSpPr>
        <p:spPr>
          <a:xfrm>
            <a:off x="6938957" y="1950240"/>
            <a:ext cx="82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Actions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Not Started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2B5658-C4CA-9AEC-6DB2-7F9BB69AF512}"/>
              </a:ext>
            </a:extLst>
          </p:cNvPr>
          <p:cNvSpPr txBox="1"/>
          <p:nvPr/>
        </p:nvSpPr>
        <p:spPr>
          <a:xfrm>
            <a:off x="7670630" y="1950240"/>
            <a:ext cx="90699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Client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Auditor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ACE157-FB4C-7EC2-D62F-84C25E83571D}"/>
              </a:ext>
            </a:extLst>
          </p:cNvPr>
          <p:cNvSpPr txBox="1"/>
          <p:nvPr/>
        </p:nvSpPr>
        <p:spPr>
          <a:xfrm>
            <a:off x="246842" y="1620817"/>
            <a:ext cx="1432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Declaration Audit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8F1824-7DA6-639A-F5F6-8167DB9AD554}"/>
              </a:ext>
            </a:extLst>
          </p:cNvPr>
          <p:cNvSpPr txBox="1"/>
          <p:nvPr/>
        </p:nvSpPr>
        <p:spPr>
          <a:xfrm>
            <a:off x="246842" y="2610935"/>
            <a:ext cx="1352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Stock Audit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938E11-1959-67CE-FBE4-71440FBBBB26}"/>
              </a:ext>
            </a:extLst>
          </p:cNvPr>
          <p:cNvGrpSpPr/>
          <p:nvPr/>
        </p:nvGrpSpPr>
        <p:grpSpPr>
          <a:xfrm>
            <a:off x="1016611" y="1901333"/>
            <a:ext cx="987224" cy="338554"/>
            <a:chOff x="1398197" y="3081647"/>
            <a:chExt cx="577076" cy="313332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BD3522E-184A-931D-CB14-A21DDCD60D41}"/>
                </a:ext>
              </a:extLst>
            </p:cNvPr>
            <p:cNvSpPr/>
            <p:nvPr/>
          </p:nvSpPr>
          <p:spPr>
            <a:xfrm>
              <a:off x="1407263" y="3132505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18FE959-7DFD-F86F-A029-D80E343462E5}"/>
                </a:ext>
              </a:extLst>
            </p:cNvPr>
            <p:cNvSpPr txBox="1"/>
            <p:nvPr/>
          </p:nvSpPr>
          <p:spPr>
            <a:xfrm>
              <a:off x="1398197" y="3081647"/>
              <a:ext cx="577076" cy="313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125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50293E3-53FB-9600-36F8-21E93AB22198}"/>
              </a:ext>
            </a:extLst>
          </p:cNvPr>
          <p:cNvGrpSpPr/>
          <p:nvPr/>
        </p:nvGrpSpPr>
        <p:grpSpPr>
          <a:xfrm>
            <a:off x="1499491" y="2636826"/>
            <a:ext cx="290082" cy="338554"/>
            <a:chOff x="1407263" y="3081647"/>
            <a:chExt cx="290082" cy="338554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BF96481-F59A-28DE-DEE5-0A37AB072D67}"/>
                </a:ext>
              </a:extLst>
            </p:cNvPr>
            <p:cNvSpPr/>
            <p:nvPr/>
          </p:nvSpPr>
          <p:spPr>
            <a:xfrm>
              <a:off x="1407263" y="3132505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8531B40-0959-AF5F-F257-14399CF97329}"/>
                </a:ext>
              </a:extLst>
            </p:cNvPr>
            <p:cNvSpPr txBox="1"/>
            <p:nvPr/>
          </p:nvSpPr>
          <p:spPr>
            <a:xfrm>
              <a:off x="1428451" y="3081647"/>
              <a:ext cx="2511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133D90F-0F95-5955-7739-4FB9EDD9B74D}"/>
              </a:ext>
            </a:extLst>
          </p:cNvPr>
          <p:cNvSpPr txBox="1"/>
          <p:nvPr/>
        </p:nvSpPr>
        <p:spPr>
          <a:xfrm>
            <a:off x="9223823" y="6380794"/>
            <a:ext cx="8972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Client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7189CA-0D75-BAB4-6755-70FB910C6DE9}"/>
              </a:ext>
            </a:extLst>
          </p:cNvPr>
          <p:cNvGrpSpPr/>
          <p:nvPr/>
        </p:nvGrpSpPr>
        <p:grpSpPr>
          <a:xfrm>
            <a:off x="9265825" y="1697034"/>
            <a:ext cx="944766" cy="267556"/>
            <a:chOff x="9509665" y="6380794"/>
            <a:chExt cx="944766" cy="26755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54C685E-105C-27CC-DD74-771CFCC4757A}"/>
                </a:ext>
              </a:extLst>
            </p:cNvPr>
            <p:cNvSpPr/>
            <p:nvPr/>
          </p:nvSpPr>
          <p:spPr>
            <a:xfrm>
              <a:off x="9509665" y="6394434"/>
              <a:ext cx="944766" cy="25391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F1B323-49C7-C5CA-60DD-8D087AE29AA2}"/>
                </a:ext>
              </a:extLst>
            </p:cNvPr>
            <p:cNvSpPr txBox="1"/>
            <p:nvPr/>
          </p:nvSpPr>
          <p:spPr>
            <a:xfrm>
              <a:off x="9591336" y="6380794"/>
              <a:ext cx="785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Everyone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CBE47C8-18D8-5520-E370-1681F676F13A}"/>
              </a:ext>
            </a:extLst>
          </p:cNvPr>
          <p:cNvGrpSpPr/>
          <p:nvPr/>
        </p:nvGrpSpPr>
        <p:grpSpPr>
          <a:xfrm>
            <a:off x="11135927" y="1676703"/>
            <a:ext cx="944766" cy="267556"/>
            <a:chOff x="9509665" y="6380794"/>
            <a:chExt cx="944766" cy="267556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A7606D2E-E5CD-9AE1-9AF8-CB3A3EEB59B7}"/>
                </a:ext>
              </a:extLst>
            </p:cNvPr>
            <p:cNvSpPr/>
            <p:nvPr/>
          </p:nvSpPr>
          <p:spPr>
            <a:xfrm>
              <a:off x="9509665" y="6394434"/>
              <a:ext cx="944766" cy="25391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6D72523-FA7A-82E9-6DB4-FCE1BAD52DE1}"/>
                </a:ext>
              </a:extLst>
            </p:cNvPr>
            <p:cNvSpPr txBox="1"/>
            <p:nvPr/>
          </p:nvSpPr>
          <p:spPr>
            <a:xfrm>
              <a:off x="9591336" y="6380794"/>
              <a:ext cx="785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Manager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0832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41B0-7CE0-38BF-7380-07569CDB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E23D8-0982-2D02-55C7-44232EED0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540" y="1825625"/>
            <a:ext cx="10515600" cy="4351338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7F824E-5AC7-59F1-5ADB-922136799E29}"/>
              </a:ext>
            </a:extLst>
          </p:cNvPr>
          <p:cNvSpPr txBox="1"/>
          <p:nvPr/>
        </p:nvSpPr>
        <p:spPr>
          <a:xfrm>
            <a:off x="5308148" y="80667"/>
            <a:ext cx="168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Invoice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CFE83-5229-6FBF-0AA9-89D9453BB045}"/>
              </a:ext>
            </a:extLst>
          </p:cNvPr>
          <p:cNvSpPr txBox="1"/>
          <p:nvPr/>
        </p:nvSpPr>
        <p:spPr>
          <a:xfrm>
            <a:off x="3537605" y="93517"/>
            <a:ext cx="168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Packing List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F3F10E-D362-F463-4983-B3D078551269}"/>
              </a:ext>
            </a:extLst>
          </p:cNvPr>
          <p:cNvSpPr txBox="1"/>
          <p:nvPr/>
        </p:nvSpPr>
        <p:spPr>
          <a:xfrm>
            <a:off x="6679487" y="73703"/>
            <a:ext cx="217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Certificate of origin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3F9038-9076-A573-DDB0-726E3B477F63}"/>
              </a:ext>
            </a:extLst>
          </p:cNvPr>
          <p:cNvSpPr txBox="1"/>
          <p:nvPr/>
        </p:nvSpPr>
        <p:spPr>
          <a:xfrm>
            <a:off x="9087830" y="66375"/>
            <a:ext cx="217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Delivery Order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452262-177A-0A7E-BA97-0C1EC4DDCDEE}"/>
              </a:ext>
            </a:extLst>
          </p:cNvPr>
          <p:cNvSpPr txBox="1"/>
          <p:nvPr/>
        </p:nvSpPr>
        <p:spPr>
          <a:xfrm>
            <a:off x="11046639" y="56838"/>
            <a:ext cx="217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Others</a:t>
            </a:r>
          </a:p>
        </p:txBody>
      </p:sp>
      <p:pic>
        <p:nvPicPr>
          <p:cNvPr id="22" name="Picture 21" descr="A document with a clip">
            <a:extLst>
              <a:ext uri="{FF2B5EF4-FFF2-40B4-BE49-F238E27FC236}">
                <a16:creationId xmlns:a16="http://schemas.microsoft.com/office/drawing/2014/main" id="{315A5712-4F67-15FC-51AE-8C6A8314B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343138" y="-701761"/>
            <a:ext cx="7505723" cy="10271319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3CD7FC-6167-7E6D-9829-A30DFBBDC6CE}"/>
              </a:ext>
            </a:extLst>
          </p:cNvPr>
          <p:cNvSpPr/>
          <p:nvPr/>
        </p:nvSpPr>
        <p:spPr>
          <a:xfrm>
            <a:off x="1431340" y="80667"/>
            <a:ext cx="2058982" cy="36906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D2F9A0-C63C-FCCE-C5CE-F025A3EC5C73}"/>
              </a:ext>
            </a:extLst>
          </p:cNvPr>
          <p:cNvSpPr txBox="1"/>
          <p:nvPr/>
        </p:nvSpPr>
        <p:spPr>
          <a:xfrm>
            <a:off x="1517090" y="12478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Declaration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B4ECEB-A87E-0822-82DE-E3CB21930B83}"/>
              </a:ext>
            </a:extLst>
          </p:cNvPr>
          <p:cNvSpPr txBox="1"/>
          <p:nvPr/>
        </p:nvSpPr>
        <p:spPr>
          <a:xfrm>
            <a:off x="111713" y="78334"/>
            <a:ext cx="217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PortDocs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255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BCC73-603C-BA4F-9685-A47FD6FA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white rectangle">
            <a:extLst>
              <a:ext uri="{FF2B5EF4-FFF2-40B4-BE49-F238E27FC236}">
                <a16:creationId xmlns:a16="http://schemas.microsoft.com/office/drawing/2014/main" id="{837631B2-C47A-4B07-669A-DE5AAD24E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599" y="0"/>
            <a:ext cx="10393401" cy="9165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E25C8C-9178-5907-8D74-8D456A713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054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Pending Stock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52B37-39AD-77EA-40F7-B0DC99CF6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D618107-FC1E-C8C2-4981-073EE3108C81}"/>
                  </a:ext>
                </a:extLst>
              </p14:cNvPr>
              <p14:cNvContentPartPr/>
              <p14:nvPr/>
            </p14:nvContentPartPr>
            <p14:xfrm>
              <a:off x="13113509" y="4549777"/>
              <a:ext cx="36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D618107-FC1E-C8C2-4981-073EE3108C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07389" y="454365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5156E23C-56E7-722C-2BA4-460A041AE981}"/>
              </a:ext>
            </a:extLst>
          </p:cNvPr>
          <p:cNvGrpSpPr/>
          <p:nvPr/>
        </p:nvGrpSpPr>
        <p:grpSpPr>
          <a:xfrm>
            <a:off x="12990749" y="4460497"/>
            <a:ext cx="360" cy="360"/>
            <a:chOff x="11786426" y="446049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8C719E-4388-AB7F-ABC6-A8D19075F3BA}"/>
                    </a:ext>
                  </a:extLst>
                </p14:cNvPr>
                <p14:cNvContentPartPr/>
                <p14:nvPr/>
              </p14:nvContentPartPr>
              <p14:xfrm>
                <a:off x="11786426" y="4460497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08C719E-4388-AB7F-ABC6-A8D19075F3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80306" y="44543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BFB9B36-E5AF-BCD7-5F32-812F7A5E255F}"/>
                    </a:ext>
                  </a:extLst>
                </p14:cNvPr>
                <p14:cNvContentPartPr/>
                <p14:nvPr/>
              </p14:nvContentPartPr>
              <p14:xfrm>
                <a:off x="11786426" y="4460497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BFB9B36-E5AF-BCD7-5F32-812F7A5E25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80306" y="44543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DACF612-0153-35CD-7A5F-E534D9D8C25D}"/>
                    </a:ext>
                  </a:extLst>
                </p14:cNvPr>
                <p14:cNvContentPartPr/>
                <p14:nvPr/>
              </p14:nvContentPartPr>
              <p14:xfrm>
                <a:off x="11786426" y="4460497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DACF612-0153-35CD-7A5F-E534D9D8C2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80306" y="44543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952D802-3435-261E-C210-468A935A2DC4}"/>
              </a:ext>
            </a:extLst>
          </p:cNvPr>
          <p:cNvGrpSpPr/>
          <p:nvPr/>
        </p:nvGrpSpPr>
        <p:grpSpPr>
          <a:xfrm>
            <a:off x="10688746" y="495287"/>
            <a:ext cx="1094801" cy="263725"/>
            <a:chOff x="6237863" y="2183530"/>
            <a:chExt cx="1891208" cy="517182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8D31841-C241-F4B3-9D21-EDD5DDA3DBAB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2" name="Graphic 27" descr="Caret Down with solid fill">
              <a:extLst>
                <a:ext uri="{FF2B5EF4-FFF2-40B4-BE49-F238E27FC236}">
                  <a16:creationId xmlns:a16="http://schemas.microsoft.com/office/drawing/2014/main" id="{E646B780-D094-8A47-5089-696198111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EF068EA-37FE-4879-CFF7-604D5CAABE4B}"/>
              </a:ext>
            </a:extLst>
          </p:cNvPr>
          <p:cNvGrpSpPr/>
          <p:nvPr/>
        </p:nvGrpSpPr>
        <p:grpSpPr>
          <a:xfrm>
            <a:off x="9349917" y="490429"/>
            <a:ext cx="1094801" cy="263725"/>
            <a:chOff x="6237863" y="2183530"/>
            <a:chExt cx="1891208" cy="517182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0E73847-5DD4-36CE-CE9A-914C6409AC60}"/>
                </a:ext>
              </a:extLst>
            </p:cNvPr>
            <p:cNvSpPr/>
            <p:nvPr/>
          </p:nvSpPr>
          <p:spPr>
            <a:xfrm>
              <a:off x="6237863" y="2183530"/>
              <a:ext cx="1891208" cy="517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/>
                <a:t>|  </a:t>
              </a:r>
            </a:p>
          </p:txBody>
        </p:sp>
        <p:pic>
          <p:nvPicPr>
            <p:cNvPr id="85" name="Graphic 27" descr="Caret Down with solid fill">
              <a:extLst>
                <a:ext uri="{FF2B5EF4-FFF2-40B4-BE49-F238E27FC236}">
                  <a16:creationId xmlns:a16="http://schemas.microsoft.com/office/drawing/2014/main" id="{468FF7E5-FF34-B231-07CA-6F019AB67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838802" y="2364896"/>
              <a:ext cx="242024" cy="2294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504F3BC9-0EB4-AFB3-A1FE-0E8E55A537A9}"/>
              </a:ext>
            </a:extLst>
          </p:cNvPr>
          <p:cNvSpPr txBox="1"/>
          <p:nvPr/>
        </p:nvSpPr>
        <p:spPr>
          <a:xfrm>
            <a:off x="9524140" y="506791"/>
            <a:ext cx="58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Year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656B8A1-BC0F-28DF-E6F2-1D49590DA7E5}"/>
              </a:ext>
            </a:extLst>
          </p:cNvPr>
          <p:cNvSpPr txBox="1"/>
          <p:nvPr/>
        </p:nvSpPr>
        <p:spPr>
          <a:xfrm>
            <a:off x="10885073" y="502922"/>
            <a:ext cx="73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Month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6B7BBA-5430-D0ED-7A9E-65AC772BA6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19043" cy="6858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96F99D7-9C01-E61A-A0F7-6846646BEC9F}"/>
              </a:ext>
            </a:extLst>
          </p:cNvPr>
          <p:cNvSpPr txBox="1"/>
          <p:nvPr/>
        </p:nvSpPr>
        <p:spPr>
          <a:xfrm>
            <a:off x="421423" y="4779558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24" name="Picture 23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6D6AE55D-018E-3B9C-D288-91135F679AB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816358"/>
            <a:ext cx="234175" cy="234175"/>
          </a:xfrm>
          <a:prstGeom prst="rect">
            <a:avLst/>
          </a:prstGeom>
        </p:spPr>
      </p:pic>
      <p:sp>
        <p:nvSpPr>
          <p:cNvPr id="28" name="Arrow: Left 27">
            <a:extLst>
              <a:ext uri="{FF2B5EF4-FFF2-40B4-BE49-F238E27FC236}">
                <a16:creationId xmlns:a16="http://schemas.microsoft.com/office/drawing/2014/main" id="{D392F892-FF5E-2C3B-B1FD-1285ABE6722B}"/>
              </a:ext>
            </a:extLst>
          </p:cNvPr>
          <p:cNvSpPr/>
          <p:nvPr/>
        </p:nvSpPr>
        <p:spPr>
          <a:xfrm>
            <a:off x="2074352" y="474043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738641-57B2-D92E-BA6E-10FE38C4C37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19036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82BCA2C-9CAC-65CC-7255-AB9C3E644B2D}"/>
              </a:ext>
            </a:extLst>
          </p:cNvPr>
          <p:cNvSpPr/>
          <p:nvPr/>
        </p:nvSpPr>
        <p:spPr>
          <a:xfrm>
            <a:off x="78059" y="1297172"/>
            <a:ext cx="1700388" cy="3929632"/>
          </a:xfrm>
          <a:prstGeom prst="rect">
            <a:avLst/>
          </a:prstGeom>
          <a:solidFill>
            <a:srgbClr val="000B58"/>
          </a:solidFill>
          <a:ln>
            <a:solidFill>
              <a:srgbClr val="000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047EE4-EDDB-041A-8C1F-35705E8FB960}"/>
              </a:ext>
            </a:extLst>
          </p:cNvPr>
          <p:cNvSpPr/>
          <p:nvPr/>
        </p:nvSpPr>
        <p:spPr>
          <a:xfrm>
            <a:off x="78059" y="1297172"/>
            <a:ext cx="1700388" cy="3929632"/>
          </a:xfrm>
          <a:prstGeom prst="rect">
            <a:avLst/>
          </a:prstGeom>
          <a:solidFill>
            <a:srgbClr val="000B58"/>
          </a:solidFill>
          <a:ln>
            <a:solidFill>
              <a:srgbClr val="000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A89C78-2C2D-4839-ADFC-E84EA3FAC845}"/>
              </a:ext>
            </a:extLst>
          </p:cNvPr>
          <p:cNvGrpSpPr/>
          <p:nvPr/>
        </p:nvGrpSpPr>
        <p:grpSpPr>
          <a:xfrm>
            <a:off x="1499491" y="2636826"/>
            <a:ext cx="290082" cy="338554"/>
            <a:chOff x="1407263" y="3081647"/>
            <a:chExt cx="290082" cy="33855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CC9914A-32F8-9A01-F7A4-E3DC14D33618}"/>
                </a:ext>
              </a:extLst>
            </p:cNvPr>
            <p:cNvSpPr/>
            <p:nvPr/>
          </p:nvSpPr>
          <p:spPr>
            <a:xfrm>
              <a:off x="1407263" y="3132505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6D5AC4F-D500-B41E-2C15-5790A7BC0245}"/>
                </a:ext>
              </a:extLst>
            </p:cNvPr>
            <p:cNvSpPr txBox="1"/>
            <p:nvPr/>
          </p:nvSpPr>
          <p:spPr>
            <a:xfrm>
              <a:off x="1428451" y="3081647"/>
              <a:ext cx="2511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22EF624-EFAE-14B6-0E03-C5F579AF1C21}"/>
              </a:ext>
            </a:extLst>
          </p:cNvPr>
          <p:cNvSpPr txBox="1"/>
          <p:nvPr/>
        </p:nvSpPr>
        <p:spPr>
          <a:xfrm>
            <a:off x="169208" y="1620817"/>
            <a:ext cx="1432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Declaration Audit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15A3D7-0B7E-B906-F659-BE3D08AD23B3}"/>
              </a:ext>
            </a:extLst>
          </p:cNvPr>
          <p:cNvSpPr txBox="1"/>
          <p:nvPr/>
        </p:nvSpPr>
        <p:spPr>
          <a:xfrm>
            <a:off x="169208" y="2610935"/>
            <a:ext cx="1500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Stock Audit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5514D20-029C-60C6-3B09-D929AF8126C4}"/>
              </a:ext>
            </a:extLst>
          </p:cNvPr>
          <p:cNvGrpSpPr/>
          <p:nvPr/>
        </p:nvGrpSpPr>
        <p:grpSpPr>
          <a:xfrm>
            <a:off x="1016611" y="1901333"/>
            <a:ext cx="987224" cy="338554"/>
            <a:chOff x="1398197" y="3081647"/>
            <a:chExt cx="577076" cy="313332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07E1FA9-B3E5-89F2-900D-A3D028BC01A3}"/>
                </a:ext>
              </a:extLst>
            </p:cNvPr>
            <p:cNvSpPr/>
            <p:nvPr/>
          </p:nvSpPr>
          <p:spPr>
            <a:xfrm>
              <a:off x="1407263" y="3132505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CC315BE-9A9F-5611-B9D6-0F6577DA4C5C}"/>
                </a:ext>
              </a:extLst>
            </p:cNvPr>
            <p:cNvSpPr txBox="1"/>
            <p:nvPr/>
          </p:nvSpPr>
          <p:spPr>
            <a:xfrm>
              <a:off x="1398197" y="3081647"/>
              <a:ext cx="577076" cy="313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125</a:t>
              </a: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48DD1CEB-E921-2F77-BC92-AB1AFC2BBC5F}"/>
              </a:ext>
            </a:extLst>
          </p:cNvPr>
          <p:cNvSpPr/>
          <p:nvPr/>
        </p:nvSpPr>
        <p:spPr>
          <a:xfrm>
            <a:off x="2461522" y="1616348"/>
            <a:ext cx="9214091" cy="37234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8A8B0EA-21B6-7955-B48E-90B624B4576F}"/>
              </a:ext>
            </a:extLst>
          </p:cNvPr>
          <p:cNvCxnSpPr>
            <a:cxnSpLocks/>
          </p:cNvCxnSpPr>
          <p:nvPr/>
        </p:nvCxnSpPr>
        <p:spPr>
          <a:xfrm>
            <a:off x="2461522" y="2144801"/>
            <a:ext cx="92140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8975696-E044-8822-EA1D-F6D0FD6FCCC1}"/>
              </a:ext>
            </a:extLst>
          </p:cNvPr>
          <p:cNvSpPr txBox="1"/>
          <p:nvPr/>
        </p:nvSpPr>
        <p:spPr>
          <a:xfrm>
            <a:off x="2475779" y="1740049"/>
            <a:ext cx="1632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Company Code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FAEE22-56B4-3A12-4E92-87E0B7DFF8ED}"/>
              </a:ext>
            </a:extLst>
          </p:cNvPr>
          <p:cNvSpPr txBox="1"/>
          <p:nvPr/>
        </p:nvSpPr>
        <p:spPr>
          <a:xfrm>
            <a:off x="4124917" y="1745526"/>
            <a:ext cx="2406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Company Name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307886-7B14-B2A5-8F4F-EA3468CD1106}"/>
              </a:ext>
            </a:extLst>
          </p:cNvPr>
          <p:cNvSpPr txBox="1"/>
          <p:nvPr/>
        </p:nvSpPr>
        <p:spPr>
          <a:xfrm>
            <a:off x="7311984" y="1733330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Manager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7C8F48-8108-FE7B-E12D-C3373744AAAE}"/>
              </a:ext>
            </a:extLst>
          </p:cNvPr>
          <p:cNvSpPr txBox="1"/>
          <p:nvPr/>
        </p:nvSpPr>
        <p:spPr>
          <a:xfrm>
            <a:off x="2544787" y="2421098"/>
            <a:ext cx="143819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AE-2347346576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EF4A7B-BE2C-515C-F2F7-71BECB8D3A20}"/>
              </a:ext>
            </a:extLst>
          </p:cNvPr>
          <p:cNvSpPr txBox="1"/>
          <p:nvPr/>
        </p:nvSpPr>
        <p:spPr>
          <a:xfrm>
            <a:off x="2544787" y="299906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AE-7634567567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0D9C95-7576-53AE-62B0-64247F2AC0C7}"/>
              </a:ext>
            </a:extLst>
          </p:cNvPr>
          <p:cNvSpPr txBox="1"/>
          <p:nvPr/>
        </p:nvSpPr>
        <p:spPr>
          <a:xfrm>
            <a:off x="2544787" y="3594288"/>
            <a:ext cx="163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AE-7457346573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B058F5-4899-8D85-2F4F-E1D0AD70EB0F}"/>
              </a:ext>
            </a:extLst>
          </p:cNvPr>
          <p:cNvSpPr txBox="1"/>
          <p:nvPr/>
        </p:nvSpPr>
        <p:spPr>
          <a:xfrm>
            <a:off x="2544787" y="4732975"/>
            <a:ext cx="1553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AE-3847567845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C96AC9-E7B2-ACFE-7A34-6AF50939B581}"/>
              </a:ext>
            </a:extLst>
          </p:cNvPr>
          <p:cNvSpPr txBox="1"/>
          <p:nvPr/>
        </p:nvSpPr>
        <p:spPr>
          <a:xfrm>
            <a:off x="2544788" y="4151704"/>
            <a:ext cx="1438195" cy="314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AE-7846374657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0D5DF7-BE6A-E950-2959-7E5A20AD04C3}"/>
              </a:ext>
            </a:extLst>
          </p:cNvPr>
          <p:cNvSpPr txBox="1"/>
          <p:nvPr/>
        </p:nvSpPr>
        <p:spPr>
          <a:xfrm>
            <a:off x="4209684" y="242109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DHL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CF2B80-CC3A-596C-DA45-BD758049E0BD}"/>
              </a:ext>
            </a:extLst>
          </p:cNvPr>
          <p:cNvSpPr txBox="1"/>
          <p:nvPr/>
        </p:nvSpPr>
        <p:spPr>
          <a:xfrm>
            <a:off x="4209684" y="299906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AL FUTTAIM</a:t>
            </a:r>
            <a:endParaRPr 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09AD69-4CAE-5BD9-6EE0-7A44E7AC83E9}"/>
              </a:ext>
            </a:extLst>
          </p:cNvPr>
          <p:cNvSpPr txBox="1"/>
          <p:nvPr/>
        </p:nvSpPr>
        <p:spPr>
          <a:xfrm>
            <a:off x="4209684" y="3594288"/>
            <a:ext cx="2740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NINJAVAH LOGISTICS</a:t>
            </a:r>
            <a:endParaRPr lang="en-US" sz="1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F55D00-A3A1-45C0-5184-76B2C14B80A2}"/>
              </a:ext>
            </a:extLst>
          </p:cNvPr>
          <p:cNvSpPr txBox="1"/>
          <p:nvPr/>
        </p:nvSpPr>
        <p:spPr>
          <a:xfrm>
            <a:off x="4209684" y="4155002"/>
            <a:ext cx="2600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NAQUEL LOGISTICS</a:t>
            </a:r>
            <a:endParaRPr lang="en-US" sz="14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4CDCDB-8AF9-5FE2-F4AE-0C6525161BB0}"/>
              </a:ext>
            </a:extLst>
          </p:cNvPr>
          <p:cNvSpPr txBox="1"/>
          <p:nvPr/>
        </p:nvSpPr>
        <p:spPr>
          <a:xfrm>
            <a:off x="4209684" y="4732975"/>
            <a:ext cx="2953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</a:rPr>
              <a:t>MONSANADA LOGISTICS</a:t>
            </a:r>
            <a:endParaRPr 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03C34E-C629-1EB3-4DF0-BFAC9B46CE0B}"/>
              </a:ext>
            </a:extLst>
          </p:cNvPr>
          <p:cNvSpPr txBox="1"/>
          <p:nvPr/>
        </p:nvSpPr>
        <p:spPr>
          <a:xfrm>
            <a:off x="8918356" y="1736779"/>
            <a:ext cx="1190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Auditor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1EF6A7-0810-6213-21F3-DEC2FFD3F814}"/>
              </a:ext>
            </a:extLst>
          </p:cNvPr>
          <p:cNvSpPr txBox="1"/>
          <p:nvPr/>
        </p:nvSpPr>
        <p:spPr>
          <a:xfrm>
            <a:off x="7220453" y="242109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Ragu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C91CC6-A093-A1B6-09E4-C2E8C2A69685}"/>
              </a:ext>
            </a:extLst>
          </p:cNvPr>
          <p:cNvSpPr txBox="1"/>
          <p:nvPr/>
        </p:nvSpPr>
        <p:spPr>
          <a:xfrm>
            <a:off x="7255844" y="299906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Suresh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312377-7C22-5CE4-CA5B-36AE63BB8399}"/>
              </a:ext>
            </a:extLst>
          </p:cNvPr>
          <p:cNvSpPr txBox="1"/>
          <p:nvPr/>
        </p:nvSpPr>
        <p:spPr>
          <a:xfrm>
            <a:off x="7220453" y="3594288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Vimal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ADDE7C-DD5F-BCAC-C5DC-4F996F733A50}"/>
              </a:ext>
            </a:extLst>
          </p:cNvPr>
          <p:cNvSpPr txBox="1"/>
          <p:nvPr/>
        </p:nvSpPr>
        <p:spPr>
          <a:xfrm>
            <a:off x="7255844" y="4155002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Sundar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8E9587-64BD-B3E3-C97D-A973C6DAC2F1}"/>
              </a:ext>
            </a:extLst>
          </p:cNvPr>
          <p:cNvSpPr txBox="1"/>
          <p:nvPr/>
        </p:nvSpPr>
        <p:spPr>
          <a:xfrm>
            <a:off x="7255844" y="4732975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Joel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178B387-81A8-84A6-07AC-ACE97815E5F3}"/>
              </a:ext>
            </a:extLst>
          </p:cNvPr>
          <p:cNvSpPr txBox="1"/>
          <p:nvPr/>
        </p:nvSpPr>
        <p:spPr>
          <a:xfrm>
            <a:off x="8761933" y="299906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Raja &amp; Kumar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4DFFA54-2066-3EE4-506A-FFED50DA19CC}"/>
              </a:ext>
            </a:extLst>
          </p:cNvPr>
          <p:cNvSpPr txBox="1"/>
          <p:nvPr/>
        </p:nvSpPr>
        <p:spPr>
          <a:xfrm>
            <a:off x="8761933" y="359428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Kumar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6A08368-ED45-064B-A843-8E38695EBF17}"/>
              </a:ext>
            </a:extLst>
          </p:cNvPr>
          <p:cNvSpPr txBox="1"/>
          <p:nvPr/>
        </p:nvSpPr>
        <p:spPr>
          <a:xfrm>
            <a:off x="8761933" y="4155002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Suresh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452A357-730E-323A-7C27-A8D9D231669D}"/>
              </a:ext>
            </a:extLst>
          </p:cNvPr>
          <p:cNvSpPr txBox="1"/>
          <p:nvPr/>
        </p:nvSpPr>
        <p:spPr>
          <a:xfrm>
            <a:off x="8761933" y="4732975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Mani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6494082-141E-22AA-A718-79A10D23AD36}"/>
              </a:ext>
            </a:extLst>
          </p:cNvPr>
          <p:cNvSpPr txBox="1"/>
          <p:nvPr/>
        </p:nvSpPr>
        <p:spPr>
          <a:xfrm>
            <a:off x="8761933" y="2421098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Raja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5562C23-06D2-4670-6B0A-9419EB28110A}"/>
              </a:ext>
            </a:extLst>
          </p:cNvPr>
          <p:cNvSpPr txBox="1"/>
          <p:nvPr/>
        </p:nvSpPr>
        <p:spPr>
          <a:xfrm>
            <a:off x="5936005" y="1743174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Uploaded Date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A7DE2F-7158-3005-5DFF-3AA97236DEC1}"/>
              </a:ext>
            </a:extLst>
          </p:cNvPr>
          <p:cNvSpPr txBox="1"/>
          <p:nvPr/>
        </p:nvSpPr>
        <p:spPr>
          <a:xfrm>
            <a:off x="6289980" y="2421098"/>
            <a:ext cx="1320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05/07/2024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6618FC7-C31C-89F1-8F8C-F7FA727DDF92}"/>
              </a:ext>
            </a:extLst>
          </p:cNvPr>
          <p:cNvSpPr txBox="1"/>
          <p:nvPr/>
        </p:nvSpPr>
        <p:spPr>
          <a:xfrm>
            <a:off x="6289980" y="3594288"/>
            <a:ext cx="1320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05/07/2024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24C8AFA-3DCA-C116-5DB1-C829794E7318}"/>
              </a:ext>
            </a:extLst>
          </p:cNvPr>
          <p:cNvSpPr txBox="1"/>
          <p:nvPr/>
        </p:nvSpPr>
        <p:spPr>
          <a:xfrm>
            <a:off x="6289980" y="2999068"/>
            <a:ext cx="1320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05/07/2024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A748D89-BABC-ED31-4EA2-9A0B31EC1F3F}"/>
              </a:ext>
            </a:extLst>
          </p:cNvPr>
          <p:cNvSpPr txBox="1"/>
          <p:nvPr/>
        </p:nvSpPr>
        <p:spPr>
          <a:xfrm>
            <a:off x="10294335" y="1762931"/>
            <a:ext cx="1190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Status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7715F23-757A-10E9-BC1E-6F30554B8B98}"/>
              </a:ext>
            </a:extLst>
          </p:cNvPr>
          <p:cNvSpPr txBox="1"/>
          <p:nvPr/>
        </p:nvSpPr>
        <p:spPr>
          <a:xfrm>
            <a:off x="10137912" y="3025220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In-Progress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3AD3F2-C4E2-1256-7A1C-AAC5B1564504}"/>
              </a:ext>
            </a:extLst>
          </p:cNvPr>
          <p:cNvSpPr txBox="1"/>
          <p:nvPr/>
        </p:nvSpPr>
        <p:spPr>
          <a:xfrm>
            <a:off x="10137912" y="3620440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In-Progress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8405D4D-AF1B-D0C8-F9E3-FC28A3B7B099}"/>
              </a:ext>
            </a:extLst>
          </p:cNvPr>
          <p:cNvSpPr txBox="1"/>
          <p:nvPr/>
        </p:nvSpPr>
        <p:spPr>
          <a:xfrm>
            <a:off x="10137912" y="4181154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Open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97C5283-4A47-0ACC-934E-19F17FB0B0C0}"/>
              </a:ext>
            </a:extLst>
          </p:cNvPr>
          <p:cNvSpPr txBox="1"/>
          <p:nvPr/>
        </p:nvSpPr>
        <p:spPr>
          <a:xfrm>
            <a:off x="10137912" y="4759127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Closed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7144C8B-D6E0-0F0B-C91E-5858D25276E5}"/>
              </a:ext>
            </a:extLst>
          </p:cNvPr>
          <p:cNvSpPr txBox="1"/>
          <p:nvPr/>
        </p:nvSpPr>
        <p:spPr>
          <a:xfrm>
            <a:off x="10137912" y="2447250"/>
            <a:ext cx="1438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Closed</a:t>
            </a:r>
          </a:p>
        </p:txBody>
      </p:sp>
    </p:spTree>
    <p:extLst>
      <p:ext uri="{BB962C8B-B14F-4D97-AF65-F5344CB8AC3E}">
        <p14:creationId xmlns:p14="http://schemas.microsoft.com/office/powerpoint/2010/main" val="1786974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EFD09-CDE3-42FB-4A94-7467DE516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white rectangle">
            <a:extLst>
              <a:ext uri="{FF2B5EF4-FFF2-40B4-BE49-F238E27FC236}">
                <a16:creationId xmlns:a16="http://schemas.microsoft.com/office/drawing/2014/main" id="{95968B06-B01B-D011-D6CD-929B5B4AD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599" y="0"/>
            <a:ext cx="10393401" cy="9165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12D2844-1138-5279-5354-F0AE909FDCAB}"/>
                  </a:ext>
                </a:extLst>
              </p14:cNvPr>
              <p14:cNvContentPartPr/>
              <p14:nvPr/>
            </p14:nvContentPartPr>
            <p14:xfrm>
              <a:off x="13113509" y="4549777"/>
              <a:ext cx="36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12D2844-1138-5279-5354-F0AE909FDC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07389" y="454365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32509C69-4E06-175B-C80E-AE79EAB0B5D7}"/>
              </a:ext>
            </a:extLst>
          </p:cNvPr>
          <p:cNvGrpSpPr/>
          <p:nvPr/>
        </p:nvGrpSpPr>
        <p:grpSpPr>
          <a:xfrm>
            <a:off x="12990749" y="4460497"/>
            <a:ext cx="360" cy="360"/>
            <a:chOff x="11786426" y="446049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BE767E4-A48B-1172-D04B-4A465812EF6A}"/>
                    </a:ext>
                  </a:extLst>
                </p14:cNvPr>
                <p14:cNvContentPartPr/>
                <p14:nvPr/>
              </p14:nvContentPartPr>
              <p14:xfrm>
                <a:off x="11786426" y="4460497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BE767E4-A48B-1172-D04B-4A465812EF6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80306" y="44543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07896C9-DA9C-62B3-CDAB-7E70B8FF6948}"/>
                    </a:ext>
                  </a:extLst>
                </p14:cNvPr>
                <p14:cNvContentPartPr/>
                <p14:nvPr/>
              </p14:nvContentPartPr>
              <p14:xfrm>
                <a:off x="11786426" y="4460497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07896C9-DA9C-62B3-CDAB-7E70B8FF69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80306" y="44543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AFD4611-5422-8D91-A29E-400709B8551B}"/>
                    </a:ext>
                  </a:extLst>
                </p14:cNvPr>
                <p14:cNvContentPartPr/>
                <p14:nvPr/>
              </p14:nvContentPartPr>
              <p14:xfrm>
                <a:off x="11786426" y="4460497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AFD4611-5422-8D91-A29E-400709B855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80306" y="44543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764733-12ED-D554-C061-8C536F5A6C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19043" cy="6858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0671005-EA34-2348-7827-EFD52368A37B}"/>
              </a:ext>
            </a:extLst>
          </p:cNvPr>
          <p:cNvSpPr txBox="1"/>
          <p:nvPr/>
        </p:nvSpPr>
        <p:spPr>
          <a:xfrm>
            <a:off x="421423" y="4779558"/>
            <a:ext cx="127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Audit</a:t>
            </a:r>
          </a:p>
        </p:txBody>
      </p:sp>
      <p:pic>
        <p:nvPicPr>
          <p:cNvPr id="24" name="Picture 23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A5C78AAB-41CF-2CF2-C992-902DA973D6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4816358"/>
            <a:ext cx="234175" cy="234175"/>
          </a:xfrm>
          <a:prstGeom prst="rect">
            <a:avLst/>
          </a:prstGeom>
        </p:spPr>
      </p:pic>
      <p:sp>
        <p:nvSpPr>
          <p:cNvPr id="28" name="Arrow: Left 27">
            <a:extLst>
              <a:ext uri="{FF2B5EF4-FFF2-40B4-BE49-F238E27FC236}">
                <a16:creationId xmlns:a16="http://schemas.microsoft.com/office/drawing/2014/main" id="{CB20EB05-E7DE-8960-8BE1-0ED960A8AA83}"/>
              </a:ext>
            </a:extLst>
          </p:cNvPr>
          <p:cNvSpPr/>
          <p:nvPr/>
        </p:nvSpPr>
        <p:spPr>
          <a:xfrm>
            <a:off x="2074352" y="474043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7D6A89-B575-4BE8-67CA-319F734CBF8B}"/>
              </a:ext>
            </a:extLst>
          </p:cNvPr>
          <p:cNvSpPr/>
          <p:nvPr/>
        </p:nvSpPr>
        <p:spPr>
          <a:xfrm>
            <a:off x="78059" y="1297172"/>
            <a:ext cx="1700388" cy="3929632"/>
          </a:xfrm>
          <a:prstGeom prst="rect">
            <a:avLst/>
          </a:prstGeom>
          <a:solidFill>
            <a:srgbClr val="000B58"/>
          </a:solidFill>
          <a:ln>
            <a:solidFill>
              <a:srgbClr val="000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32754-19F0-6BC5-7506-319142CEB8F4}"/>
              </a:ext>
            </a:extLst>
          </p:cNvPr>
          <p:cNvSpPr txBox="1"/>
          <p:nvPr/>
        </p:nvSpPr>
        <p:spPr>
          <a:xfrm>
            <a:off x="4511800" y="1044190"/>
            <a:ext cx="434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Reconciliation Audit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30190B-5A6D-139E-86E3-1F5D1466F437}"/>
              </a:ext>
            </a:extLst>
          </p:cNvPr>
          <p:cNvSpPr txBox="1"/>
          <p:nvPr/>
        </p:nvSpPr>
        <p:spPr>
          <a:xfrm>
            <a:off x="1906443" y="1942576"/>
            <a:ext cx="8810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Document </a:t>
            </a:r>
            <a:br>
              <a:rPr lang="en-IN" sz="1000" b="1" dirty="0"/>
            </a:br>
            <a:r>
              <a:rPr lang="en-IN" sz="1000" b="1" dirty="0"/>
              <a:t>Name</a:t>
            </a:r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1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2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6181D5-539C-F5F9-295C-DD75EBE551B5}"/>
              </a:ext>
            </a:extLst>
          </p:cNvPr>
          <p:cNvSpPr txBox="1"/>
          <p:nvPr/>
        </p:nvSpPr>
        <p:spPr>
          <a:xfrm>
            <a:off x="2803590" y="1942576"/>
            <a:ext cx="79650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Month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January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February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March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April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May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June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B1291-86E8-67CD-2019-E91938C01573}"/>
              </a:ext>
            </a:extLst>
          </p:cNvPr>
          <p:cNvSpPr txBox="1"/>
          <p:nvPr/>
        </p:nvSpPr>
        <p:spPr>
          <a:xfrm>
            <a:off x="3480761" y="1942576"/>
            <a:ext cx="7576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Uploaded </a:t>
            </a:r>
            <a:br>
              <a:rPr lang="en-IN" sz="1000" b="1" dirty="0"/>
            </a:br>
            <a:r>
              <a:rPr lang="en-IN" sz="1000" b="1" dirty="0"/>
              <a:t>Date</a:t>
            </a:r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A2EB9-7C04-485E-A275-6A42B76ED606}"/>
              </a:ext>
            </a:extLst>
          </p:cNvPr>
          <p:cNvSpPr txBox="1"/>
          <p:nvPr/>
        </p:nvSpPr>
        <p:spPr>
          <a:xfrm>
            <a:off x="4274677" y="1942576"/>
            <a:ext cx="9922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Stock </a:t>
            </a:r>
            <a:br>
              <a:rPr lang="en-IN" sz="1000" b="1" dirty="0"/>
            </a:br>
            <a:r>
              <a:rPr lang="en-IN" sz="1000" b="1" dirty="0"/>
              <a:t>Report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11" action="ppaction://hlinkfile"/>
              </a:rPr>
            </a:br>
            <a:r>
              <a:rPr lang="en-IN" sz="1000" dirty="0">
                <a:hlinkClick r:id="rId11" action="ppaction://hlinkfile"/>
              </a:rPr>
              <a:t>Stock 1</a:t>
            </a:r>
            <a:br>
              <a:rPr lang="en-IN" sz="1000" dirty="0">
                <a:hlinkClick r:id="rId11" action="ppaction://hlinkfile"/>
              </a:rPr>
            </a:br>
            <a:endParaRPr lang="en-IN" sz="1000" dirty="0">
              <a:hlinkClick r:id="rId11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11" action="ppaction://hlinkfile"/>
              </a:rPr>
              <a:t>Stock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11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11" action="ppaction://hlinkfile"/>
              </a:rPr>
              <a:t>Stock 3</a:t>
            </a:r>
            <a:endParaRPr lang="en-IN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5A5CFB-81E8-BAB8-0686-E90EE84F444B}"/>
              </a:ext>
            </a:extLst>
          </p:cNvPr>
          <p:cNvSpPr txBox="1"/>
          <p:nvPr/>
        </p:nvSpPr>
        <p:spPr>
          <a:xfrm>
            <a:off x="4926902" y="1942576"/>
            <a:ext cx="15026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Customs </a:t>
            </a:r>
            <a:br>
              <a:rPr lang="en-IN" sz="1000" b="1" dirty="0"/>
            </a:br>
            <a:r>
              <a:rPr lang="en-IN" sz="1000" b="1" dirty="0"/>
              <a:t>Transaction Report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>
                <a:hlinkClick r:id="rId11" action="ppaction://hlinkfile"/>
              </a:rPr>
              <a:t>Customs Transaction 1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11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11" action="ppaction://hlinkfile"/>
              </a:rPr>
              <a:t>Customs Transaction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11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11" action="ppaction://hlinkfile"/>
              </a:rPr>
              <a:t>Customs Transaction 3</a:t>
            </a:r>
            <a:endParaRPr lang="en-IN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F31B67-2C37-0CEB-6C02-7D741C2AA178}"/>
              </a:ext>
            </a:extLst>
          </p:cNvPr>
          <p:cNvSpPr txBox="1"/>
          <p:nvPr/>
        </p:nvSpPr>
        <p:spPr>
          <a:xfrm>
            <a:off x="6304257" y="1942576"/>
            <a:ext cx="150269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Reconciliation Report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11" action="ppaction://hlinkfile"/>
              </a:rPr>
            </a:br>
            <a:br>
              <a:rPr lang="en-IN" sz="1000" dirty="0">
                <a:hlinkClick r:id="rId11" action="ppaction://hlinkfile"/>
              </a:rPr>
            </a:br>
            <a:r>
              <a:rPr lang="en-IN" sz="1000" dirty="0">
                <a:hlinkClick r:id="rId11" action="ppaction://hlinkfile"/>
              </a:rPr>
              <a:t>Reconciliation Report 1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11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11" action="ppaction://hlinkfile"/>
              </a:rPr>
              <a:t>Reconciliation Report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11" action="ppaction://hlinkfil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76E3D-9C6D-F478-ACB0-0FE342F58BC7}"/>
              </a:ext>
            </a:extLst>
          </p:cNvPr>
          <p:cNvSpPr txBox="1"/>
          <p:nvPr/>
        </p:nvSpPr>
        <p:spPr>
          <a:xfrm>
            <a:off x="7674690" y="1942576"/>
            <a:ext cx="82549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  <a:p>
            <a:pPr algn="ctr">
              <a:spcAft>
                <a:spcPts val="600"/>
              </a:spcAft>
            </a:pPr>
            <a:endParaRPr lang="en-IN" sz="1000" dirty="0"/>
          </a:p>
          <a:p>
            <a:pPr algn="ctr">
              <a:spcAft>
                <a:spcPts val="600"/>
              </a:spcAft>
            </a:pPr>
            <a:r>
              <a:rPr lang="en-IN" sz="1000" dirty="0"/>
              <a:t>NA</a:t>
            </a:r>
          </a:p>
          <a:p>
            <a:pPr algn="ctr">
              <a:spcAft>
                <a:spcPts val="600"/>
              </a:spcAft>
            </a:pPr>
            <a:endParaRPr lang="en-IN" sz="1000" dirty="0"/>
          </a:p>
          <a:p>
            <a:pPr algn="ctr">
              <a:spcAft>
                <a:spcPts val="600"/>
              </a:spcAft>
            </a:pPr>
            <a:r>
              <a:rPr lang="en-IN" sz="1000" dirty="0"/>
              <a:t>NA</a:t>
            </a:r>
          </a:p>
        </p:txBody>
      </p:sp>
      <p:pic>
        <p:nvPicPr>
          <p:cNvPr id="19" name="Graphic 18" descr="Chat outline">
            <a:extLst>
              <a:ext uri="{FF2B5EF4-FFF2-40B4-BE49-F238E27FC236}">
                <a16:creationId xmlns:a16="http://schemas.microsoft.com/office/drawing/2014/main" id="{5AE997AD-9A66-D11F-CAB6-9B4719C23B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21" name="Graphic 20" descr="Chat outline">
            <a:extLst>
              <a:ext uri="{FF2B5EF4-FFF2-40B4-BE49-F238E27FC236}">
                <a16:creationId xmlns:a16="http://schemas.microsoft.com/office/drawing/2014/main" id="{6989E27F-9B29-CEFA-0BEB-1E5F6A1FB64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22" name="Graphic 21" descr="Chat outline">
            <a:extLst>
              <a:ext uri="{FF2B5EF4-FFF2-40B4-BE49-F238E27FC236}">
                <a16:creationId xmlns:a16="http://schemas.microsoft.com/office/drawing/2014/main" id="{B47D3178-E6D7-5732-B4DC-7C0E8B869D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1841" y="3332345"/>
            <a:ext cx="252000" cy="252000"/>
          </a:xfrm>
          <a:prstGeom prst="rect">
            <a:avLst/>
          </a:prstGeom>
        </p:spPr>
      </p:pic>
      <p:pic>
        <p:nvPicPr>
          <p:cNvPr id="25" name="Graphic 24" descr="Chat outline">
            <a:extLst>
              <a:ext uri="{FF2B5EF4-FFF2-40B4-BE49-F238E27FC236}">
                <a16:creationId xmlns:a16="http://schemas.microsoft.com/office/drawing/2014/main" id="{1FCADFF2-D2C8-6478-E6AA-2D68799F8B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1841" y="3767802"/>
            <a:ext cx="252000" cy="252000"/>
          </a:xfrm>
          <a:prstGeom prst="rect">
            <a:avLst/>
          </a:prstGeom>
        </p:spPr>
      </p:pic>
      <p:pic>
        <p:nvPicPr>
          <p:cNvPr id="29" name="Graphic 28" descr="Chat outline">
            <a:extLst>
              <a:ext uri="{FF2B5EF4-FFF2-40B4-BE49-F238E27FC236}">
                <a16:creationId xmlns:a16="http://schemas.microsoft.com/office/drawing/2014/main" id="{C63E61B9-11B6-F8EC-B4E1-CDE93542E2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1841" y="4254908"/>
            <a:ext cx="252000" cy="252000"/>
          </a:xfrm>
          <a:prstGeom prst="rect">
            <a:avLst/>
          </a:prstGeom>
        </p:spPr>
      </p:pic>
      <p:pic>
        <p:nvPicPr>
          <p:cNvPr id="30" name="Graphic 29" descr="Chat outline">
            <a:extLst>
              <a:ext uri="{FF2B5EF4-FFF2-40B4-BE49-F238E27FC236}">
                <a16:creationId xmlns:a16="http://schemas.microsoft.com/office/drawing/2014/main" id="{43DE6D68-C555-4C44-CC1A-85841CE56F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1841" y="4690358"/>
            <a:ext cx="252000" cy="25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1D63E80-F041-34B9-D40C-87C1802049BB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873E88-807D-91CB-7431-E643DA1C793A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266605-82A4-72D5-6B1A-2E759BFEC8D5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74CB153-18CC-F67A-7129-AE6372ABA857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791" y="2171482"/>
            <a:ext cx="251464" cy="123052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B95F8B9-56CD-7750-44FE-75BCD5E10B0C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6013BE-4F5D-0B72-85C0-EFFA848E6F27}"/>
              </a:ext>
            </a:extLst>
          </p:cNvPr>
          <p:cNvSpPr txBox="1"/>
          <p:nvPr/>
        </p:nvSpPr>
        <p:spPr>
          <a:xfrm>
            <a:off x="9591336" y="5985368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Enter the message</a:t>
            </a:r>
          </a:p>
        </p:txBody>
      </p:sp>
      <p:pic>
        <p:nvPicPr>
          <p:cNvPr id="39" name="Graphic 38" descr="Paperclip with solid fill">
            <a:extLst>
              <a:ext uri="{FF2B5EF4-FFF2-40B4-BE49-F238E27FC236}">
                <a16:creationId xmlns:a16="http://schemas.microsoft.com/office/drawing/2014/main" id="{3FC19BD0-BD41-CD4C-C6E8-C7CAF5B9CFE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0CD4266-DA76-0660-82F3-F12B000DA501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1" name="Graphic 40" descr="Send with solid fill">
            <a:extLst>
              <a:ext uri="{FF2B5EF4-FFF2-40B4-BE49-F238E27FC236}">
                <a16:creationId xmlns:a16="http://schemas.microsoft.com/office/drawing/2014/main" id="{5A988B71-54C3-DF9C-0999-32604219E5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7828570-E05A-375D-CA22-BFB4070F2058}"/>
              </a:ext>
            </a:extLst>
          </p:cNvPr>
          <p:cNvSpPr txBox="1"/>
          <p:nvPr/>
        </p:nvSpPr>
        <p:spPr>
          <a:xfrm>
            <a:off x="9216368" y="2476573"/>
            <a:ext cx="288754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Please share the Customs Transaction Report for the month of March 2025. Only Stocks report is uploaded as of now.</a:t>
            </a:r>
          </a:p>
          <a:p>
            <a:endParaRPr lang="en-US" sz="1000" dirty="0"/>
          </a:p>
          <a:p>
            <a:endParaRPr lang="en-US" sz="1000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Oh, ok. Thanks for notifying. Uploaded now.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Let me share the Reconciliation Report at the earliest.</a:t>
            </a:r>
          </a:p>
          <a:p>
            <a:endParaRPr lang="en-US" sz="1000" b="1" dirty="0"/>
          </a:p>
          <a:p>
            <a:endParaRPr lang="en-US" sz="1000" b="1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Thank you!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FB7EFB-EB38-8790-CEA2-187058AD3153}"/>
              </a:ext>
            </a:extLst>
          </p:cNvPr>
          <p:cNvSpPr txBox="1"/>
          <p:nvPr/>
        </p:nvSpPr>
        <p:spPr>
          <a:xfrm>
            <a:off x="1906443" y="5050533"/>
            <a:ext cx="2225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Adhoc</a:t>
            </a:r>
            <a:r>
              <a:rPr lang="en-IN" sz="1200" b="1" dirty="0"/>
              <a:t> Reconciliation Report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43E9C7-DB66-4B6C-6E82-D5B15526D322}"/>
              </a:ext>
            </a:extLst>
          </p:cNvPr>
          <p:cNvSpPr txBox="1"/>
          <p:nvPr/>
        </p:nvSpPr>
        <p:spPr>
          <a:xfrm>
            <a:off x="1905821" y="1411417"/>
            <a:ext cx="2225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Code: AE-2347346576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A1982F-2EFE-54B0-4A90-227713FE7C59}"/>
              </a:ext>
            </a:extLst>
          </p:cNvPr>
          <p:cNvSpPr txBox="1"/>
          <p:nvPr/>
        </p:nvSpPr>
        <p:spPr>
          <a:xfrm>
            <a:off x="4045322" y="1411417"/>
            <a:ext cx="61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DHL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9DC145A-71A7-7C1B-F212-47A8128AD40F}"/>
              </a:ext>
            </a:extLst>
          </p:cNvPr>
          <p:cNvGrpSpPr/>
          <p:nvPr/>
        </p:nvGrpSpPr>
        <p:grpSpPr>
          <a:xfrm>
            <a:off x="7729040" y="1429374"/>
            <a:ext cx="1094801" cy="307777"/>
            <a:chOff x="7615422" y="1454723"/>
            <a:chExt cx="1094801" cy="30777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80587BB-14AD-AF02-0EEF-B65BD31AFA17}"/>
                </a:ext>
              </a:extLst>
            </p:cNvPr>
            <p:cNvSpPr/>
            <p:nvPr/>
          </p:nvSpPr>
          <p:spPr>
            <a:xfrm>
              <a:off x="7615422" y="1462859"/>
              <a:ext cx="1094801" cy="2888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/>
                <a:t>|  </a:t>
              </a:r>
            </a:p>
          </p:txBody>
        </p:sp>
        <p:pic>
          <p:nvPicPr>
            <p:cNvPr id="55" name="Graphic 27" descr="Caret Down with solid fill">
              <a:extLst>
                <a:ext uri="{FF2B5EF4-FFF2-40B4-BE49-F238E27FC236}">
                  <a16:creationId xmlns:a16="http://schemas.microsoft.com/office/drawing/2014/main" id="{3FC186B7-AABF-EA9B-2244-EB46F9C16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518362" y="1546901"/>
              <a:ext cx="140105" cy="1281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71402CA-914B-9EC3-1B73-CF7156017E2D}"/>
                </a:ext>
              </a:extLst>
            </p:cNvPr>
            <p:cNvSpPr txBox="1"/>
            <p:nvPr/>
          </p:nvSpPr>
          <p:spPr>
            <a:xfrm>
              <a:off x="7857539" y="1454723"/>
              <a:ext cx="589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Year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9EAC760-372E-6BE7-0129-54938BB625B8}"/>
              </a:ext>
            </a:extLst>
          </p:cNvPr>
          <p:cNvGrpSpPr/>
          <p:nvPr/>
        </p:nvGrpSpPr>
        <p:grpSpPr>
          <a:xfrm>
            <a:off x="1499491" y="2636826"/>
            <a:ext cx="290082" cy="338554"/>
            <a:chOff x="1407263" y="3081647"/>
            <a:chExt cx="290082" cy="338554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5513E3D-3B04-602D-6E70-BF8B9ECAF1A0}"/>
                </a:ext>
              </a:extLst>
            </p:cNvPr>
            <p:cNvSpPr/>
            <p:nvPr/>
          </p:nvSpPr>
          <p:spPr>
            <a:xfrm>
              <a:off x="1407263" y="3132505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7045D93-95CC-D38D-BB1B-5756D9694E4C}"/>
                </a:ext>
              </a:extLst>
            </p:cNvPr>
            <p:cNvSpPr txBox="1"/>
            <p:nvPr/>
          </p:nvSpPr>
          <p:spPr>
            <a:xfrm>
              <a:off x="1428451" y="3081647"/>
              <a:ext cx="2511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62F3F410-380E-BF1E-44F0-0535EF4209BF}"/>
              </a:ext>
            </a:extLst>
          </p:cNvPr>
          <p:cNvSpPr txBox="1"/>
          <p:nvPr/>
        </p:nvSpPr>
        <p:spPr>
          <a:xfrm>
            <a:off x="169208" y="1620817"/>
            <a:ext cx="1432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Declaration Audit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DB1391-2663-1504-59C5-22C6E7222CF3}"/>
              </a:ext>
            </a:extLst>
          </p:cNvPr>
          <p:cNvSpPr txBox="1"/>
          <p:nvPr/>
        </p:nvSpPr>
        <p:spPr>
          <a:xfrm>
            <a:off x="169208" y="2610935"/>
            <a:ext cx="1500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Stock Audit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59B72D9-EF78-D27C-71F3-B4E75ADE3A7E}"/>
              </a:ext>
            </a:extLst>
          </p:cNvPr>
          <p:cNvGrpSpPr/>
          <p:nvPr/>
        </p:nvGrpSpPr>
        <p:grpSpPr>
          <a:xfrm>
            <a:off x="1016611" y="1901333"/>
            <a:ext cx="987224" cy="338554"/>
            <a:chOff x="1398197" y="3081647"/>
            <a:chExt cx="577076" cy="313332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3DBEF47-9330-5A64-69AA-D2B7E05AFF61}"/>
                </a:ext>
              </a:extLst>
            </p:cNvPr>
            <p:cNvSpPr/>
            <p:nvPr/>
          </p:nvSpPr>
          <p:spPr>
            <a:xfrm>
              <a:off x="1407263" y="3132505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BE61032-C7EC-6BC1-9C77-46BB52CCC07D}"/>
                </a:ext>
              </a:extLst>
            </p:cNvPr>
            <p:cNvSpPr txBox="1"/>
            <p:nvPr/>
          </p:nvSpPr>
          <p:spPr>
            <a:xfrm>
              <a:off x="1398197" y="3081647"/>
              <a:ext cx="577076" cy="313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125</a:t>
              </a:r>
            </a:p>
          </p:txBody>
        </p:sp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A86ACC62-B12E-A773-F634-5F909997D13F}"/>
              </a:ext>
            </a:extLst>
          </p:cNvPr>
          <p:cNvPicPr>
            <a:picLocks noChangeAspect="1"/>
          </p:cNvPicPr>
          <p:nvPr/>
        </p:nvPicPr>
        <p:blipFill>
          <a:blip r:embed="rId2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51124" y="3282598"/>
            <a:ext cx="269644" cy="269644"/>
          </a:xfrm>
          <a:prstGeom prst="rect">
            <a:avLst/>
          </a:prstGeom>
        </p:spPr>
      </p:pic>
      <p:pic>
        <p:nvPicPr>
          <p:cNvPr id="2" name="Graphic 1" descr="Chat outline">
            <a:extLst>
              <a:ext uri="{FF2B5EF4-FFF2-40B4-BE49-F238E27FC236}">
                <a16:creationId xmlns:a16="http://schemas.microsoft.com/office/drawing/2014/main" id="{9B62F79C-EB06-5FFB-E666-59B53DC8FB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1841" y="5416409"/>
            <a:ext cx="252000" cy="252000"/>
          </a:xfrm>
          <a:prstGeom prst="rect">
            <a:avLst/>
          </a:prstGeom>
        </p:spPr>
      </p:pic>
      <p:pic>
        <p:nvPicPr>
          <p:cNvPr id="7" name="Graphic 6" descr="Chat outline">
            <a:extLst>
              <a:ext uri="{FF2B5EF4-FFF2-40B4-BE49-F238E27FC236}">
                <a16:creationId xmlns:a16="http://schemas.microsoft.com/office/drawing/2014/main" id="{DFB48B41-0B45-584F-09C1-6263FDC75B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1841" y="5861809"/>
            <a:ext cx="252000" cy="25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FAD325-B871-F97C-F1ED-1A2E514413D7}"/>
              </a:ext>
            </a:extLst>
          </p:cNvPr>
          <p:cNvSpPr txBox="1"/>
          <p:nvPr/>
        </p:nvSpPr>
        <p:spPr>
          <a:xfrm>
            <a:off x="1906443" y="5376869"/>
            <a:ext cx="6504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err="1"/>
              <a:t>Adhoc</a:t>
            </a:r>
            <a:r>
              <a:rPr lang="en-IN" sz="1000" dirty="0"/>
              <a:t> 1              2/4/2024        2/4/2025               </a:t>
            </a:r>
            <a:r>
              <a:rPr lang="en-IN" sz="1000" dirty="0">
                <a:hlinkClick r:id="rId11" action="ppaction://hlinkfile"/>
              </a:rPr>
              <a:t>Stock</a:t>
            </a:r>
            <a:r>
              <a:rPr lang="en-IN" sz="1000" dirty="0"/>
              <a:t>         </a:t>
            </a:r>
            <a:r>
              <a:rPr lang="en-IN" sz="1000" dirty="0">
                <a:hlinkClick r:id="rId11" action="ppaction://hlinkfile"/>
              </a:rPr>
              <a:t>Customs Transactions</a:t>
            </a:r>
            <a:r>
              <a:rPr lang="en-IN" sz="1000" dirty="0"/>
              <a:t>          </a:t>
            </a:r>
            <a:r>
              <a:rPr lang="en-IN" sz="1000" dirty="0">
                <a:hlinkClick r:id="rId11" action="ppaction://hlinkfile"/>
              </a:rPr>
              <a:t>Reconciliation Adhoc1</a:t>
            </a:r>
            <a:r>
              <a:rPr lang="en-IN" sz="1000" dirty="0"/>
              <a:t>         Closed</a:t>
            </a:r>
            <a:br>
              <a:rPr lang="en-IN" sz="1000" dirty="0">
                <a:hlinkClick r:id="rId11" action="ppaction://hlinkfile"/>
              </a:rPr>
            </a:br>
            <a:r>
              <a:rPr lang="en-IN" sz="1000" dirty="0"/>
              <a:t>                                                                                             </a:t>
            </a:r>
            <a:r>
              <a:rPr lang="en-IN" sz="1000" dirty="0">
                <a:hlinkClick r:id="rId11" action="ppaction://hlinkfile"/>
              </a:rPr>
              <a:t>Adhoc1</a:t>
            </a:r>
            <a:r>
              <a:rPr lang="en-IN" sz="1000" dirty="0"/>
              <a:t>      </a:t>
            </a:r>
            <a:r>
              <a:rPr lang="en-IN" sz="1000" dirty="0" err="1">
                <a:hlinkClick r:id="rId11" action="ppaction://hlinkfile"/>
              </a:rPr>
              <a:t>Adhoc1</a:t>
            </a:r>
            <a:endParaRPr lang="en-IN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D7CF2-D027-8C7E-5585-1B68B058130A}"/>
              </a:ext>
            </a:extLst>
          </p:cNvPr>
          <p:cNvSpPr txBox="1"/>
          <p:nvPr/>
        </p:nvSpPr>
        <p:spPr>
          <a:xfrm>
            <a:off x="1905821" y="5851440"/>
            <a:ext cx="6504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err="1"/>
              <a:t>Adhoc</a:t>
            </a:r>
            <a:r>
              <a:rPr lang="en-IN" sz="1000" dirty="0"/>
              <a:t> 2              2/4/2025       1/6/2025               </a:t>
            </a:r>
            <a:r>
              <a:rPr lang="en-IN" sz="1000" dirty="0">
                <a:hlinkClick r:id="rId11" action="ppaction://hlinkfile"/>
              </a:rPr>
              <a:t>Stock</a:t>
            </a:r>
            <a:r>
              <a:rPr lang="en-IN" sz="1000" dirty="0"/>
              <a:t>         </a:t>
            </a:r>
            <a:r>
              <a:rPr lang="en-IN" sz="1000" dirty="0">
                <a:hlinkClick r:id="rId11" action="ppaction://hlinkfile"/>
              </a:rPr>
              <a:t>Customs Transactions</a:t>
            </a:r>
            <a:r>
              <a:rPr lang="en-IN" sz="1000" dirty="0"/>
              <a:t>          </a:t>
            </a:r>
            <a:r>
              <a:rPr lang="en-IN" sz="1000" dirty="0">
                <a:hlinkClick r:id="rId11" action="ppaction://hlinkfile"/>
              </a:rPr>
              <a:t>Reconciliation Adhoc2</a:t>
            </a:r>
            <a:r>
              <a:rPr lang="en-IN" sz="1000" dirty="0"/>
              <a:t>         Closed</a:t>
            </a:r>
            <a:br>
              <a:rPr lang="en-IN" sz="1000" dirty="0">
                <a:hlinkClick r:id="rId11" action="ppaction://hlinkfile"/>
              </a:rPr>
            </a:br>
            <a:r>
              <a:rPr lang="en-IN" sz="1000" dirty="0"/>
              <a:t>                                                                                             </a:t>
            </a:r>
            <a:r>
              <a:rPr lang="en-IN" sz="1000" dirty="0">
                <a:hlinkClick r:id="rId11" action="ppaction://hlinkfile"/>
              </a:rPr>
              <a:t>Adhoc2</a:t>
            </a:r>
            <a:r>
              <a:rPr lang="en-IN" sz="1000" dirty="0"/>
              <a:t>      </a:t>
            </a:r>
            <a:r>
              <a:rPr lang="en-IN" sz="1000" dirty="0" err="1">
                <a:hlinkClick r:id="rId11" action="ppaction://hlinkfile"/>
              </a:rPr>
              <a:t>Adhoc2</a:t>
            </a:r>
            <a:endParaRPr lang="en-IN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838A1B-B97F-E74A-B093-28C104A70523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868" y="5053705"/>
            <a:ext cx="262603" cy="26260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87B7B81-CE9D-69A0-C0B1-538EC191D5EF}"/>
              </a:ext>
            </a:extLst>
          </p:cNvPr>
          <p:cNvSpPr txBox="1"/>
          <p:nvPr/>
        </p:nvSpPr>
        <p:spPr>
          <a:xfrm>
            <a:off x="9223823" y="6421434"/>
            <a:ext cx="8972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21CF55-EC24-2689-02E4-4C3AC8CBD164}"/>
              </a:ext>
            </a:extLst>
          </p:cNvPr>
          <p:cNvGrpSpPr/>
          <p:nvPr/>
        </p:nvGrpSpPr>
        <p:grpSpPr>
          <a:xfrm>
            <a:off x="9265825" y="1697034"/>
            <a:ext cx="944766" cy="267556"/>
            <a:chOff x="9509665" y="6380794"/>
            <a:chExt cx="944766" cy="26755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74F5F7B-218A-125D-2547-706F63F369A9}"/>
                </a:ext>
              </a:extLst>
            </p:cNvPr>
            <p:cNvSpPr/>
            <p:nvPr/>
          </p:nvSpPr>
          <p:spPr>
            <a:xfrm>
              <a:off x="9509665" y="6394434"/>
              <a:ext cx="944766" cy="25391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49732F-D8B6-5D8F-C6FE-9BFAAF802127}"/>
                </a:ext>
              </a:extLst>
            </p:cNvPr>
            <p:cNvSpPr txBox="1"/>
            <p:nvPr/>
          </p:nvSpPr>
          <p:spPr>
            <a:xfrm>
              <a:off x="9591336" y="6380794"/>
              <a:ext cx="785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Everyone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BC896A9-1188-A4EF-150A-4E817361A04F}"/>
              </a:ext>
            </a:extLst>
          </p:cNvPr>
          <p:cNvGrpSpPr/>
          <p:nvPr/>
        </p:nvGrpSpPr>
        <p:grpSpPr>
          <a:xfrm>
            <a:off x="11135927" y="1676703"/>
            <a:ext cx="944766" cy="267556"/>
            <a:chOff x="9509665" y="6380794"/>
            <a:chExt cx="944766" cy="267556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95B515B1-F312-E4AA-32A4-4E754B08190C}"/>
                </a:ext>
              </a:extLst>
            </p:cNvPr>
            <p:cNvSpPr/>
            <p:nvPr/>
          </p:nvSpPr>
          <p:spPr>
            <a:xfrm>
              <a:off x="9509665" y="6394434"/>
              <a:ext cx="944766" cy="25391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509827F-D5B3-A1BF-8FC6-5101CF057B31}"/>
                </a:ext>
              </a:extLst>
            </p:cNvPr>
            <p:cNvSpPr txBox="1"/>
            <p:nvPr/>
          </p:nvSpPr>
          <p:spPr>
            <a:xfrm>
              <a:off x="9591336" y="6380794"/>
              <a:ext cx="7857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Manager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9273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68DE-A1F3-3F55-4751-C8196B6D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FA020-0922-4FCD-4D32-FA606E530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en-US" sz="4800" dirty="0"/>
              <a:t>Reviewer &amp; Viewer</a:t>
            </a:r>
          </a:p>
        </p:txBody>
      </p:sp>
    </p:spTree>
    <p:extLst>
      <p:ext uri="{BB962C8B-B14F-4D97-AF65-F5344CB8AC3E}">
        <p14:creationId xmlns:p14="http://schemas.microsoft.com/office/powerpoint/2010/main" val="3894836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827B-FEFC-9490-7767-07221864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rectangle">
            <a:extLst>
              <a:ext uri="{FF2B5EF4-FFF2-40B4-BE49-F238E27FC236}">
                <a16:creationId xmlns:a16="http://schemas.microsoft.com/office/drawing/2014/main" id="{5A17B6CB-6D35-107F-4949-387D478B7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817" y="2450"/>
            <a:ext cx="10357014" cy="976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64F740-B0A0-230A-036E-7EAB3CFA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16" y="365126"/>
            <a:ext cx="8964283" cy="57054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Declaration Audit Status Summary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29348DFC-69EA-30E1-768D-4A57EF48BC0E}"/>
              </a:ext>
            </a:extLst>
          </p:cNvPr>
          <p:cNvSpPr/>
          <p:nvPr/>
        </p:nvSpPr>
        <p:spPr>
          <a:xfrm>
            <a:off x="2309935" y="534272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DE7F5C-FC58-9FFB-05A9-CAE32B55B8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" y="0"/>
            <a:ext cx="1837190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7D0035-E00E-0D5E-8AA3-1CFE37487DB7}"/>
              </a:ext>
            </a:extLst>
          </p:cNvPr>
          <p:cNvSpPr txBox="1"/>
          <p:nvPr/>
        </p:nvSpPr>
        <p:spPr>
          <a:xfrm>
            <a:off x="430049" y="4048006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Declaration Audit</a:t>
            </a:r>
          </a:p>
        </p:txBody>
      </p:sp>
      <p:pic>
        <p:nvPicPr>
          <p:cNvPr id="12" name="Picture 11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56720DF2-78D9-6C5F-6B04-7160CD3706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80" y="4214196"/>
            <a:ext cx="234175" cy="23417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39AE8B6-4DB1-F383-336E-25046C44D761}"/>
              </a:ext>
            </a:extLst>
          </p:cNvPr>
          <p:cNvGrpSpPr/>
          <p:nvPr/>
        </p:nvGrpSpPr>
        <p:grpSpPr>
          <a:xfrm>
            <a:off x="1132705" y="4311476"/>
            <a:ext cx="1003609" cy="338554"/>
            <a:chOff x="1595334" y="4018146"/>
            <a:chExt cx="1003609" cy="33855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90E7626-7EE9-ACE3-E160-AB840B0CE171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24E5929-FF0A-BC32-1B66-DD35EF3146BA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18A61F6-2357-88F8-B398-4C23ABF3490C}"/>
              </a:ext>
            </a:extLst>
          </p:cNvPr>
          <p:cNvSpPr txBox="1"/>
          <p:nvPr/>
        </p:nvSpPr>
        <p:spPr>
          <a:xfrm>
            <a:off x="420755" y="4912668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Stock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Audit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8F4262-98B2-7553-AFED-DE3F5E510B3A}"/>
              </a:ext>
            </a:extLst>
          </p:cNvPr>
          <p:cNvGrpSpPr/>
          <p:nvPr/>
        </p:nvGrpSpPr>
        <p:grpSpPr>
          <a:xfrm>
            <a:off x="1106802" y="5187803"/>
            <a:ext cx="1003609" cy="338554"/>
            <a:chOff x="1595334" y="4018146"/>
            <a:chExt cx="1003609" cy="338554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E051B2F-916A-27A3-B0C0-BC1EC822B6AE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FB555B-32E9-DFCE-3350-B10C26799DCA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2A93A37F-16DA-12FB-70AA-5E7D3D9D8A8C}"/>
              </a:ext>
            </a:extLst>
          </p:cNvPr>
          <p:cNvSpPr txBox="1"/>
          <p:nvPr/>
        </p:nvSpPr>
        <p:spPr>
          <a:xfrm>
            <a:off x="3202143" y="1215682"/>
            <a:ext cx="304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AE-2347346576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8FED18-EF21-B215-4809-6C6E152B24C2}"/>
              </a:ext>
            </a:extLst>
          </p:cNvPr>
          <p:cNvSpPr txBox="1"/>
          <p:nvPr/>
        </p:nvSpPr>
        <p:spPr>
          <a:xfrm>
            <a:off x="1995214" y="1203881"/>
            <a:ext cx="150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Code: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85F059-E3E1-C53F-5EF8-E2242E755B69}"/>
              </a:ext>
            </a:extLst>
          </p:cNvPr>
          <p:cNvSpPr txBox="1"/>
          <p:nvPr/>
        </p:nvSpPr>
        <p:spPr>
          <a:xfrm>
            <a:off x="4491975" y="1211027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DHL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014BEE-4D69-F1AE-B0E0-D3F6A1986A67}"/>
              </a:ext>
            </a:extLst>
          </p:cNvPr>
          <p:cNvSpPr txBox="1"/>
          <p:nvPr/>
        </p:nvSpPr>
        <p:spPr>
          <a:xfrm>
            <a:off x="1906443" y="1942576"/>
            <a:ext cx="8663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No.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4567579807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2345987654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2345769807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4576980876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4357698076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2B6534-BFA3-92C2-6578-98CF89BFC913}"/>
              </a:ext>
            </a:extLst>
          </p:cNvPr>
          <p:cNvSpPr txBox="1"/>
          <p:nvPr/>
        </p:nvSpPr>
        <p:spPr>
          <a:xfrm>
            <a:off x="3332753" y="1948378"/>
            <a:ext cx="54027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Issue Count</a:t>
            </a:r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endParaRPr lang="en-IN" sz="1000" dirty="0"/>
          </a:p>
          <a:p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4</a:t>
            </a:r>
          </a:p>
          <a:p>
            <a:endParaRPr lang="en-IN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E7852C-B11C-B404-93B9-502AF1A73BDC}"/>
              </a:ext>
            </a:extLst>
          </p:cNvPr>
          <p:cNvSpPr txBox="1"/>
          <p:nvPr/>
        </p:nvSpPr>
        <p:spPr>
          <a:xfrm>
            <a:off x="2713505" y="1942576"/>
            <a:ext cx="726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Date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23BE54-C416-8D99-21D8-A50A082CCE45}"/>
              </a:ext>
            </a:extLst>
          </p:cNvPr>
          <p:cNvSpPr txBox="1"/>
          <p:nvPr/>
        </p:nvSpPr>
        <p:spPr>
          <a:xfrm>
            <a:off x="3765723" y="1959828"/>
            <a:ext cx="726252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Auditor Findings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Wrong CFI</a:t>
            </a:r>
            <a:br>
              <a:rPr lang="en-IN" sz="1000" dirty="0"/>
            </a:br>
            <a:br>
              <a:rPr lang="en-IN" sz="1000" dirty="0"/>
            </a:b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CFI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E35273-46CE-72B8-8053-735F02EDDF77}"/>
              </a:ext>
            </a:extLst>
          </p:cNvPr>
          <p:cNvSpPr txBox="1"/>
          <p:nvPr/>
        </p:nvSpPr>
        <p:spPr>
          <a:xfrm>
            <a:off x="4401604" y="1948879"/>
            <a:ext cx="116909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Auditor </a:t>
            </a:r>
            <a:br>
              <a:rPr lang="en-IN" sz="1000" b="1" dirty="0"/>
            </a:br>
            <a:r>
              <a:rPr lang="en-IN" sz="1000" b="1" dirty="0"/>
              <a:t>Remarks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CFI value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CFI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E97FCA-3E2F-9A35-A6E0-173F8191F5DE}"/>
              </a:ext>
            </a:extLst>
          </p:cNvPr>
          <p:cNvSpPr txBox="1"/>
          <p:nvPr/>
        </p:nvSpPr>
        <p:spPr>
          <a:xfrm>
            <a:off x="5480488" y="1938355"/>
            <a:ext cx="7622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Response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6" action="ppaction://hlinkfile"/>
              </a:rPr>
            </a:br>
            <a:r>
              <a:rPr lang="en-IN" sz="1000" dirty="0"/>
              <a:t>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6AB91FB-CFD1-B2BC-1453-074229B4E76D}"/>
              </a:ext>
            </a:extLst>
          </p:cNvPr>
          <p:cNvSpPr txBox="1"/>
          <p:nvPr/>
        </p:nvSpPr>
        <p:spPr>
          <a:xfrm>
            <a:off x="6170685" y="1932707"/>
            <a:ext cx="8254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Remarks</a:t>
            </a:r>
          </a:p>
          <a:p>
            <a:br>
              <a:rPr lang="en-IN" sz="1000" dirty="0"/>
            </a:br>
            <a:r>
              <a:rPr lang="en-IN" sz="1000" dirty="0"/>
              <a:t>Updated</a:t>
            </a:r>
          </a:p>
          <a:p>
            <a:endParaRPr lang="en-IN" sz="1000" dirty="0"/>
          </a:p>
          <a:p>
            <a:endParaRPr lang="en-IN" sz="1000" dirty="0"/>
          </a:p>
          <a:p>
            <a:r>
              <a:rPr lang="en-IN" sz="1000" dirty="0">
                <a:solidFill>
                  <a:schemeClr val="bg1">
                    <a:lumMod val="65000"/>
                  </a:schemeClr>
                </a:solidFill>
              </a:rPr>
              <a:t>Enter the message</a:t>
            </a:r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Updated latest doc</a:t>
            </a:r>
          </a:p>
        </p:txBody>
      </p:sp>
      <p:pic>
        <p:nvPicPr>
          <p:cNvPr id="79" name="Graphic 78" descr="Chat outline">
            <a:extLst>
              <a:ext uri="{FF2B5EF4-FFF2-40B4-BE49-F238E27FC236}">
                <a16:creationId xmlns:a16="http://schemas.microsoft.com/office/drawing/2014/main" id="{CA295138-5CE7-9217-3042-3265D54501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80" name="Graphic 79" descr="Chat outline">
            <a:extLst>
              <a:ext uri="{FF2B5EF4-FFF2-40B4-BE49-F238E27FC236}">
                <a16:creationId xmlns:a16="http://schemas.microsoft.com/office/drawing/2014/main" id="{CCB79A8A-EA4E-D6CF-831F-F854108DF6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81" name="Graphic 80" descr="Chat outline">
            <a:extLst>
              <a:ext uri="{FF2B5EF4-FFF2-40B4-BE49-F238E27FC236}">
                <a16:creationId xmlns:a16="http://schemas.microsoft.com/office/drawing/2014/main" id="{59478E96-2382-4FDF-CD44-3146BE09E9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9548" y="3420588"/>
            <a:ext cx="252000" cy="252000"/>
          </a:xfrm>
          <a:prstGeom prst="rect">
            <a:avLst/>
          </a:prstGeom>
        </p:spPr>
      </p:pic>
      <p:pic>
        <p:nvPicPr>
          <p:cNvPr id="82" name="Graphic 81" descr="Chat outline">
            <a:extLst>
              <a:ext uri="{FF2B5EF4-FFF2-40B4-BE49-F238E27FC236}">
                <a16:creationId xmlns:a16="http://schemas.microsoft.com/office/drawing/2014/main" id="{24FB5E40-2F5E-F6D0-A308-CC5037B8F3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3812120"/>
            <a:ext cx="252000" cy="252000"/>
          </a:xfrm>
          <a:prstGeom prst="rect">
            <a:avLst/>
          </a:prstGeom>
        </p:spPr>
      </p:pic>
      <p:pic>
        <p:nvPicPr>
          <p:cNvPr id="83" name="Graphic 82" descr="Chat outline">
            <a:extLst>
              <a:ext uri="{FF2B5EF4-FFF2-40B4-BE49-F238E27FC236}">
                <a16:creationId xmlns:a16="http://schemas.microsoft.com/office/drawing/2014/main" id="{7FF1B6F7-63A7-D55B-60E8-3033A589DD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4129501"/>
            <a:ext cx="252000" cy="25200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EF20B0E6-8961-0CBF-F9E1-1A787886AE29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8A0CC61-FB45-ACEB-B170-57F4065D0C74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A0C766-39D0-AE05-91C1-24BEA08BF263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A97E7524-EF70-8F00-7CAA-495D637F4A7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791" y="2171482"/>
            <a:ext cx="251464" cy="123052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E4879160-57CE-48E4-FA6B-3E4B842ECBC1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4CCED47-B20C-3177-8E0A-3AB077DEDE87}"/>
              </a:ext>
            </a:extLst>
          </p:cNvPr>
          <p:cNvSpPr txBox="1"/>
          <p:nvPr/>
        </p:nvSpPr>
        <p:spPr>
          <a:xfrm>
            <a:off x="9591336" y="5985368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Enter the message</a:t>
            </a:r>
          </a:p>
        </p:txBody>
      </p:sp>
      <p:pic>
        <p:nvPicPr>
          <p:cNvPr id="90" name="Graphic 89" descr="Paperclip with solid fill">
            <a:extLst>
              <a:ext uri="{FF2B5EF4-FFF2-40B4-BE49-F238E27FC236}">
                <a16:creationId xmlns:a16="http://schemas.microsoft.com/office/drawing/2014/main" id="{EA8CA3E1-D36D-9679-33EA-24D8AD0A06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7132862-3C14-87B8-8C0F-EF208853955D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2" name="Graphic 91" descr="Send with solid fill">
            <a:extLst>
              <a:ext uri="{FF2B5EF4-FFF2-40B4-BE49-F238E27FC236}">
                <a16:creationId xmlns:a16="http://schemas.microsoft.com/office/drawing/2014/main" id="{321BDB86-C51E-049B-CEEE-839C91637D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04373B53-5A64-6157-4DD3-855466E9AF9D}"/>
              </a:ext>
            </a:extLst>
          </p:cNvPr>
          <p:cNvSpPr txBox="1"/>
          <p:nvPr/>
        </p:nvSpPr>
        <p:spPr>
          <a:xfrm>
            <a:off x="9216368" y="2476573"/>
            <a:ext cx="28875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I noticed there’s an incorrect currency value in the Invoice document</a:t>
            </a:r>
          </a:p>
          <a:p>
            <a:endParaRPr lang="en-US" sz="1000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Got it. I’ll double-check the source file and re-upload  the corrected version.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Yes please</a:t>
            </a:r>
          </a:p>
          <a:p>
            <a:endParaRPr lang="en-US" sz="1000" b="1" dirty="0"/>
          </a:p>
          <a:p>
            <a:endParaRPr lang="en-US" sz="1000" b="1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I’ve updated the document.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6E05719-EC8D-9609-7235-91A5BBC1581B}"/>
              </a:ext>
            </a:extLst>
          </p:cNvPr>
          <p:cNvSpPr txBox="1"/>
          <p:nvPr/>
        </p:nvSpPr>
        <p:spPr>
          <a:xfrm>
            <a:off x="6938957" y="1950240"/>
            <a:ext cx="82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Actions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Not Started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6A84F83-61D8-5D83-9571-51CB874B523C}"/>
              </a:ext>
            </a:extLst>
          </p:cNvPr>
          <p:cNvSpPr txBox="1"/>
          <p:nvPr/>
        </p:nvSpPr>
        <p:spPr>
          <a:xfrm>
            <a:off x="7670630" y="1950240"/>
            <a:ext cx="90699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Client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Auditor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2238682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251C6-6DE4-2C39-41BF-86FE7EB6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rectangle">
            <a:extLst>
              <a:ext uri="{FF2B5EF4-FFF2-40B4-BE49-F238E27FC236}">
                <a16:creationId xmlns:a16="http://schemas.microsoft.com/office/drawing/2014/main" id="{E807402C-32AA-25FC-19A0-CF257AAB7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817" y="2450"/>
            <a:ext cx="10357014" cy="976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E3E132-FA88-A927-5DC6-C7E82C552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16" y="365126"/>
            <a:ext cx="8964283" cy="57054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Declaration Audit Status Summary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F6845B07-5DFE-7E02-AE20-F2FA8612D907}"/>
              </a:ext>
            </a:extLst>
          </p:cNvPr>
          <p:cNvSpPr/>
          <p:nvPr/>
        </p:nvSpPr>
        <p:spPr>
          <a:xfrm>
            <a:off x="2309935" y="534272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B9A0DF-6A02-6AEE-BE0A-772EA149A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" y="0"/>
            <a:ext cx="1837190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F356ED-0266-2705-9840-BC8A9E8F2F90}"/>
              </a:ext>
            </a:extLst>
          </p:cNvPr>
          <p:cNvSpPr txBox="1"/>
          <p:nvPr/>
        </p:nvSpPr>
        <p:spPr>
          <a:xfrm>
            <a:off x="430049" y="4048006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Declaration Audit</a:t>
            </a:r>
          </a:p>
        </p:txBody>
      </p:sp>
      <p:pic>
        <p:nvPicPr>
          <p:cNvPr id="12" name="Picture 11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ABBADCDD-0539-5D47-A456-FA614C8515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80" y="4214196"/>
            <a:ext cx="234175" cy="23417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2532BB6-F9F8-2D28-1C77-CF6C3CB42C57}"/>
              </a:ext>
            </a:extLst>
          </p:cNvPr>
          <p:cNvGrpSpPr/>
          <p:nvPr/>
        </p:nvGrpSpPr>
        <p:grpSpPr>
          <a:xfrm>
            <a:off x="1132705" y="4311476"/>
            <a:ext cx="1003609" cy="338554"/>
            <a:chOff x="1595334" y="4018146"/>
            <a:chExt cx="1003609" cy="33855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182D355-DFE6-9BB7-7223-6A70E3C44655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E97624-EB6B-ADD9-10BD-31121F852A59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17226B1-EB17-0229-9D6A-23100B99DCC4}"/>
              </a:ext>
            </a:extLst>
          </p:cNvPr>
          <p:cNvSpPr txBox="1"/>
          <p:nvPr/>
        </p:nvSpPr>
        <p:spPr>
          <a:xfrm>
            <a:off x="420755" y="4912668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Stock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Audit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5C0B4-999A-DDAF-A9FB-8326462ED077}"/>
              </a:ext>
            </a:extLst>
          </p:cNvPr>
          <p:cNvGrpSpPr/>
          <p:nvPr/>
        </p:nvGrpSpPr>
        <p:grpSpPr>
          <a:xfrm>
            <a:off x="1106802" y="5187803"/>
            <a:ext cx="1003609" cy="338554"/>
            <a:chOff x="1595334" y="4018146"/>
            <a:chExt cx="1003609" cy="338554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4DA98F1-17FB-B641-6DEF-31963A13F26F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E81668-AA25-DDD8-AF6A-6D07B37F6414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4E336C85-D9F5-2C61-83F6-FC036139E3A2}"/>
              </a:ext>
            </a:extLst>
          </p:cNvPr>
          <p:cNvSpPr txBox="1"/>
          <p:nvPr/>
        </p:nvSpPr>
        <p:spPr>
          <a:xfrm>
            <a:off x="3202143" y="1215682"/>
            <a:ext cx="304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AE-2347346576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3133335-3443-3420-20FC-8BA8A7A493F3}"/>
              </a:ext>
            </a:extLst>
          </p:cNvPr>
          <p:cNvSpPr txBox="1"/>
          <p:nvPr/>
        </p:nvSpPr>
        <p:spPr>
          <a:xfrm>
            <a:off x="1995214" y="1203881"/>
            <a:ext cx="150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Code: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5C6A3C-F582-75D6-1796-F97848C5421B}"/>
              </a:ext>
            </a:extLst>
          </p:cNvPr>
          <p:cNvSpPr txBox="1"/>
          <p:nvPr/>
        </p:nvSpPr>
        <p:spPr>
          <a:xfrm>
            <a:off x="4491975" y="1211027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DHL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3F2317-07DF-A511-8029-80A81E1198D5}"/>
              </a:ext>
            </a:extLst>
          </p:cNvPr>
          <p:cNvSpPr txBox="1"/>
          <p:nvPr/>
        </p:nvSpPr>
        <p:spPr>
          <a:xfrm>
            <a:off x="1906443" y="1942576"/>
            <a:ext cx="8663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No.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4567579807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2345987654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2345769807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4576980876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4357698076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D3AAC1-7F1B-E35A-4B4A-5058E732E0FE}"/>
              </a:ext>
            </a:extLst>
          </p:cNvPr>
          <p:cNvSpPr txBox="1"/>
          <p:nvPr/>
        </p:nvSpPr>
        <p:spPr>
          <a:xfrm>
            <a:off x="3332753" y="1948378"/>
            <a:ext cx="54027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Issue Count</a:t>
            </a:r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endParaRPr lang="en-IN" sz="1000" dirty="0"/>
          </a:p>
          <a:p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4</a:t>
            </a:r>
          </a:p>
          <a:p>
            <a:endParaRPr lang="en-IN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0A96CD-537C-0D0D-6313-C72DAA0151E0}"/>
              </a:ext>
            </a:extLst>
          </p:cNvPr>
          <p:cNvSpPr txBox="1"/>
          <p:nvPr/>
        </p:nvSpPr>
        <p:spPr>
          <a:xfrm>
            <a:off x="2713505" y="1942576"/>
            <a:ext cx="726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Date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F5A6BA-2E7C-3239-2032-4C0831CBD95C}"/>
              </a:ext>
            </a:extLst>
          </p:cNvPr>
          <p:cNvSpPr txBox="1"/>
          <p:nvPr/>
        </p:nvSpPr>
        <p:spPr>
          <a:xfrm>
            <a:off x="3765723" y="1959828"/>
            <a:ext cx="726252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Auditor Findings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Wrong CFI</a:t>
            </a:r>
            <a:br>
              <a:rPr lang="en-IN" sz="1000" dirty="0"/>
            </a:br>
            <a:br>
              <a:rPr lang="en-IN" sz="1000" dirty="0"/>
            </a:b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CFI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120A58E-F943-7C5C-D7E5-EA0EBD772687}"/>
              </a:ext>
            </a:extLst>
          </p:cNvPr>
          <p:cNvSpPr txBox="1"/>
          <p:nvPr/>
        </p:nvSpPr>
        <p:spPr>
          <a:xfrm>
            <a:off x="4401604" y="1948879"/>
            <a:ext cx="116909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Auditor </a:t>
            </a:r>
            <a:br>
              <a:rPr lang="en-IN" sz="1000" b="1" dirty="0"/>
            </a:br>
            <a:r>
              <a:rPr lang="en-IN" sz="1000" b="1" dirty="0"/>
              <a:t>Remarks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CFI value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CFI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10B572-A8E7-B2BA-FCD5-1FDDF3D82EB4}"/>
              </a:ext>
            </a:extLst>
          </p:cNvPr>
          <p:cNvSpPr txBox="1"/>
          <p:nvPr/>
        </p:nvSpPr>
        <p:spPr>
          <a:xfrm>
            <a:off x="5480488" y="1938355"/>
            <a:ext cx="7622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Response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6" action="ppaction://hlinkfile"/>
              </a:rPr>
            </a:br>
            <a:r>
              <a:rPr lang="en-IN" sz="1000" dirty="0"/>
              <a:t>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DD5437D-0A48-7F4D-64F8-934954675C49}"/>
              </a:ext>
            </a:extLst>
          </p:cNvPr>
          <p:cNvSpPr txBox="1"/>
          <p:nvPr/>
        </p:nvSpPr>
        <p:spPr>
          <a:xfrm>
            <a:off x="6170685" y="1932707"/>
            <a:ext cx="8254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Remarks</a:t>
            </a:r>
          </a:p>
          <a:p>
            <a:br>
              <a:rPr lang="en-IN" sz="1000" dirty="0"/>
            </a:br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Updated latest doc</a:t>
            </a:r>
          </a:p>
        </p:txBody>
      </p:sp>
      <p:pic>
        <p:nvPicPr>
          <p:cNvPr id="79" name="Graphic 78" descr="Chat outline">
            <a:extLst>
              <a:ext uri="{FF2B5EF4-FFF2-40B4-BE49-F238E27FC236}">
                <a16:creationId xmlns:a16="http://schemas.microsoft.com/office/drawing/2014/main" id="{0D18EB46-4E6B-43F3-0BCB-9828B4FE38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80" name="Graphic 79" descr="Chat outline">
            <a:extLst>
              <a:ext uri="{FF2B5EF4-FFF2-40B4-BE49-F238E27FC236}">
                <a16:creationId xmlns:a16="http://schemas.microsoft.com/office/drawing/2014/main" id="{4F9073DF-1DB7-9B7B-8963-DF7F2C4DCB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81" name="Graphic 80" descr="Chat outline">
            <a:extLst>
              <a:ext uri="{FF2B5EF4-FFF2-40B4-BE49-F238E27FC236}">
                <a16:creationId xmlns:a16="http://schemas.microsoft.com/office/drawing/2014/main" id="{8EB50B2A-02BA-4782-370F-3B008682C3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9548" y="3420588"/>
            <a:ext cx="252000" cy="252000"/>
          </a:xfrm>
          <a:prstGeom prst="rect">
            <a:avLst/>
          </a:prstGeom>
        </p:spPr>
      </p:pic>
      <p:pic>
        <p:nvPicPr>
          <p:cNvPr id="82" name="Graphic 81" descr="Chat outline">
            <a:extLst>
              <a:ext uri="{FF2B5EF4-FFF2-40B4-BE49-F238E27FC236}">
                <a16:creationId xmlns:a16="http://schemas.microsoft.com/office/drawing/2014/main" id="{A059D8A6-726A-26FF-F8EF-D0F7A70DD4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3812120"/>
            <a:ext cx="252000" cy="252000"/>
          </a:xfrm>
          <a:prstGeom prst="rect">
            <a:avLst/>
          </a:prstGeom>
        </p:spPr>
      </p:pic>
      <p:pic>
        <p:nvPicPr>
          <p:cNvPr id="83" name="Graphic 82" descr="Chat outline">
            <a:extLst>
              <a:ext uri="{FF2B5EF4-FFF2-40B4-BE49-F238E27FC236}">
                <a16:creationId xmlns:a16="http://schemas.microsoft.com/office/drawing/2014/main" id="{93A02981-D2EF-A445-0E11-840764F6D0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4129501"/>
            <a:ext cx="252000" cy="25200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11A4AF5E-022A-F170-56F9-7040184D20CE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BD9C8C4-AAB4-23D1-A082-E2B44F5D1FA0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F6C9663-56BF-A1B9-0C40-66AC27D20406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29A3F351-C52D-4E2F-8586-6765B5450BC2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791" y="2171482"/>
            <a:ext cx="251464" cy="123052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4B40F05B-9147-68DE-CCB4-8C3544E99878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5C77AA-D00A-89C7-8C9D-E17609EEB63C}"/>
              </a:ext>
            </a:extLst>
          </p:cNvPr>
          <p:cNvSpPr txBox="1"/>
          <p:nvPr/>
        </p:nvSpPr>
        <p:spPr>
          <a:xfrm>
            <a:off x="9591336" y="5985368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Enter the message</a:t>
            </a:r>
          </a:p>
        </p:txBody>
      </p:sp>
      <p:pic>
        <p:nvPicPr>
          <p:cNvPr id="90" name="Graphic 89" descr="Paperclip with solid fill">
            <a:extLst>
              <a:ext uri="{FF2B5EF4-FFF2-40B4-BE49-F238E27FC236}">
                <a16:creationId xmlns:a16="http://schemas.microsoft.com/office/drawing/2014/main" id="{A808AB3C-C781-81F4-F250-E8C75ED4E15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CB044B2-F455-8BD1-DE57-9A9AD0E6DF74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2" name="Graphic 91" descr="Send with solid fill">
            <a:extLst>
              <a:ext uri="{FF2B5EF4-FFF2-40B4-BE49-F238E27FC236}">
                <a16:creationId xmlns:a16="http://schemas.microsoft.com/office/drawing/2014/main" id="{89D0DA0B-A6F2-5816-75FF-29024EB84A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4315530A-798A-6FF3-6DF3-DF66FB795183}"/>
              </a:ext>
            </a:extLst>
          </p:cNvPr>
          <p:cNvSpPr txBox="1"/>
          <p:nvPr/>
        </p:nvSpPr>
        <p:spPr>
          <a:xfrm>
            <a:off x="9216368" y="2476573"/>
            <a:ext cx="28875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I noticed there’s an incorrect currency value in the Invoice document</a:t>
            </a:r>
          </a:p>
          <a:p>
            <a:endParaRPr lang="en-US" sz="1000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Got it. I’ll double-check the source file and re-upload  the corrected version.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Yes please</a:t>
            </a:r>
          </a:p>
          <a:p>
            <a:endParaRPr lang="en-US" sz="1000" b="1" dirty="0"/>
          </a:p>
          <a:p>
            <a:endParaRPr lang="en-US" sz="1000" b="1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I’ve updated the document.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6915FF9-CACC-1B40-5663-74BBD250BDBB}"/>
              </a:ext>
            </a:extLst>
          </p:cNvPr>
          <p:cNvSpPr txBox="1"/>
          <p:nvPr/>
        </p:nvSpPr>
        <p:spPr>
          <a:xfrm>
            <a:off x="6938957" y="1950240"/>
            <a:ext cx="82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Actions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Not Started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F008C44-82B5-002D-8752-B7484738DA02}"/>
              </a:ext>
            </a:extLst>
          </p:cNvPr>
          <p:cNvSpPr txBox="1"/>
          <p:nvPr/>
        </p:nvSpPr>
        <p:spPr>
          <a:xfrm>
            <a:off x="7670630" y="1950240"/>
            <a:ext cx="90699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Client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Auditor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D5CD11-CFB5-AFDA-82D4-B02E912815A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706" y="2826194"/>
            <a:ext cx="4677913" cy="352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95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4DCFA-1D07-3EFB-4FF7-A2EEC107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rectangle">
            <a:extLst>
              <a:ext uri="{FF2B5EF4-FFF2-40B4-BE49-F238E27FC236}">
                <a16:creationId xmlns:a16="http://schemas.microsoft.com/office/drawing/2014/main" id="{5B8A22F8-1AF5-EE99-0B2A-B8CC89A48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817" y="2450"/>
            <a:ext cx="10357014" cy="976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19181E-35AF-242D-1EC1-7F8FC1B2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16" y="365126"/>
            <a:ext cx="8964283" cy="57054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Declaration Audit Status Summary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899CAC41-5521-A924-6365-6D0CBB0FD475}"/>
              </a:ext>
            </a:extLst>
          </p:cNvPr>
          <p:cNvSpPr/>
          <p:nvPr/>
        </p:nvSpPr>
        <p:spPr>
          <a:xfrm>
            <a:off x="2309935" y="534272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521C01-0C84-ACB0-611B-E3097C2FD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" y="0"/>
            <a:ext cx="1837190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FC412B-0CE0-D854-D408-ECB7B4C7D1D9}"/>
              </a:ext>
            </a:extLst>
          </p:cNvPr>
          <p:cNvSpPr txBox="1"/>
          <p:nvPr/>
        </p:nvSpPr>
        <p:spPr>
          <a:xfrm>
            <a:off x="430049" y="4048006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Declaration Audit</a:t>
            </a:r>
          </a:p>
        </p:txBody>
      </p:sp>
      <p:pic>
        <p:nvPicPr>
          <p:cNvPr id="12" name="Picture 11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12024368-842E-D4B1-C233-18564047D5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80" y="4214196"/>
            <a:ext cx="234175" cy="23417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FDBD50E-3EC1-A578-9798-892262B12A27}"/>
              </a:ext>
            </a:extLst>
          </p:cNvPr>
          <p:cNvGrpSpPr/>
          <p:nvPr/>
        </p:nvGrpSpPr>
        <p:grpSpPr>
          <a:xfrm>
            <a:off x="1132705" y="4311476"/>
            <a:ext cx="1003609" cy="338554"/>
            <a:chOff x="1595334" y="4018146"/>
            <a:chExt cx="1003609" cy="33855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4C9B680-8895-AC2A-D99E-5AB8DCBEDBA2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DB01ED-C154-C223-AB45-D1AF092A7DC0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94F7172-8E34-CFFB-3760-8BE2D246EDA4}"/>
              </a:ext>
            </a:extLst>
          </p:cNvPr>
          <p:cNvSpPr txBox="1"/>
          <p:nvPr/>
        </p:nvSpPr>
        <p:spPr>
          <a:xfrm>
            <a:off x="420755" y="4912668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Stock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Audit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ACC495-E06C-3BFA-2C36-BB2ECFB575F6}"/>
              </a:ext>
            </a:extLst>
          </p:cNvPr>
          <p:cNvGrpSpPr/>
          <p:nvPr/>
        </p:nvGrpSpPr>
        <p:grpSpPr>
          <a:xfrm>
            <a:off x="1106802" y="5187803"/>
            <a:ext cx="1003609" cy="338554"/>
            <a:chOff x="1595334" y="4018146"/>
            <a:chExt cx="1003609" cy="338554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0D95DCD-7BCB-C9B1-E06E-99B25228044D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DD7FE7A-64EC-300F-BA39-521054AC38E1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5483CE5A-27C1-1692-1B3E-7A4EC824BA69}"/>
              </a:ext>
            </a:extLst>
          </p:cNvPr>
          <p:cNvSpPr txBox="1"/>
          <p:nvPr/>
        </p:nvSpPr>
        <p:spPr>
          <a:xfrm>
            <a:off x="3202143" y="1215682"/>
            <a:ext cx="304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AE-2347346576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57376D8-D30D-2C2B-D9BD-1449D3A14460}"/>
              </a:ext>
            </a:extLst>
          </p:cNvPr>
          <p:cNvSpPr txBox="1"/>
          <p:nvPr/>
        </p:nvSpPr>
        <p:spPr>
          <a:xfrm>
            <a:off x="1995214" y="1203881"/>
            <a:ext cx="150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Code: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78C6CD0-194E-2CA7-D3B7-403322408B09}"/>
              </a:ext>
            </a:extLst>
          </p:cNvPr>
          <p:cNvSpPr txBox="1"/>
          <p:nvPr/>
        </p:nvSpPr>
        <p:spPr>
          <a:xfrm>
            <a:off x="4491975" y="1211027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DHL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1428EA4-5473-DD7E-017D-42A2E4AECF2A}"/>
              </a:ext>
            </a:extLst>
          </p:cNvPr>
          <p:cNvSpPr txBox="1"/>
          <p:nvPr/>
        </p:nvSpPr>
        <p:spPr>
          <a:xfrm>
            <a:off x="1906443" y="1942576"/>
            <a:ext cx="8663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No.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4567579807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2345987654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2345769807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4576980876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4357698076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7075467-893D-124A-AC2D-369AB0635DF3}"/>
              </a:ext>
            </a:extLst>
          </p:cNvPr>
          <p:cNvSpPr txBox="1"/>
          <p:nvPr/>
        </p:nvSpPr>
        <p:spPr>
          <a:xfrm>
            <a:off x="3332753" y="1948378"/>
            <a:ext cx="54027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Issue Count</a:t>
            </a:r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endParaRPr lang="en-IN" sz="1000" dirty="0"/>
          </a:p>
          <a:p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4</a:t>
            </a:r>
          </a:p>
          <a:p>
            <a:endParaRPr lang="en-IN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384F72-0626-4A8A-63BC-287AAEC25A35}"/>
              </a:ext>
            </a:extLst>
          </p:cNvPr>
          <p:cNvSpPr txBox="1"/>
          <p:nvPr/>
        </p:nvSpPr>
        <p:spPr>
          <a:xfrm>
            <a:off x="2713505" y="1942576"/>
            <a:ext cx="726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Date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690AC5-A95B-81D9-EC5D-DC7FEF834E06}"/>
              </a:ext>
            </a:extLst>
          </p:cNvPr>
          <p:cNvSpPr txBox="1"/>
          <p:nvPr/>
        </p:nvSpPr>
        <p:spPr>
          <a:xfrm>
            <a:off x="3765723" y="1959828"/>
            <a:ext cx="726252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Auditor Findings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Wrong CFI</a:t>
            </a:r>
            <a:br>
              <a:rPr lang="en-IN" sz="1000" dirty="0"/>
            </a:br>
            <a:br>
              <a:rPr lang="en-IN" sz="1000" dirty="0"/>
            </a:b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CFI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2119E29-16FF-8C64-D3A2-2609C98B0436}"/>
              </a:ext>
            </a:extLst>
          </p:cNvPr>
          <p:cNvSpPr txBox="1"/>
          <p:nvPr/>
        </p:nvSpPr>
        <p:spPr>
          <a:xfrm>
            <a:off x="4401604" y="1948879"/>
            <a:ext cx="116909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Auditor </a:t>
            </a:r>
            <a:br>
              <a:rPr lang="en-IN" sz="1000" b="1" dirty="0"/>
            </a:br>
            <a:r>
              <a:rPr lang="en-IN" sz="1000" b="1" dirty="0"/>
              <a:t>Remarks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CFI value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CFI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DFD2B51-EA39-38A7-5720-A17D2C93318C}"/>
              </a:ext>
            </a:extLst>
          </p:cNvPr>
          <p:cNvSpPr txBox="1"/>
          <p:nvPr/>
        </p:nvSpPr>
        <p:spPr>
          <a:xfrm>
            <a:off x="5480488" y="1938355"/>
            <a:ext cx="7622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Response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6" action="ppaction://hlinkfile"/>
              </a:rPr>
            </a:br>
            <a:r>
              <a:rPr lang="en-IN" sz="1000" dirty="0"/>
              <a:t>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EC2C70C-86DE-F848-CD54-943C6203BB94}"/>
              </a:ext>
            </a:extLst>
          </p:cNvPr>
          <p:cNvSpPr txBox="1"/>
          <p:nvPr/>
        </p:nvSpPr>
        <p:spPr>
          <a:xfrm>
            <a:off x="6170685" y="1932707"/>
            <a:ext cx="8254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Remarks</a:t>
            </a:r>
          </a:p>
          <a:p>
            <a:br>
              <a:rPr lang="en-IN" sz="1000" dirty="0"/>
            </a:br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Updated latest doc</a:t>
            </a:r>
          </a:p>
        </p:txBody>
      </p:sp>
      <p:pic>
        <p:nvPicPr>
          <p:cNvPr id="79" name="Graphic 78" descr="Chat outline">
            <a:extLst>
              <a:ext uri="{FF2B5EF4-FFF2-40B4-BE49-F238E27FC236}">
                <a16:creationId xmlns:a16="http://schemas.microsoft.com/office/drawing/2014/main" id="{AF6AC8ED-F9CA-1063-A61E-6076072F26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80" name="Graphic 79" descr="Chat outline">
            <a:extLst>
              <a:ext uri="{FF2B5EF4-FFF2-40B4-BE49-F238E27FC236}">
                <a16:creationId xmlns:a16="http://schemas.microsoft.com/office/drawing/2014/main" id="{D2656547-4761-9E92-5C5F-637C12DF23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81" name="Graphic 80" descr="Chat outline">
            <a:extLst>
              <a:ext uri="{FF2B5EF4-FFF2-40B4-BE49-F238E27FC236}">
                <a16:creationId xmlns:a16="http://schemas.microsoft.com/office/drawing/2014/main" id="{80F41455-8FDB-25A0-8F7C-D8DB424C08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9548" y="3420588"/>
            <a:ext cx="252000" cy="252000"/>
          </a:xfrm>
          <a:prstGeom prst="rect">
            <a:avLst/>
          </a:prstGeom>
        </p:spPr>
      </p:pic>
      <p:pic>
        <p:nvPicPr>
          <p:cNvPr id="82" name="Graphic 81" descr="Chat outline">
            <a:extLst>
              <a:ext uri="{FF2B5EF4-FFF2-40B4-BE49-F238E27FC236}">
                <a16:creationId xmlns:a16="http://schemas.microsoft.com/office/drawing/2014/main" id="{7C4CCFD0-2DCA-741C-536C-F6C9E71ED3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3812120"/>
            <a:ext cx="252000" cy="252000"/>
          </a:xfrm>
          <a:prstGeom prst="rect">
            <a:avLst/>
          </a:prstGeom>
        </p:spPr>
      </p:pic>
      <p:pic>
        <p:nvPicPr>
          <p:cNvPr id="83" name="Graphic 82" descr="Chat outline">
            <a:extLst>
              <a:ext uri="{FF2B5EF4-FFF2-40B4-BE49-F238E27FC236}">
                <a16:creationId xmlns:a16="http://schemas.microsoft.com/office/drawing/2014/main" id="{A7D0E3C0-FCE5-6746-DBCF-660BEE5B81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4129501"/>
            <a:ext cx="252000" cy="25200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D8709716-59D3-0C84-87B0-C66C5A74A362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81FD2AE-F92A-D4F0-F9F4-5A4D23F8A5DC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F7D0F73-511D-A587-D34C-4D520155CF9A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93AF2CAD-C98E-19F1-D84E-12BA0CCD9AF1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791" y="2171482"/>
            <a:ext cx="251464" cy="123052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E46A0103-0D0A-5D58-2A5A-163A6A943709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F953CD-F877-CF85-567D-D8F33B0FEB69}"/>
              </a:ext>
            </a:extLst>
          </p:cNvPr>
          <p:cNvSpPr txBox="1"/>
          <p:nvPr/>
        </p:nvSpPr>
        <p:spPr>
          <a:xfrm>
            <a:off x="9591336" y="5985368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Enter the message</a:t>
            </a:r>
          </a:p>
        </p:txBody>
      </p:sp>
      <p:pic>
        <p:nvPicPr>
          <p:cNvPr id="90" name="Graphic 89" descr="Paperclip with solid fill">
            <a:extLst>
              <a:ext uri="{FF2B5EF4-FFF2-40B4-BE49-F238E27FC236}">
                <a16:creationId xmlns:a16="http://schemas.microsoft.com/office/drawing/2014/main" id="{5F3DE976-4F25-AC10-1E54-EEDC17EE50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F625B8B-1AFC-C3FB-6950-86FDA7F7FF5D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2" name="Graphic 91" descr="Send with solid fill">
            <a:extLst>
              <a:ext uri="{FF2B5EF4-FFF2-40B4-BE49-F238E27FC236}">
                <a16:creationId xmlns:a16="http://schemas.microsoft.com/office/drawing/2014/main" id="{18C70066-B869-E6A6-C802-9A4FF5B59C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F4C4EED9-2964-2801-F370-FE666C6E8989}"/>
              </a:ext>
            </a:extLst>
          </p:cNvPr>
          <p:cNvSpPr txBox="1"/>
          <p:nvPr/>
        </p:nvSpPr>
        <p:spPr>
          <a:xfrm>
            <a:off x="9216368" y="2476573"/>
            <a:ext cx="28875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I noticed there’s an incorrect currency value in the Invoice document</a:t>
            </a:r>
          </a:p>
          <a:p>
            <a:endParaRPr lang="en-US" sz="1000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Got it. I’ll double-check the source file and re-upload  the corrected version.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Yes please</a:t>
            </a:r>
          </a:p>
          <a:p>
            <a:endParaRPr lang="en-US" sz="1000" b="1" dirty="0"/>
          </a:p>
          <a:p>
            <a:endParaRPr lang="en-US" sz="1000" b="1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I’ve updated the document.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1C2A8E5-71F6-7007-1045-FAC232653483}"/>
              </a:ext>
            </a:extLst>
          </p:cNvPr>
          <p:cNvSpPr txBox="1"/>
          <p:nvPr/>
        </p:nvSpPr>
        <p:spPr>
          <a:xfrm>
            <a:off x="6938957" y="1950240"/>
            <a:ext cx="82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Actions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Not Started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C0A3944-18AF-13DD-A03D-4BE7A07EC108}"/>
              </a:ext>
            </a:extLst>
          </p:cNvPr>
          <p:cNvSpPr txBox="1"/>
          <p:nvPr/>
        </p:nvSpPr>
        <p:spPr>
          <a:xfrm>
            <a:off x="7670630" y="1950240"/>
            <a:ext cx="90699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Client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Auditor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F25482E-99A0-AB3A-9ED6-8C9430E7E233}"/>
              </a:ext>
            </a:extLst>
          </p:cNvPr>
          <p:cNvGrpSpPr/>
          <p:nvPr/>
        </p:nvGrpSpPr>
        <p:grpSpPr>
          <a:xfrm>
            <a:off x="11211233" y="4910247"/>
            <a:ext cx="782907" cy="647756"/>
            <a:chOff x="8044193" y="4533862"/>
            <a:chExt cx="1838474" cy="1438643"/>
          </a:xfrm>
        </p:grpSpPr>
        <p:pic>
          <p:nvPicPr>
            <p:cNvPr id="4" name="Graphic 11" descr="Document outline">
              <a:extLst>
                <a:ext uri="{FF2B5EF4-FFF2-40B4-BE49-F238E27FC236}">
                  <a16:creationId xmlns:a16="http://schemas.microsoft.com/office/drawing/2014/main" id="{9A171438-97F6-2FFB-95CC-52A47C992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044193" y="4533862"/>
              <a:ext cx="1561180" cy="1166051"/>
            </a:xfrm>
            <a:prstGeom prst="rect">
              <a:avLst/>
            </a:prstGeom>
          </p:spPr>
        </p:pic>
        <p:sp>
          <p:nvSpPr>
            <p:cNvPr id="5" name="Rectangle: Rounded Corners 13">
              <a:extLst>
                <a:ext uri="{FF2B5EF4-FFF2-40B4-BE49-F238E27FC236}">
                  <a16:creationId xmlns:a16="http://schemas.microsoft.com/office/drawing/2014/main" id="{EBAF291B-679A-EA0B-1FB3-FB5AEABCB0F9}"/>
                </a:ext>
              </a:extLst>
            </p:cNvPr>
            <p:cNvSpPr/>
            <p:nvPr/>
          </p:nvSpPr>
          <p:spPr>
            <a:xfrm>
              <a:off x="8120857" y="5654373"/>
              <a:ext cx="847088" cy="3181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Doc</a:t>
              </a:r>
            </a:p>
          </p:txBody>
        </p:sp>
        <p:sp>
          <p:nvSpPr>
            <p:cNvPr id="6" name="Rectangle: Rounded Corners 13">
              <a:extLst>
                <a:ext uri="{FF2B5EF4-FFF2-40B4-BE49-F238E27FC236}">
                  <a16:creationId xmlns:a16="http://schemas.microsoft.com/office/drawing/2014/main" id="{B3C33CCC-2871-A8A3-F1E2-BB07A781B405}"/>
                </a:ext>
              </a:extLst>
            </p:cNvPr>
            <p:cNvSpPr/>
            <p:nvPr/>
          </p:nvSpPr>
          <p:spPr>
            <a:xfrm>
              <a:off x="9035579" y="5645286"/>
              <a:ext cx="847088" cy="3181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Skip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1395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A629E-C321-C6B0-55C6-CA0EB6BE0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rectangle">
            <a:extLst>
              <a:ext uri="{FF2B5EF4-FFF2-40B4-BE49-F238E27FC236}">
                <a16:creationId xmlns:a16="http://schemas.microsoft.com/office/drawing/2014/main" id="{98CD7C0E-E3D8-498C-CD9B-F61506B12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817" y="2450"/>
            <a:ext cx="10357014" cy="976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284BBF-00D8-EEB7-E346-5BABED888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16" y="365126"/>
            <a:ext cx="8964283" cy="57054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Declaration Audit Status Summary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A4F56ACA-64BB-6B00-81DC-2CC65F0BF701}"/>
              </a:ext>
            </a:extLst>
          </p:cNvPr>
          <p:cNvSpPr/>
          <p:nvPr/>
        </p:nvSpPr>
        <p:spPr>
          <a:xfrm>
            <a:off x="2309935" y="534272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5D6207-A1CF-4881-6DF4-3607B3DDE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" y="0"/>
            <a:ext cx="1837190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C353F7-8717-10CA-647A-9731F46B0C31}"/>
              </a:ext>
            </a:extLst>
          </p:cNvPr>
          <p:cNvSpPr txBox="1"/>
          <p:nvPr/>
        </p:nvSpPr>
        <p:spPr>
          <a:xfrm>
            <a:off x="430049" y="4048006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Declaration Audit</a:t>
            </a:r>
          </a:p>
        </p:txBody>
      </p:sp>
      <p:pic>
        <p:nvPicPr>
          <p:cNvPr id="12" name="Picture 11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DE40794B-3844-A579-CFCB-C236310787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80" y="4214196"/>
            <a:ext cx="234175" cy="23417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98CDC85-46BD-CF3F-788A-258EB0692F7E}"/>
              </a:ext>
            </a:extLst>
          </p:cNvPr>
          <p:cNvGrpSpPr/>
          <p:nvPr/>
        </p:nvGrpSpPr>
        <p:grpSpPr>
          <a:xfrm>
            <a:off x="1132705" y="4311476"/>
            <a:ext cx="1003609" cy="338554"/>
            <a:chOff x="1595334" y="4018146"/>
            <a:chExt cx="1003609" cy="33855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D796AF2-4004-1A57-6B3C-87F9E7967A56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08F743B-42F7-1DCD-6FA5-A148C881258D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15905DE-2D79-D31D-46C0-98F93A5EC39F}"/>
              </a:ext>
            </a:extLst>
          </p:cNvPr>
          <p:cNvSpPr txBox="1"/>
          <p:nvPr/>
        </p:nvSpPr>
        <p:spPr>
          <a:xfrm>
            <a:off x="420755" y="4912668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Stock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Audit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3A0F7A4-1670-E7DA-BCDE-FFD9F79CF719}"/>
              </a:ext>
            </a:extLst>
          </p:cNvPr>
          <p:cNvGrpSpPr/>
          <p:nvPr/>
        </p:nvGrpSpPr>
        <p:grpSpPr>
          <a:xfrm>
            <a:off x="1106802" y="5187803"/>
            <a:ext cx="1003609" cy="338554"/>
            <a:chOff x="1595334" y="4018146"/>
            <a:chExt cx="1003609" cy="338554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2E692B8-C203-2D31-49C4-1F0FA44210A5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1FF1450-60FE-DCD0-7567-3A204C7EB348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68818C4B-A89D-E146-8368-C8B7E2D1884F}"/>
              </a:ext>
            </a:extLst>
          </p:cNvPr>
          <p:cNvSpPr txBox="1"/>
          <p:nvPr/>
        </p:nvSpPr>
        <p:spPr>
          <a:xfrm>
            <a:off x="3202143" y="1215682"/>
            <a:ext cx="304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AE-2347346576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30EA5EF-C719-1471-1299-93E8851915B6}"/>
              </a:ext>
            </a:extLst>
          </p:cNvPr>
          <p:cNvSpPr txBox="1"/>
          <p:nvPr/>
        </p:nvSpPr>
        <p:spPr>
          <a:xfrm>
            <a:off x="1995214" y="1203881"/>
            <a:ext cx="150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Code: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650C3B-2933-DAAA-746E-66C7818B67EB}"/>
              </a:ext>
            </a:extLst>
          </p:cNvPr>
          <p:cNvSpPr txBox="1"/>
          <p:nvPr/>
        </p:nvSpPr>
        <p:spPr>
          <a:xfrm>
            <a:off x="4491975" y="1211027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DHL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F5C9B95-26DA-33AC-A012-8E31050525D7}"/>
              </a:ext>
            </a:extLst>
          </p:cNvPr>
          <p:cNvSpPr txBox="1"/>
          <p:nvPr/>
        </p:nvSpPr>
        <p:spPr>
          <a:xfrm>
            <a:off x="1906443" y="1942576"/>
            <a:ext cx="8663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No.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4567579807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2345987654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2345769807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4576980876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4357698076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DD83D6-EFD5-3E68-4347-DB26AB558F08}"/>
              </a:ext>
            </a:extLst>
          </p:cNvPr>
          <p:cNvSpPr txBox="1"/>
          <p:nvPr/>
        </p:nvSpPr>
        <p:spPr>
          <a:xfrm>
            <a:off x="3332753" y="1948378"/>
            <a:ext cx="54027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Issue Count</a:t>
            </a:r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endParaRPr lang="en-IN" sz="1000" dirty="0"/>
          </a:p>
          <a:p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4</a:t>
            </a:r>
          </a:p>
          <a:p>
            <a:endParaRPr lang="en-IN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61CC706-0205-FD6C-9517-044FD4EBB7BA}"/>
              </a:ext>
            </a:extLst>
          </p:cNvPr>
          <p:cNvSpPr txBox="1"/>
          <p:nvPr/>
        </p:nvSpPr>
        <p:spPr>
          <a:xfrm>
            <a:off x="2713505" y="1942576"/>
            <a:ext cx="726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Date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15ED111-2AD2-B62C-BAD6-3C3AD314F1FC}"/>
              </a:ext>
            </a:extLst>
          </p:cNvPr>
          <p:cNvSpPr txBox="1"/>
          <p:nvPr/>
        </p:nvSpPr>
        <p:spPr>
          <a:xfrm>
            <a:off x="3765723" y="1959828"/>
            <a:ext cx="726252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Auditor Findings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Wrong CFI</a:t>
            </a:r>
            <a:br>
              <a:rPr lang="en-IN" sz="1000" dirty="0"/>
            </a:br>
            <a:br>
              <a:rPr lang="en-IN" sz="1000" dirty="0"/>
            </a:b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CFI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AD5230D-C79F-649B-990D-2992B18DC790}"/>
              </a:ext>
            </a:extLst>
          </p:cNvPr>
          <p:cNvSpPr txBox="1"/>
          <p:nvPr/>
        </p:nvSpPr>
        <p:spPr>
          <a:xfrm>
            <a:off x="4401604" y="1948879"/>
            <a:ext cx="116909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Auditor </a:t>
            </a:r>
            <a:br>
              <a:rPr lang="en-IN" sz="1000" b="1" dirty="0"/>
            </a:br>
            <a:r>
              <a:rPr lang="en-IN" sz="1000" b="1" dirty="0"/>
              <a:t>Remarks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CFI value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CFI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E1F649-4D1D-D2A5-0D31-F5498721A7EA}"/>
              </a:ext>
            </a:extLst>
          </p:cNvPr>
          <p:cNvSpPr txBox="1"/>
          <p:nvPr/>
        </p:nvSpPr>
        <p:spPr>
          <a:xfrm>
            <a:off x="5480488" y="1938355"/>
            <a:ext cx="7622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Response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6" action="ppaction://hlinkfile"/>
              </a:rPr>
            </a:br>
            <a:r>
              <a:rPr lang="en-IN" sz="1000" dirty="0"/>
              <a:t>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86B7F6-CB5E-F314-F072-6F91ACC1E2A9}"/>
              </a:ext>
            </a:extLst>
          </p:cNvPr>
          <p:cNvSpPr txBox="1"/>
          <p:nvPr/>
        </p:nvSpPr>
        <p:spPr>
          <a:xfrm>
            <a:off x="6170685" y="1932707"/>
            <a:ext cx="8254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Remarks</a:t>
            </a:r>
          </a:p>
          <a:p>
            <a:br>
              <a:rPr lang="en-IN" sz="1000" dirty="0"/>
            </a:br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Updated latest doc</a:t>
            </a:r>
          </a:p>
        </p:txBody>
      </p:sp>
      <p:pic>
        <p:nvPicPr>
          <p:cNvPr id="79" name="Graphic 78" descr="Chat outline">
            <a:extLst>
              <a:ext uri="{FF2B5EF4-FFF2-40B4-BE49-F238E27FC236}">
                <a16:creationId xmlns:a16="http://schemas.microsoft.com/office/drawing/2014/main" id="{ED413E3B-EA88-6D6D-6255-F627F7482E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80" name="Graphic 79" descr="Chat outline">
            <a:extLst>
              <a:ext uri="{FF2B5EF4-FFF2-40B4-BE49-F238E27FC236}">
                <a16:creationId xmlns:a16="http://schemas.microsoft.com/office/drawing/2014/main" id="{55A6151F-3FC2-3AB8-8B50-7720B5440E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81" name="Graphic 80" descr="Chat outline">
            <a:extLst>
              <a:ext uri="{FF2B5EF4-FFF2-40B4-BE49-F238E27FC236}">
                <a16:creationId xmlns:a16="http://schemas.microsoft.com/office/drawing/2014/main" id="{67DBAAA9-4A9C-2BA2-C934-BED35D8626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9548" y="3420588"/>
            <a:ext cx="252000" cy="252000"/>
          </a:xfrm>
          <a:prstGeom prst="rect">
            <a:avLst/>
          </a:prstGeom>
        </p:spPr>
      </p:pic>
      <p:pic>
        <p:nvPicPr>
          <p:cNvPr id="82" name="Graphic 81" descr="Chat outline">
            <a:extLst>
              <a:ext uri="{FF2B5EF4-FFF2-40B4-BE49-F238E27FC236}">
                <a16:creationId xmlns:a16="http://schemas.microsoft.com/office/drawing/2014/main" id="{86E99934-66C6-AF0A-F14E-75B808E7FE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3812120"/>
            <a:ext cx="252000" cy="252000"/>
          </a:xfrm>
          <a:prstGeom prst="rect">
            <a:avLst/>
          </a:prstGeom>
        </p:spPr>
      </p:pic>
      <p:pic>
        <p:nvPicPr>
          <p:cNvPr id="83" name="Graphic 82" descr="Chat outline">
            <a:extLst>
              <a:ext uri="{FF2B5EF4-FFF2-40B4-BE49-F238E27FC236}">
                <a16:creationId xmlns:a16="http://schemas.microsoft.com/office/drawing/2014/main" id="{69D53484-BA31-7F96-6364-6B783A2F64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4129501"/>
            <a:ext cx="252000" cy="25200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FCF822F8-3648-D74B-BB07-C17F7CF4E168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2E5A284-AB5C-2B75-DD44-1D3465CC5A09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F27FD6D-2002-E633-D0A3-5B99F7913C1F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13870ED-B66D-A0DA-787D-C31753F211AA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5A6D971-97A1-D5E5-6BE1-CCBEE767CDBF}"/>
              </a:ext>
            </a:extLst>
          </p:cNvPr>
          <p:cNvSpPr txBox="1"/>
          <p:nvPr/>
        </p:nvSpPr>
        <p:spPr>
          <a:xfrm>
            <a:off x="9591336" y="5985368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Enter the message</a:t>
            </a:r>
          </a:p>
        </p:txBody>
      </p:sp>
      <p:pic>
        <p:nvPicPr>
          <p:cNvPr id="90" name="Graphic 89" descr="Paperclip with solid fill">
            <a:extLst>
              <a:ext uri="{FF2B5EF4-FFF2-40B4-BE49-F238E27FC236}">
                <a16:creationId xmlns:a16="http://schemas.microsoft.com/office/drawing/2014/main" id="{55E88CFB-4FBD-6F51-FE0B-33A5698112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4F091C1-2388-5CC2-E3F9-8CD26F05E82F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2" name="Graphic 91" descr="Send with solid fill">
            <a:extLst>
              <a:ext uri="{FF2B5EF4-FFF2-40B4-BE49-F238E27FC236}">
                <a16:creationId xmlns:a16="http://schemas.microsoft.com/office/drawing/2014/main" id="{E7516ABB-BBFE-D07B-12AA-EFCFF0A6B1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0E7AC612-6C43-2681-23C7-489D99BF7D6D}"/>
              </a:ext>
            </a:extLst>
          </p:cNvPr>
          <p:cNvSpPr txBox="1"/>
          <p:nvPr/>
        </p:nvSpPr>
        <p:spPr>
          <a:xfrm>
            <a:off x="9216368" y="2476573"/>
            <a:ext cx="28875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I noticed there’s an incorrect currency value in the Invoice document</a:t>
            </a:r>
          </a:p>
          <a:p>
            <a:endParaRPr lang="en-US" sz="1000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Got it. I’ll double-check the source file and re-upload  the corrected version.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Yes please</a:t>
            </a:r>
          </a:p>
          <a:p>
            <a:endParaRPr lang="en-US" sz="1000" b="1" dirty="0"/>
          </a:p>
          <a:p>
            <a:endParaRPr lang="en-US" sz="1000" b="1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I’ve updated the document.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DDEE727-7FAD-A64F-23CB-7D5D2C68F0E2}"/>
              </a:ext>
            </a:extLst>
          </p:cNvPr>
          <p:cNvSpPr txBox="1"/>
          <p:nvPr/>
        </p:nvSpPr>
        <p:spPr>
          <a:xfrm>
            <a:off x="6938957" y="1950240"/>
            <a:ext cx="82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Actions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Not Started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51EAE6E-2F80-16F7-5D4A-D9C7A87B0CCC}"/>
              </a:ext>
            </a:extLst>
          </p:cNvPr>
          <p:cNvSpPr txBox="1"/>
          <p:nvPr/>
        </p:nvSpPr>
        <p:spPr>
          <a:xfrm>
            <a:off x="7670630" y="1950240"/>
            <a:ext cx="90699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Client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Auditor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5B6D4A-B083-2704-1967-1F2A99423F2A}"/>
              </a:ext>
            </a:extLst>
          </p:cNvPr>
          <p:cNvGrpSpPr/>
          <p:nvPr/>
        </p:nvGrpSpPr>
        <p:grpSpPr>
          <a:xfrm>
            <a:off x="11211233" y="4910247"/>
            <a:ext cx="782907" cy="647756"/>
            <a:chOff x="8044193" y="4533862"/>
            <a:chExt cx="1838474" cy="1438643"/>
          </a:xfrm>
        </p:grpSpPr>
        <p:pic>
          <p:nvPicPr>
            <p:cNvPr id="4" name="Graphic 11" descr="Document outline">
              <a:extLst>
                <a:ext uri="{FF2B5EF4-FFF2-40B4-BE49-F238E27FC236}">
                  <a16:creationId xmlns:a16="http://schemas.microsoft.com/office/drawing/2014/main" id="{B6918A86-84B9-ECDD-CB28-CAF7C3A78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044193" y="4533862"/>
              <a:ext cx="1561180" cy="1166051"/>
            </a:xfrm>
            <a:prstGeom prst="rect">
              <a:avLst/>
            </a:prstGeom>
          </p:spPr>
        </p:pic>
        <p:sp>
          <p:nvSpPr>
            <p:cNvPr id="5" name="Rectangle: Rounded Corners 13">
              <a:extLst>
                <a:ext uri="{FF2B5EF4-FFF2-40B4-BE49-F238E27FC236}">
                  <a16:creationId xmlns:a16="http://schemas.microsoft.com/office/drawing/2014/main" id="{E5C1E449-0E7C-B318-903E-70B209AF185F}"/>
                </a:ext>
              </a:extLst>
            </p:cNvPr>
            <p:cNvSpPr/>
            <p:nvPr/>
          </p:nvSpPr>
          <p:spPr>
            <a:xfrm>
              <a:off x="8120857" y="5654373"/>
              <a:ext cx="847088" cy="3181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OK</a:t>
              </a:r>
            </a:p>
          </p:txBody>
        </p:sp>
        <p:sp>
          <p:nvSpPr>
            <p:cNvPr id="6" name="Rectangle: Rounded Corners 13">
              <a:extLst>
                <a:ext uri="{FF2B5EF4-FFF2-40B4-BE49-F238E27FC236}">
                  <a16:creationId xmlns:a16="http://schemas.microsoft.com/office/drawing/2014/main" id="{51EF6100-1EEB-109F-ED03-4F7FFB4F095C}"/>
                </a:ext>
              </a:extLst>
            </p:cNvPr>
            <p:cNvSpPr/>
            <p:nvPr/>
          </p:nvSpPr>
          <p:spPr>
            <a:xfrm>
              <a:off x="9035579" y="5645286"/>
              <a:ext cx="847088" cy="3181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Skip</a:t>
              </a:r>
            </a:p>
          </p:txBody>
        </p:sp>
      </p:grp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BD9BB94E-71D7-6631-56C7-DECE16761BD4}"/>
              </a:ext>
            </a:extLst>
          </p:cNvPr>
          <p:cNvSpPr/>
          <p:nvPr/>
        </p:nvSpPr>
        <p:spPr>
          <a:xfrm>
            <a:off x="2933424" y="3401916"/>
            <a:ext cx="5281304" cy="27853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Document outline">
            <a:extLst>
              <a:ext uri="{FF2B5EF4-FFF2-40B4-BE49-F238E27FC236}">
                <a16:creationId xmlns:a16="http://schemas.microsoft.com/office/drawing/2014/main" id="{8BDE34F3-4B65-49FB-32FC-5D63FBA521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62939" y="3891597"/>
            <a:ext cx="1747257" cy="1295423"/>
          </a:xfrm>
          <a:prstGeom prst="rect">
            <a:avLst/>
          </a:prstGeom>
        </p:spPr>
      </p:pic>
      <p:sp>
        <p:nvSpPr>
          <p:cNvPr id="15" name="Rectangle: Rounded Corners 13">
            <a:extLst>
              <a:ext uri="{FF2B5EF4-FFF2-40B4-BE49-F238E27FC236}">
                <a16:creationId xmlns:a16="http://schemas.microsoft.com/office/drawing/2014/main" id="{3CCBF889-8124-0B05-B490-8F66F7EB161B}"/>
              </a:ext>
            </a:extLst>
          </p:cNvPr>
          <p:cNvSpPr/>
          <p:nvPr/>
        </p:nvSpPr>
        <p:spPr>
          <a:xfrm>
            <a:off x="3874554" y="5367775"/>
            <a:ext cx="1215153" cy="3938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Replace current Document</a:t>
            </a:r>
          </a:p>
        </p:txBody>
      </p:sp>
      <p:sp>
        <p:nvSpPr>
          <p:cNvPr id="16" name="Rectangle: Rounded Corners 13">
            <a:extLst>
              <a:ext uri="{FF2B5EF4-FFF2-40B4-BE49-F238E27FC236}">
                <a16:creationId xmlns:a16="http://schemas.microsoft.com/office/drawing/2014/main" id="{EE537A46-E83C-FD44-1F54-BC4DD05B1C81}"/>
              </a:ext>
            </a:extLst>
          </p:cNvPr>
          <p:cNvSpPr/>
          <p:nvPr/>
        </p:nvSpPr>
        <p:spPr>
          <a:xfrm>
            <a:off x="6293049" y="5357080"/>
            <a:ext cx="1215152" cy="404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Additional</a:t>
            </a:r>
          </a:p>
          <a:p>
            <a:pPr algn="ctr"/>
            <a:r>
              <a:rPr lang="en-US" sz="1100" dirty="0"/>
              <a:t>Document</a:t>
            </a:r>
          </a:p>
        </p:txBody>
      </p:sp>
    </p:spTree>
    <p:extLst>
      <p:ext uri="{BB962C8B-B14F-4D97-AF65-F5344CB8AC3E}">
        <p14:creationId xmlns:p14="http://schemas.microsoft.com/office/powerpoint/2010/main" val="1169177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8F8F2-14D4-0D4C-3459-52D297E4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rectangle">
            <a:extLst>
              <a:ext uri="{FF2B5EF4-FFF2-40B4-BE49-F238E27FC236}">
                <a16:creationId xmlns:a16="http://schemas.microsoft.com/office/drawing/2014/main" id="{0EB3D978-7E9C-9BF7-9B78-5DFB70511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817" y="2450"/>
            <a:ext cx="10357014" cy="976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0AB6C-D9DA-E60C-4408-212C3618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16" y="365126"/>
            <a:ext cx="8964283" cy="57054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Declaration Audit Status Summary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AC128F4C-9A05-CAC2-E41B-18C39410BCC9}"/>
              </a:ext>
            </a:extLst>
          </p:cNvPr>
          <p:cNvSpPr/>
          <p:nvPr/>
        </p:nvSpPr>
        <p:spPr>
          <a:xfrm>
            <a:off x="2309935" y="534272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E06BC4-3863-AC7E-E857-6F62DD174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" y="0"/>
            <a:ext cx="1837190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E83106-B7BA-6E15-0B50-6D956A5B61E7}"/>
              </a:ext>
            </a:extLst>
          </p:cNvPr>
          <p:cNvSpPr txBox="1"/>
          <p:nvPr/>
        </p:nvSpPr>
        <p:spPr>
          <a:xfrm>
            <a:off x="430049" y="4048006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Declaration Audit</a:t>
            </a:r>
          </a:p>
        </p:txBody>
      </p:sp>
      <p:pic>
        <p:nvPicPr>
          <p:cNvPr id="12" name="Picture 11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146AC336-4351-054E-375C-650DFBDAF1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80" y="4214196"/>
            <a:ext cx="234175" cy="23417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ECA4885-91B1-E1DA-7BFC-61769A7C3221}"/>
              </a:ext>
            </a:extLst>
          </p:cNvPr>
          <p:cNvGrpSpPr/>
          <p:nvPr/>
        </p:nvGrpSpPr>
        <p:grpSpPr>
          <a:xfrm>
            <a:off x="1132705" y="4311476"/>
            <a:ext cx="1003609" cy="338554"/>
            <a:chOff x="1595334" y="4018146"/>
            <a:chExt cx="1003609" cy="33855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94FC903-8989-89C1-8517-573709FD3B4B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7CDB2E-E3A5-6743-1422-97EAB2EA728D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79B39B9-FEF0-A001-A6C6-7E4DD1CF4FD2}"/>
              </a:ext>
            </a:extLst>
          </p:cNvPr>
          <p:cNvSpPr txBox="1"/>
          <p:nvPr/>
        </p:nvSpPr>
        <p:spPr>
          <a:xfrm>
            <a:off x="420755" y="4912668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Stock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Audit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E4943D4-5FBD-8FFE-3AA7-79C7B6148C88}"/>
              </a:ext>
            </a:extLst>
          </p:cNvPr>
          <p:cNvGrpSpPr/>
          <p:nvPr/>
        </p:nvGrpSpPr>
        <p:grpSpPr>
          <a:xfrm>
            <a:off x="1106802" y="5187803"/>
            <a:ext cx="1003609" cy="338554"/>
            <a:chOff x="1595334" y="4018146"/>
            <a:chExt cx="1003609" cy="338554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D032C78-A238-A02C-FA10-C0B0F4ADC075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0D0969-0EE6-8201-A2E8-BB69601175BD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068CD6E0-5002-939B-B9A5-1049515552B6}"/>
              </a:ext>
            </a:extLst>
          </p:cNvPr>
          <p:cNvSpPr txBox="1"/>
          <p:nvPr/>
        </p:nvSpPr>
        <p:spPr>
          <a:xfrm>
            <a:off x="3202143" y="1215682"/>
            <a:ext cx="304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AE-2347346576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EDB750-5DE6-9FC6-D192-3370E720993D}"/>
              </a:ext>
            </a:extLst>
          </p:cNvPr>
          <p:cNvSpPr txBox="1"/>
          <p:nvPr/>
        </p:nvSpPr>
        <p:spPr>
          <a:xfrm>
            <a:off x="1995214" y="1203881"/>
            <a:ext cx="150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Code: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855AC4-96C8-56F7-E667-4D17974C164E}"/>
              </a:ext>
            </a:extLst>
          </p:cNvPr>
          <p:cNvSpPr txBox="1"/>
          <p:nvPr/>
        </p:nvSpPr>
        <p:spPr>
          <a:xfrm>
            <a:off x="4491975" y="1211027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DHL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A5F532-E9FD-1CD1-6E8A-B28B7B6D77C0}"/>
              </a:ext>
            </a:extLst>
          </p:cNvPr>
          <p:cNvSpPr txBox="1"/>
          <p:nvPr/>
        </p:nvSpPr>
        <p:spPr>
          <a:xfrm>
            <a:off x="1906443" y="1942576"/>
            <a:ext cx="8663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No.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4567579807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2345987654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2345769807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4576980876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4357698076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700177-0BED-7AA8-8DE1-4E33A4B5509D}"/>
              </a:ext>
            </a:extLst>
          </p:cNvPr>
          <p:cNvSpPr txBox="1"/>
          <p:nvPr/>
        </p:nvSpPr>
        <p:spPr>
          <a:xfrm>
            <a:off x="3332753" y="1948378"/>
            <a:ext cx="54027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Issue Count</a:t>
            </a:r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endParaRPr lang="en-IN" sz="1000" dirty="0"/>
          </a:p>
          <a:p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4</a:t>
            </a:r>
          </a:p>
          <a:p>
            <a:endParaRPr lang="en-IN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4C94DEE-3A71-85A4-4312-CFAB2695A69B}"/>
              </a:ext>
            </a:extLst>
          </p:cNvPr>
          <p:cNvSpPr txBox="1"/>
          <p:nvPr/>
        </p:nvSpPr>
        <p:spPr>
          <a:xfrm>
            <a:off x="2713505" y="1942576"/>
            <a:ext cx="726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Date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90F7751-4996-CF0D-4F6E-B796D736695C}"/>
              </a:ext>
            </a:extLst>
          </p:cNvPr>
          <p:cNvSpPr txBox="1"/>
          <p:nvPr/>
        </p:nvSpPr>
        <p:spPr>
          <a:xfrm>
            <a:off x="3765723" y="1959828"/>
            <a:ext cx="726252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Auditor Findings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Wrong CFI</a:t>
            </a:r>
            <a:br>
              <a:rPr lang="en-IN" sz="1000" dirty="0"/>
            </a:br>
            <a:br>
              <a:rPr lang="en-IN" sz="1000" dirty="0"/>
            </a:b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CFI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079FD8-2F94-2942-F21E-DB72D905CCEE}"/>
              </a:ext>
            </a:extLst>
          </p:cNvPr>
          <p:cNvSpPr txBox="1"/>
          <p:nvPr/>
        </p:nvSpPr>
        <p:spPr>
          <a:xfrm>
            <a:off x="4401604" y="1948879"/>
            <a:ext cx="116909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Auditor </a:t>
            </a:r>
            <a:br>
              <a:rPr lang="en-IN" sz="1000" b="1" dirty="0"/>
            </a:br>
            <a:r>
              <a:rPr lang="en-IN" sz="1000" b="1" dirty="0"/>
              <a:t>Remarks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CFI value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CFI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881979-9E4D-2E97-6038-CD31DC948F65}"/>
              </a:ext>
            </a:extLst>
          </p:cNvPr>
          <p:cNvSpPr txBox="1"/>
          <p:nvPr/>
        </p:nvSpPr>
        <p:spPr>
          <a:xfrm>
            <a:off x="5480488" y="1938355"/>
            <a:ext cx="7622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Response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6" action="ppaction://hlinkfile"/>
              </a:rPr>
            </a:br>
            <a:r>
              <a:rPr lang="en-IN" sz="1000" dirty="0"/>
              <a:t>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D76534-AA6C-2E84-19DD-4F872159BC70}"/>
              </a:ext>
            </a:extLst>
          </p:cNvPr>
          <p:cNvSpPr txBox="1"/>
          <p:nvPr/>
        </p:nvSpPr>
        <p:spPr>
          <a:xfrm>
            <a:off x="6170685" y="1932707"/>
            <a:ext cx="8254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Remarks</a:t>
            </a:r>
          </a:p>
          <a:p>
            <a:br>
              <a:rPr lang="en-IN" sz="1000" dirty="0"/>
            </a:br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Updated latest doc</a:t>
            </a:r>
          </a:p>
        </p:txBody>
      </p:sp>
      <p:pic>
        <p:nvPicPr>
          <p:cNvPr id="79" name="Graphic 78" descr="Chat outline">
            <a:extLst>
              <a:ext uri="{FF2B5EF4-FFF2-40B4-BE49-F238E27FC236}">
                <a16:creationId xmlns:a16="http://schemas.microsoft.com/office/drawing/2014/main" id="{C5663B1F-48AA-7C5C-5B78-386B261D79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80" name="Graphic 79" descr="Chat outline">
            <a:extLst>
              <a:ext uri="{FF2B5EF4-FFF2-40B4-BE49-F238E27FC236}">
                <a16:creationId xmlns:a16="http://schemas.microsoft.com/office/drawing/2014/main" id="{5FE798D4-3F82-64F7-0E40-15AF69A368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81" name="Graphic 80" descr="Chat outline">
            <a:extLst>
              <a:ext uri="{FF2B5EF4-FFF2-40B4-BE49-F238E27FC236}">
                <a16:creationId xmlns:a16="http://schemas.microsoft.com/office/drawing/2014/main" id="{FB70BFD7-1DDC-421F-D62C-C0C9793F01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9548" y="3420588"/>
            <a:ext cx="252000" cy="252000"/>
          </a:xfrm>
          <a:prstGeom prst="rect">
            <a:avLst/>
          </a:prstGeom>
        </p:spPr>
      </p:pic>
      <p:pic>
        <p:nvPicPr>
          <p:cNvPr id="82" name="Graphic 81" descr="Chat outline">
            <a:extLst>
              <a:ext uri="{FF2B5EF4-FFF2-40B4-BE49-F238E27FC236}">
                <a16:creationId xmlns:a16="http://schemas.microsoft.com/office/drawing/2014/main" id="{D1FC3596-6168-415B-4015-4ECAE4F0EC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3812120"/>
            <a:ext cx="252000" cy="252000"/>
          </a:xfrm>
          <a:prstGeom prst="rect">
            <a:avLst/>
          </a:prstGeom>
        </p:spPr>
      </p:pic>
      <p:pic>
        <p:nvPicPr>
          <p:cNvPr id="83" name="Graphic 82" descr="Chat outline">
            <a:extLst>
              <a:ext uri="{FF2B5EF4-FFF2-40B4-BE49-F238E27FC236}">
                <a16:creationId xmlns:a16="http://schemas.microsoft.com/office/drawing/2014/main" id="{0779D1CF-D7C1-D16D-820D-E8930D71D6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4129501"/>
            <a:ext cx="252000" cy="25200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112D8D00-BED8-6C8D-D398-9A017431FFEC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6018A49-0D0A-760F-6E15-DFEC5D1014C9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7C1221A-6799-D30E-9941-1066C0867139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4B54DD07-60B1-CE1A-A0ED-94375341FBDC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791" y="2171482"/>
            <a:ext cx="251464" cy="123052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5572ABBF-5796-0015-8B55-C3E5D0B5BD53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574F28F-5104-E563-A714-4773625E5ACC}"/>
              </a:ext>
            </a:extLst>
          </p:cNvPr>
          <p:cNvSpPr txBox="1"/>
          <p:nvPr/>
        </p:nvSpPr>
        <p:spPr>
          <a:xfrm>
            <a:off x="9591336" y="5985368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Enter the message</a:t>
            </a:r>
          </a:p>
        </p:txBody>
      </p:sp>
      <p:pic>
        <p:nvPicPr>
          <p:cNvPr id="90" name="Graphic 89" descr="Paperclip with solid fill">
            <a:extLst>
              <a:ext uri="{FF2B5EF4-FFF2-40B4-BE49-F238E27FC236}">
                <a16:creationId xmlns:a16="http://schemas.microsoft.com/office/drawing/2014/main" id="{107B97DA-77EA-7EF2-F65F-FB4FA41ECF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B11B68D-07D4-BC88-2486-F5F8DA06E34B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2" name="Graphic 91" descr="Send with solid fill">
            <a:extLst>
              <a:ext uri="{FF2B5EF4-FFF2-40B4-BE49-F238E27FC236}">
                <a16:creationId xmlns:a16="http://schemas.microsoft.com/office/drawing/2014/main" id="{9E823981-DA5C-9E72-ACD9-FD3F540A91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B3C0A1EB-5D73-157D-1BF3-4D7E5BA33682}"/>
              </a:ext>
            </a:extLst>
          </p:cNvPr>
          <p:cNvSpPr txBox="1"/>
          <p:nvPr/>
        </p:nvSpPr>
        <p:spPr>
          <a:xfrm>
            <a:off x="9216368" y="2476573"/>
            <a:ext cx="28875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I noticed there’s an incorrect currency value in the Invoice document</a:t>
            </a:r>
          </a:p>
          <a:p>
            <a:endParaRPr lang="en-US" sz="1000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Got it. I’ll double-check the source file and re-upload  the corrected version.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Yes please</a:t>
            </a:r>
          </a:p>
          <a:p>
            <a:endParaRPr lang="en-US" sz="1000" b="1" dirty="0"/>
          </a:p>
          <a:p>
            <a:endParaRPr lang="en-US" sz="1000" b="1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I’ve updated the document.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7ECC915-E074-1C8D-57ED-52F1EE8FD30B}"/>
              </a:ext>
            </a:extLst>
          </p:cNvPr>
          <p:cNvSpPr txBox="1"/>
          <p:nvPr/>
        </p:nvSpPr>
        <p:spPr>
          <a:xfrm>
            <a:off x="6938957" y="1950240"/>
            <a:ext cx="82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Actions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Not Started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3EE0B4C-9C00-B309-B9B2-E70D2B5DD05A}"/>
              </a:ext>
            </a:extLst>
          </p:cNvPr>
          <p:cNvSpPr txBox="1"/>
          <p:nvPr/>
        </p:nvSpPr>
        <p:spPr>
          <a:xfrm>
            <a:off x="7670630" y="1950240"/>
            <a:ext cx="90699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Client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Auditor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A29B0F-D0D0-7649-5EB1-EC8CCC678E26}"/>
              </a:ext>
            </a:extLst>
          </p:cNvPr>
          <p:cNvGrpSpPr/>
          <p:nvPr/>
        </p:nvGrpSpPr>
        <p:grpSpPr>
          <a:xfrm>
            <a:off x="11211233" y="4910247"/>
            <a:ext cx="782907" cy="647756"/>
            <a:chOff x="8044193" y="4533862"/>
            <a:chExt cx="1838474" cy="1438643"/>
          </a:xfrm>
        </p:grpSpPr>
        <p:pic>
          <p:nvPicPr>
            <p:cNvPr id="4" name="Graphic 11" descr="Document outline">
              <a:extLst>
                <a:ext uri="{FF2B5EF4-FFF2-40B4-BE49-F238E27FC236}">
                  <a16:creationId xmlns:a16="http://schemas.microsoft.com/office/drawing/2014/main" id="{FAB94819-17E3-8470-22E9-B3422E1ED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044193" y="4533862"/>
              <a:ext cx="1561180" cy="1166051"/>
            </a:xfrm>
            <a:prstGeom prst="rect">
              <a:avLst/>
            </a:prstGeom>
          </p:spPr>
        </p:pic>
        <p:sp>
          <p:nvSpPr>
            <p:cNvPr id="5" name="Rectangle: Rounded Corners 13">
              <a:extLst>
                <a:ext uri="{FF2B5EF4-FFF2-40B4-BE49-F238E27FC236}">
                  <a16:creationId xmlns:a16="http://schemas.microsoft.com/office/drawing/2014/main" id="{F89F135D-58EC-929A-0601-EAC5494CEC7F}"/>
                </a:ext>
              </a:extLst>
            </p:cNvPr>
            <p:cNvSpPr/>
            <p:nvPr/>
          </p:nvSpPr>
          <p:spPr>
            <a:xfrm>
              <a:off x="8120857" y="5654373"/>
              <a:ext cx="847088" cy="3181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Doc</a:t>
              </a:r>
            </a:p>
          </p:txBody>
        </p:sp>
        <p:sp>
          <p:nvSpPr>
            <p:cNvPr id="6" name="Rectangle: Rounded Corners 13">
              <a:extLst>
                <a:ext uri="{FF2B5EF4-FFF2-40B4-BE49-F238E27FC236}">
                  <a16:creationId xmlns:a16="http://schemas.microsoft.com/office/drawing/2014/main" id="{7C2C0563-2F9A-97AB-7F65-970E0DC49EB1}"/>
                </a:ext>
              </a:extLst>
            </p:cNvPr>
            <p:cNvSpPr/>
            <p:nvPr/>
          </p:nvSpPr>
          <p:spPr>
            <a:xfrm>
              <a:off x="9035579" y="5645286"/>
              <a:ext cx="847088" cy="3181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Skip</a:t>
              </a:r>
            </a:p>
          </p:txBody>
        </p:sp>
      </p:grp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6865DA35-235F-55C5-D868-36EBE0CF06BF}"/>
              </a:ext>
            </a:extLst>
          </p:cNvPr>
          <p:cNvSpPr/>
          <p:nvPr/>
        </p:nvSpPr>
        <p:spPr>
          <a:xfrm>
            <a:off x="2933424" y="3401916"/>
            <a:ext cx="5281304" cy="27853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Document outline">
            <a:extLst>
              <a:ext uri="{FF2B5EF4-FFF2-40B4-BE49-F238E27FC236}">
                <a16:creationId xmlns:a16="http://schemas.microsoft.com/office/drawing/2014/main" id="{8834B1D9-33C4-E99E-6770-5A4DF9C237C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62939" y="3891597"/>
            <a:ext cx="1747257" cy="1295423"/>
          </a:xfrm>
          <a:prstGeom prst="rect">
            <a:avLst/>
          </a:prstGeom>
        </p:spPr>
      </p:pic>
      <p:sp>
        <p:nvSpPr>
          <p:cNvPr id="15" name="Rectangle: Rounded Corners 13">
            <a:extLst>
              <a:ext uri="{FF2B5EF4-FFF2-40B4-BE49-F238E27FC236}">
                <a16:creationId xmlns:a16="http://schemas.microsoft.com/office/drawing/2014/main" id="{D89651FF-2594-18D1-8F2B-5FE2862C4E60}"/>
              </a:ext>
            </a:extLst>
          </p:cNvPr>
          <p:cNvSpPr/>
          <p:nvPr/>
        </p:nvSpPr>
        <p:spPr>
          <a:xfrm>
            <a:off x="3874554" y="5367775"/>
            <a:ext cx="1215153" cy="3938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Replace current Document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4617F51-D28D-27D8-3807-607800A731F2}"/>
              </a:ext>
            </a:extLst>
          </p:cNvPr>
          <p:cNvGrpSpPr/>
          <p:nvPr/>
        </p:nvGrpSpPr>
        <p:grpSpPr>
          <a:xfrm>
            <a:off x="5579582" y="3620460"/>
            <a:ext cx="2463979" cy="2302000"/>
            <a:chOff x="5328374" y="3408220"/>
            <a:chExt cx="3130053" cy="2785377"/>
          </a:xfrm>
        </p:grpSpPr>
        <p:sp>
          <p:nvSpPr>
            <p:cNvPr id="16" name="Rectangle: Rounded Corners 13">
              <a:extLst>
                <a:ext uri="{FF2B5EF4-FFF2-40B4-BE49-F238E27FC236}">
                  <a16:creationId xmlns:a16="http://schemas.microsoft.com/office/drawing/2014/main" id="{23F2A87B-588C-5B9D-1B7F-10AB30E3C3BE}"/>
                </a:ext>
              </a:extLst>
            </p:cNvPr>
            <p:cNvSpPr/>
            <p:nvPr/>
          </p:nvSpPr>
          <p:spPr>
            <a:xfrm>
              <a:off x="6242763" y="5369205"/>
              <a:ext cx="1054465" cy="3938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Additional Document</a:t>
              </a:r>
            </a:p>
          </p:txBody>
        </p:sp>
        <p:sp>
          <p:nvSpPr>
            <p:cNvPr id="21" name="Rectangle: Rounded Corners 9">
              <a:extLst>
                <a:ext uri="{FF2B5EF4-FFF2-40B4-BE49-F238E27FC236}">
                  <a16:creationId xmlns:a16="http://schemas.microsoft.com/office/drawing/2014/main" id="{9D3A80A2-2CF5-3058-3F14-D8ABACC410DD}"/>
                </a:ext>
              </a:extLst>
            </p:cNvPr>
            <p:cNvSpPr/>
            <p:nvPr/>
          </p:nvSpPr>
          <p:spPr>
            <a:xfrm>
              <a:off x="5328374" y="3408220"/>
              <a:ext cx="3130053" cy="2785377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7763F74-D5E3-3035-F8D6-67007879370A}"/>
                </a:ext>
              </a:extLst>
            </p:cNvPr>
            <p:cNvSpPr/>
            <p:nvPr/>
          </p:nvSpPr>
          <p:spPr>
            <a:xfrm>
              <a:off x="5761007" y="3660313"/>
              <a:ext cx="227768" cy="2127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0EAFA47-E5A2-D444-3317-14146745D5A1}"/>
                </a:ext>
              </a:extLst>
            </p:cNvPr>
            <p:cNvSpPr/>
            <p:nvPr/>
          </p:nvSpPr>
          <p:spPr>
            <a:xfrm>
              <a:off x="5761007" y="4066334"/>
              <a:ext cx="227768" cy="2127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6265A8F-E5A5-F385-3F93-620D7161A71D}"/>
                </a:ext>
              </a:extLst>
            </p:cNvPr>
            <p:cNvSpPr/>
            <p:nvPr/>
          </p:nvSpPr>
          <p:spPr>
            <a:xfrm>
              <a:off x="5761007" y="4496548"/>
              <a:ext cx="227768" cy="2127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049DBB7-D886-BA8F-F06C-871BC7B256FD}"/>
                </a:ext>
              </a:extLst>
            </p:cNvPr>
            <p:cNvSpPr/>
            <p:nvPr/>
          </p:nvSpPr>
          <p:spPr>
            <a:xfrm>
              <a:off x="5761007" y="4929464"/>
              <a:ext cx="227768" cy="2127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D13E5BE-5A0B-3155-E815-76D52BC87918}"/>
                </a:ext>
              </a:extLst>
            </p:cNvPr>
            <p:cNvSpPr/>
            <p:nvPr/>
          </p:nvSpPr>
          <p:spPr>
            <a:xfrm>
              <a:off x="5761007" y="5353148"/>
              <a:ext cx="227768" cy="2127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33E0F99-D2EE-E441-0582-58687DA0474E}"/>
                </a:ext>
              </a:extLst>
            </p:cNvPr>
            <p:cNvSpPr/>
            <p:nvPr/>
          </p:nvSpPr>
          <p:spPr>
            <a:xfrm>
              <a:off x="5761007" y="5778395"/>
              <a:ext cx="227768" cy="2127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8C01594-675F-4116-CFBA-1AAFE20A8209}"/>
                </a:ext>
              </a:extLst>
            </p:cNvPr>
            <p:cNvSpPr txBox="1"/>
            <p:nvPr/>
          </p:nvSpPr>
          <p:spPr>
            <a:xfrm>
              <a:off x="6242761" y="5328694"/>
              <a:ext cx="1741921" cy="316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Country of Origin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882E90B-7D9D-E175-83E1-427495A084D6}"/>
                </a:ext>
              </a:extLst>
            </p:cNvPr>
            <p:cNvSpPr txBox="1"/>
            <p:nvPr/>
          </p:nvSpPr>
          <p:spPr>
            <a:xfrm>
              <a:off x="6242763" y="4041881"/>
              <a:ext cx="10253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Invoice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BC6A6FC-78AB-7028-9F9F-667F87AD4E8D}"/>
                </a:ext>
              </a:extLst>
            </p:cNvPr>
            <p:cNvSpPr txBox="1"/>
            <p:nvPr/>
          </p:nvSpPr>
          <p:spPr>
            <a:xfrm>
              <a:off x="6242762" y="4472094"/>
              <a:ext cx="1313287" cy="316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Packing List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D0C5C6D-3555-4644-251A-506695A0B992}"/>
                </a:ext>
              </a:extLst>
            </p:cNvPr>
            <p:cNvSpPr txBox="1"/>
            <p:nvPr/>
          </p:nvSpPr>
          <p:spPr>
            <a:xfrm>
              <a:off x="6242763" y="4905011"/>
              <a:ext cx="10253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AWB/BOL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F7668F-28F1-539B-6DB1-087862DC9A5E}"/>
                </a:ext>
              </a:extLst>
            </p:cNvPr>
            <p:cNvSpPr txBox="1"/>
            <p:nvPr/>
          </p:nvSpPr>
          <p:spPr>
            <a:xfrm>
              <a:off x="6242762" y="3635860"/>
              <a:ext cx="1220140" cy="316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Declaration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752ABF8-538C-1F5F-B3BB-9F53F56BA3F6}"/>
                </a:ext>
              </a:extLst>
            </p:cNvPr>
            <p:cNvSpPr txBox="1"/>
            <p:nvPr/>
          </p:nvSpPr>
          <p:spPr>
            <a:xfrm>
              <a:off x="6242763" y="5753942"/>
              <a:ext cx="10253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Others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484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AFAB3-F1C3-77FC-4619-2F9C20315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rectangle">
            <a:extLst>
              <a:ext uri="{FF2B5EF4-FFF2-40B4-BE49-F238E27FC236}">
                <a16:creationId xmlns:a16="http://schemas.microsoft.com/office/drawing/2014/main" id="{3E6ED527-71A1-D622-EF4E-51C5B5430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817" y="2450"/>
            <a:ext cx="10357014" cy="976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DE8B16-A824-8A4B-76C2-F3989E02F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16" y="365126"/>
            <a:ext cx="8964283" cy="57054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Declaration Audit Status Summary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1C7D6092-359A-D8EA-9B72-0724626C55C7}"/>
              </a:ext>
            </a:extLst>
          </p:cNvPr>
          <p:cNvSpPr/>
          <p:nvPr/>
        </p:nvSpPr>
        <p:spPr>
          <a:xfrm>
            <a:off x="2309935" y="534272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037E7F-4682-25E2-8249-E417E93AAF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" y="0"/>
            <a:ext cx="1837190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6F07A3-3E62-358B-7F6D-421101A2FC66}"/>
              </a:ext>
            </a:extLst>
          </p:cNvPr>
          <p:cNvSpPr txBox="1"/>
          <p:nvPr/>
        </p:nvSpPr>
        <p:spPr>
          <a:xfrm>
            <a:off x="430049" y="4048006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Declaration Audit</a:t>
            </a:r>
          </a:p>
        </p:txBody>
      </p:sp>
      <p:pic>
        <p:nvPicPr>
          <p:cNvPr id="12" name="Picture 11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A472C2BA-477D-50CD-821D-628BA3825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80" y="4214196"/>
            <a:ext cx="234175" cy="23417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664A5A8-AF82-A25D-B420-0D178B5B4756}"/>
              </a:ext>
            </a:extLst>
          </p:cNvPr>
          <p:cNvGrpSpPr/>
          <p:nvPr/>
        </p:nvGrpSpPr>
        <p:grpSpPr>
          <a:xfrm>
            <a:off x="1132705" y="4311476"/>
            <a:ext cx="1003609" cy="338554"/>
            <a:chOff x="1595334" y="4018146"/>
            <a:chExt cx="1003609" cy="33855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233D70D-1711-2BFB-95F9-22F53DF7FF48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1780FF3-EDB9-C924-CBCC-D2B5C290B134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EB794CC-C2F5-3AE4-AF5D-C23EF7F0AAA3}"/>
              </a:ext>
            </a:extLst>
          </p:cNvPr>
          <p:cNvSpPr txBox="1"/>
          <p:nvPr/>
        </p:nvSpPr>
        <p:spPr>
          <a:xfrm>
            <a:off x="420755" y="4912668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Stock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Audit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AF77FCD-0553-85D7-F063-41DE8954E3ED}"/>
              </a:ext>
            </a:extLst>
          </p:cNvPr>
          <p:cNvGrpSpPr/>
          <p:nvPr/>
        </p:nvGrpSpPr>
        <p:grpSpPr>
          <a:xfrm>
            <a:off x="1106802" y="5187803"/>
            <a:ext cx="1003609" cy="338554"/>
            <a:chOff x="1595334" y="4018146"/>
            <a:chExt cx="1003609" cy="338554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F6C7768-D69D-6804-4A14-089904A8E00C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107F3C-45BC-921E-CACE-9B23D07FEE03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49D53A0D-7116-4588-4D77-32C8066F21AC}"/>
              </a:ext>
            </a:extLst>
          </p:cNvPr>
          <p:cNvSpPr txBox="1"/>
          <p:nvPr/>
        </p:nvSpPr>
        <p:spPr>
          <a:xfrm>
            <a:off x="3202143" y="1215682"/>
            <a:ext cx="304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AE-2347346576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D60A48-BB71-415D-1292-90A70886A200}"/>
              </a:ext>
            </a:extLst>
          </p:cNvPr>
          <p:cNvSpPr txBox="1"/>
          <p:nvPr/>
        </p:nvSpPr>
        <p:spPr>
          <a:xfrm>
            <a:off x="1995214" y="1203881"/>
            <a:ext cx="150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Code: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1AA2C2E-3A95-120B-4218-F7808FC21762}"/>
              </a:ext>
            </a:extLst>
          </p:cNvPr>
          <p:cNvSpPr txBox="1"/>
          <p:nvPr/>
        </p:nvSpPr>
        <p:spPr>
          <a:xfrm>
            <a:off x="4491975" y="1211027"/>
            <a:ext cx="181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DHL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3DCA23E-AD75-BF23-BC4B-1324A7356588}"/>
              </a:ext>
            </a:extLst>
          </p:cNvPr>
          <p:cNvSpPr txBox="1"/>
          <p:nvPr/>
        </p:nvSpPr>
        <p:spPr>
          <a:xfrm>
            <a:off x="1906443" y="1942576"/>
            <a:ext cx="8663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No.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4567579807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2345987654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2345769807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4576980876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4357698076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CED282E-2385-07AE-B5E4-71E67C92E827}"/>
              </a:ext>
            </a:extLst>
          </p:cNvPr>
          <p:cNvSpPr txBox="1"/>
          <p:nvPr/>
        </p:nvSpPr>
        <p:spPr>
          <a:xfrm>
            <a:off x="3332753" y="1948378"/>
            <a:ext cx="54027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Issue Count</a:t>
            </a:r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endParaRPr lang="en-IN" sz="1000" dirty="0"/>
          </a:p>
          <a:p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2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3</a:t>
            </a:r>
          </a:p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4</a:t>
            </a:r>
          </a:p>
          <a:p>
            <a:endParaRPr lang="en-IN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80238D-54CB-90BD-EFE5-5A0483F82C0F}"/>
              </a:ext>
            </a:extLst>
          </p:cNvPr>
          <p:cNvSpPr txBox="1"/>
          <p:nvPr/>
        </p:nvSpPr>
        <p:spPr>
          <a:xfrm>
            <a:off x="2713505" y="1942576"/>
            <a:ext cx="726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Dec Date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A4E2827-C1F1-C442-CAC6-056E88FD2AEE}"/>
              </a:ext>
            </a:extLst>
          </p:cNvPr>
          <p:cNvSpPr txBox="1"/>
          <p:nvPr/>
        </p:nvSpPr>
        <p:spPr>
          <a:xfrm>
            <a:off x="3765723" y="1959828"/>
            <a:ext cx="726252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Auditor Findings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Wrong CFI</a:t>
            </a:r>
            <a:br>
              <a:rPr lang="en-IN" sz="1000" dirty="0"/>
            </a:br>
            <a:br>
              <a:rPr lang="en-IN" sz="1000" dirty="0"/>
            </a:b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Wrong CFI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29A9F75-536F-1DC6-A358-B296D224B632}"/>
              </a:ext>
            </a:extLst>
          </p:cNvPr>
          <p:cNvSpPr txBox="1"/>
          <p:nvPr/>
        </p:nvSpPr>
        <p:spPr>
          <a:xfrm>
            <a:off x="4401604" y="1948879"/>
            <a:ext cx="116909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Auditor </a:t>
            </a:r>
            <a:br>
              <a:rPr lang="en-IN" sz="1000" b="1" dirty="0"/>
            </a:br>
            <a:r>
              <a:rPr lang="en-IN" sz="1000" b="1" dirty="0"/>
              <a:t>Remarks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CFI value</a:t>
            </a:r>
          </a:p>
          <a:p>
            <a:pPr>
              <a:spcAft>
                <a:spcPts val="600"/>
              </a:spcAft>
            </a:pPr>
            <a:br>
              <a:rPr lang="en-IN" sz="1000" dirty="0"/>
            </a:b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currency</a:t>
            </a:r>
          </a:p>
          <a:p>
            <a:pPr>
              <a:spcAft>
                <a:spcPts val="600"/>
              </a:spcAft>
            </a:pPr>
            <a:r>
              <a:rPr lang="en-IN" sz="1000" dirty="0"/>
              <a:t>Insert the correct CFI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33393A-E2B5-BD4A-BD78-3507B846D34C}"/>
              </a:ext>
            </a:extLst>
          </p:cNvPr>
          <p:cNvSpPr txBox="1"/>
          <p:nvPr/>
        </p:nvSpPr>
        <p:spPr>
          <a:xfrm>
            <a:off x="5480488" y="1938355"/>
            <a:ext cx="7622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Response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6" action="ppaction://hlinkfile"/>
              </a:rPr>
            </a:br>
            <a:r>
              <a:rPr lang="en-IN" sz="1000" dirty="0"/>
              <a:t>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Disagree</a:t>
            </a:r>
          </a:p>
          <a:p>
            <a:pPr>
              <a:spcAft>
                <a:spcPts val="600"/>
              </a:spcAft>
            </a:pPr>
            <a:endParaRPr lang="en-IN" sz="1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6C1E5B-140F-EE11-3AC3-B7FC87E8847E}"/>
              </a:ext>
            </a:extLst>
          </p:cNvPr>
          <p:cNvSpPr txBox="1"/>
          <p:nvPr/>
        </p:nvSpPr>
        <p:spPr>
          <a:xfrm>
            <a:off x="6170685" y="1932707"/>
            <a:ext cx="8254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Client Remarks</a:t>
            </a:r>
          </a:p>
          <a:p>
            <a:br>
              <a:rPr lang="en-IN" sz="1000" dirty="0"/>
            </a:br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Updated latest doc</a:t>
            </a:r>
          </a:p>
        </p:txBody>
      </p:sp>
      <p:pic>
        <p:nvPicPr>
          <p:cNvPr id="79" name="Graphic 78" descr="Chat outline">
            <a:extLst>
              <a:ext uri="{FF2B5EF4-FFF2-40B4-BE49-F238E27FC236}">
                <a16:creationId xmlns:a16="http://schemas.microsoft.com/office/drawing/2014/main" id="{850A7723-CDE6-2130-B360-922575A6B8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80" name="Graphic 79" descr="Chat outline">
            <a:extLst>
              <a:ext uri="{FF2B5EF4-FFF2-40B4-BE49-F238E27FC236}">
                <a16:creationId xmlns:a16="http://schemas.microsoft.com/office/drawing/2014/main" id="{CACA4872-F07B-7245-35A1-D1DC9F66EB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81" name="Graphic 80" descr="Chat outline">
            <a:extLst>
              <a:ext uri="{FF2B5EF4-FFF2-40B4-BE49-F238E27FC236}">
                <a16:creationId xmlns:a16="http://schemas.microsoft.com/office/drawing/2014/main" id="{064A0A53-34E1-138A-308C-811B188CCC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9548" y="3420588"/>
            <a:ext cx="252000" cy="252000"/>
          </a:xfrm>
          <a:prstGeom prst="rect">
            <a:avLst/>
          </a:prstGeom>
        </p:spPr>
      </p:pic>
      <p:pic>
        <p:nvPicPr>
          <p:cNvPr id="82" name="Graphic 81" descr="Chat outline">
            <a:extLst>
              <a:ext uri="{FF2B5EF4-FFF2-40B4-BE49-F238E27FC236}">
                <a16:creationId xmlns:a16="http://schemas.microsoft.com/office/drawing/2014/main" id="{60EA6322-D303-0B55-B715-8D8525BF3C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3812120"/>
            <a:ext cx="252000" cy="252000"/>
          </a:xfrm>
          <a:prstGeom prst="rect">
            <a:avLst/>
          </a:prstGeom>
        </p:spPr>
      </p:pic>
      <p:pic>
        <p:nvPicPr>
          <p:cNvPr id="83" name="Graphic 82" descr="Chat outline">
            <a:extLst>
              <a:ext uri="{FF2B5EF4-FFF2-40B4-BE49-F238E27FC236}">
                <a16:creationId xmlns:a16="http://schemas.microsoft.com/office/drawing/2014/main" id="{6A2C759C-C7A3-0E43-D1D9-53D9F71996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4129501"/>
            <a:ext cx="252000" cy="25200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EB6C4B7C-356D-5BE0-E6B2-27735F494436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1AE6715-2B0E-EB4C-4E40-19BC384428A2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99C8F10-6B58-2663-1286-98CDE17FF23E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00CF68B9-34C5-1EA0-7438-FBCF12828C54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791" y="2171482"/>
            <a:ext cx="251464" cy="123052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D4669737-761D-26CF-DE16-5EFF386709C1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1F2E2EA-CEF7-26A5-FCC6-C89B9336865C}"/>
              </a:ext>
            </a:extLst>
          </p:cNvPr>
          <p:cNvSpPr txBox="1"/>
          <p:nvPr/>
        </p:nvSpPr>
        <p:spPr>
          <a:xfrm>
            <a:off x="9591336" y="5985368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Enter the message</a:t>
            </a:r>
          </a:p>
        </p:txBody>
      </p:sp>
      <p:pic>
        <p:nvPicPr>
          <p:cNvPr id="90" name="Graphic 89" descr="Paperclip with solid fill">
            <a:extLst>
              <a:ext uri="{FF2B5EF4-FFF2-40B4-BE49-F238E27FC236}">
                <a16:creationId xmlns:a16="http://schemas.microsoft.com/office/drawing/2014/main" id="{3A442D6C-6384-1230-F635-D6CEAB77C0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91774C8-2D2C-678B-2A6E-F4D75A4BB5CD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2" name="Graphic 91" descr="Send with solid fill">
            <a:extLst>
              <a:ext uri="{FF2B5EF4-FFF2-40B4-BE49-F238E27FC236}">
                <a16:creationId xmlns:a16="http://schemas.microsoft.com/office/drawing/2014/main" id="{A8719660-88EA-4259-94DA-7461FF4F4F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1DD74AD5-E5EC-A4DF-EE17-D925E4BB9AFF}"/>
              </a:ext>
            </a:extLst>
          </p:cNvPr>
          <p:cNvSpPr txBox="1"/>
          <p:nvPr/>
        </p:nvSpPr>
        <p:spPr>
          <a:xfrm>
            <a:off x="9216368" y="2476573"/>
            <a:ext cx="288754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I noticed there’s an incorrect currency value in the Invoice document</a:t>
            </a:r>
          </a:p>
          <a:p>
            <a:endParaRPr lang="en-US" sz="1000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Got it. I’ll double-check the source file and re-upload  the corrected version.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Yes please</a:t>
            </a:r>
          </a:p>
          <a:p>
            <a:endParaRPr lang="en-US" sz="1000" b="1" dirty="0"/>
          </a:p>
          <a:p>
            <a:pPr algn="r"/>
            <a:r>
              <a:rPr lang="en-US" sz="1000" b="1" dirty="0"/>
              <a:t>Viewer</a:t>
            </a:r>
          </a:p>
          <a:p>
            <a:pPr algn="r"/>
            <a:r>
              <a:rPr lang="en-US" sz="1000" dirty="0"/>
              <a:t>I’ve updated the document.</a:t>
            </a:r>
          </a:p>
          <a:p>
            <a:pPr algn="r"/>
            <a:endParaRPr lang="en-US" sz="1000" dirty="0"/>
          </a:p>
          <a:p>
            <a:pPr algn="r"/>
            <a:endParaRPr lang="en-US" sz="1000" dirty="0"/>
          </a:p>
          <a:p>
            <a:pPr algn="r"/>
            <a:endParaRPr lang="en-US" sz="1000" dirty="0"/>
          </a:p>
          <a:p>
            <a:pPr algn="r"/>
            <a:endParaRPr lang="en-US" sz="1000" dirty="0"/>
          </a:p>
          <a:p>
            <a:pPr algn="r"/>
            <a:endParaRPr lang="en-US" sz="1000" dirty="0"/>
          </a:p>
          <a:p>
            <a:pPr algn="ctr"/>
            <a:r>
              <a:rPr lang="en-US" sz="1000" b="1" i="1" dirty="0"/>
              <a:t>This document has replaced the existing invoice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B57C8D0-C1F9-91AF-F80B-88C4798D8053}"/>
              </a:ext>
            </a:extLst>
          </p:cNvPr>
          <p:cNvSpPr txBox="1"/>
          <p:nvPr/>
        </p:nvSpPr>
        <p:spPr>
          <a:xfrm>
            <a:off x="6938957" y="1950240"/>
            <a:ext cx="825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Actions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Not Started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69D1C09-EB0C-D226-26E9-ACB96E694C04}"/>
              </a:ext>
            </a:extLst>
          </p:cNvPr>
          <p:cNvSpPr txBox="1"/>
          <p:nvPr/>
        </p:nvSpPr>
        <p:spPr>
          <a:xfrm>
            <a:off x="7670630" y="1950240"/>
            <a:ext cx="90699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Client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Pending with Auditor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</p:txBody>
      </p:sp>
      <p:pic>
        <p:nvPicPr>
          <p:cNvPr id="4" name="Graphic 11" descr="Document outline">
            <a:extLst>
              <a:ext uri="{FF2B5EF4-FFF2-40B4-BE49-F238E27FC236}">
                <a16:creationId xmlns:a16="http://schemas.microsoft.com/office/drawing/2014/main" id="{1BB8BDDF-7C8C-0E9D-F17C-26863E55545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211233" y="4746353"/>
            <a:ext cx="664822" cy="52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254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74FA-C884-25DF-72E3-01461AFC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rectangle">
            <a:extLst>
              <a:ext uri="{FF2B5EF4-FFF2-40B4-BE49-F238E27FC236}">
                <a16:creationId xmlns:a16="http://schemas.microsoft.com/office/drawing/2014/main" id="{8B78E24F-9998-DEA0-C5D2-50142A229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817" y="2450"/>
            <a:ext cx="10357014" cy="976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C5C806-6A22-8901-41D6-2C5A7480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16" y="365126"/>
            <a:ext cx="8964283" cy="57054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Declaration Audit Status Summary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3DD95DA4-3F9D-D1CF-AE99-05A84AB20AC9}"/>
              </a:ext>
            </a:extLst>
          </p:cNvPr>
          <p:cNvSpPr/>
          <p:nvPr/>
        </p:nvSpPr>
        <p:spPr>
          <a:xfrm>
            <a:off x="2309935" y="534272"/>
            <a:ext cx="171379" cy="149753"/>
          </a:xfrm>
          <a:prstGeom prst="leftArrow">
            <a:avLst/>
          </a:prstGeom>
          <a:solidFill>
            <a:srgbClr val="000B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67EDB0-DB21-9928-3549-8B99F98B4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" y="0"/>
            <a:ext cx="1837190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D19EB9-5EA9-D371-631E-EC66EE55AF2F}"/>
              </a:ext>
            </a:extLst>
          </p:cNvPr>
          <p:cNvSpPr txBox="1"/>
          <p:nvPr/>
        </p:nvSpPr>
        <p:spPr>
          <a:xfrm>
            <a:off x="430049" y="4048006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Declaration Audit</a:t>
            </a:r>
          </a:p>
        </p:txBody>
      </p:sp>
      <p:pic>
        <p:nvPicPr>
          <p:cNvPr id="12" name="Picture 11" descr="A magnifying glass and a checklist&#10;&#10;AI-generated content may be incorrect.">
            <a:extLst>
              <a:ext uri="{FF2B5EF4-FFF2-40B4-BE49-F238E27FC236}">
                <a16:creationId xmlns:a16="http://schemas.microsoft.com/office/drawing/2014/main" id="{469759A0-6C65-4A10-1DE7-EB1602B706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80" y="4214196"/>
            <a:ext cx="234175" cy="23417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F7E4051-1A35-6FE5-5CA4-571695FE6069}"/>
              </a:ext>
            </a:extLst>
          </p:cNvPr>
          <p:cNvGrpSpPr/>
          <p:nvPr/>
        </p:nvGrpSpPr>
        <p:grpSpPr>
          <a:xfrm>
            <a:off x="1132705" y="4311476"/>
            <a:ext cx="1003609" cy="338554"/>
            <a:chOff x="1595334" y="4018146"/>
            <a:chExt cx="1003609" cy="33855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2CA66F9-DCBE-153C-FD80-AC6C0A0392F3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D04ACE2-8F05-7F9D-2C89-ED016D4A515D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31E278F-059F-5436-1CEF-4FE3EBD0B3B6}"/>
              </a:ext>
            </a:extLst>
          </p:cNvPr>
          <p:cNvSpPr txBox="1"/>
          <p:nvPr/>
        </p:nvSpPr>
        <p:spPr>
          <a:xfrm>
            <a:off x="420755" y="4912668"/>
            <a:ext cx="1271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Stock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Audit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66E8A96-B3E3-6A91-EE49-42B3B24A2C9D}"/>
              </a:ext>
            </a:extLst>
          </p:cNvPr>
          <p:cNvGrpSpPr/>
          <p:nvPr/>
        </p:nvGrpSpPr>
        <p:grpSpPr>
          <a:xfrm>
            <a:off x="1106802" y="5187803"/>
            <a:ext cx="1003609" cy="338554"/>
            <a:chOff x="1595334" y="4018146"/>
            <a:chExt cx="1003609" cy="338554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28DA01E-5FC5-6C26-1496-14F2CA56B472}"/>
                </a:ext>
              </a:extLst>
            </p:cNvPr>
            <p:cNvSpPr/>
            <p:nvPr/>
          </p:nvSpPr>
          <p:spPr>
            <a:xfrm>
              <a:off x="1596421" y="4060308"/>
              <a:ext cx="290082" cy="234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A68D053-B554-283C-2CCE-3D5DFD6A2CC0}"/>
                </a:ext>
              </a:extLst>
            </p:cNvPr>
            <p:cNvSpPr txBox="1"/>
            <p:nvPr/>
          </p:nvSpPr>
          <p:spPr>
            <a:xfrm>
              <a:off x="1595334" y="4018146"/>
              <a:ext cx="1003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A0B7E2E-F0F2-2BDE-3A46-F9C4F95378BE}"/>
              </a:ext>
            </a:extLst>
          </p:cNvPr>
          <p:cNvSpPr txBox="1"/>
          <p:nvPr/>
        </p:nvSpPr>
        <p:spPr>
          <a:xfrm>
            <a:off x="4511800" y="1044190"/>
            <a:ext cx="434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Reconciliation Audit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A991FA-4A83-6DE0-334F-80A8A6CD5C56}"/>
              </a:ext>
            </a:extLst>
          </p:cNvPr>
          <p:cNvSpPr txBox="1"/>
          <p:nvPr/>
        </p:nvSpPr>
        <p:spPr>
          <a:xfrm>
            <a:off x="1906443" y="1942576"/>
            <a:ext cx="8810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Document </a:t>
            </a:r>
            <a:br>
              <a:rPr lang="en-IN" sz="1000" b="1" dirty="0"/>
            </a:br>
            <a:r>
              <a:rPr lang="en-IN" sz="1000" b="1" dirty="0"/>
              <a:t>Name</a:t>
            </a:r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1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2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Document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105956-7FA7-E054-8D45-463D117B6D17}"/>
              </a:ext>
            </a:extLst>
          </p:cNvPr>
          <p:cNvSpPr txBox="1"/>
          <p:nvPr/>
        </p:nvSpPr>
        <p:spPr>
          <a:xfrm>
            <a:off x="2803590" y="1942576"/>
            <a:ext cx="79650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Month</a:t>
            </a:r>
          </a:p>
          <a:p>
            <a:endParaRPr lang="en-IN" sz="1000" dirty="0"/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January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February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March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April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May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June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E8781D-58F4-0851-2FD2-7D74A75518DD}"/>
              </a:ext>
            </a:extLst>
          </p:cNvPr>
          <p:cNvSpPr txBox="1"/>
          <p:nvPr/>
        </p:nvSpPr>
        <p:spPr>
          <a:xfrm>
            <a:off x="3480761" y="1942576"/>
            <a:ext cx="7576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Uploaded </a:t>
            </a:r>
            <a:br>
              <a:rPr lang="en-IN" sz="1000" b="1" dirty="0"/>
            </a:br>
            <a:r>
              <a:rPr lang="en-IN" sz="1000" b="1" dirty="0"/>
              <a:t>Date</a:t>
            </a:r>
          </a:p>
          <a:p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5/1/2025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4/2/2025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2/3/2025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CEBD21-F439-295C-D562-921F49A27F8D}"/>
              </a:ext>
            </a:extLst>
          </p:cNvPr>
          <p:cNvSpPr txBox="1"/>
          <p:nvPr/>
        </p:nvSpPr>
        <p:spPr>
          <a:xfrm>
            <a:off x="4274677" y="1942576"/>
            <a:ext cx="9922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000" b="1" dirty="0"/>
              <a:t>Stock </a:t>
            </a:r>
            <a:br>
              <a:rPr lang="en-IN" sz="1000" b="1" dirty="0"/>
            </a:br>
            <a:r>
              <a:rPr lang="en-IN" sz="1000" b="1" dirty="0"/>
              <a:t>Report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6" action="ppaction://hlinkfile"/>
              </a:rPr>
            </a:br>
            <a:r>
              <a:rPr lang="en-IN" sz="1000" dirty="0">
                <a:hlinkClick r:id="rId6" action="ppaction://hlinkfile"/>
              </a:rPr>
              <a:t>Stock 1</a:t>
            </a:r>
            <a:br>
              <a:rPr lang="en-IN" sz="1000" dirty="0">
                <a:hlinkClick r:id="rId6" action="ppaction://hlinkfile"/>
              </a:rPr>
            </a:br>
            <a:endParaRPr lang="en-IN" sz="1000" dirty="0">
              <a:hlinkClick r:id="rId6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Stock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6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Stock 3</a:t>
            </a:r>
            <a:endParaRPr lang="en-IN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4F9D36-295B-77F4-A656-436DC2A056B8}"/>
              </a:ext>
            </a:extLst>
          </p:cNvPr>
          <p:cNvSpPr txBox="1"/>
          <p:nvPr/>
        </p:nvSpPr>
        <p:spPr>
          <a:xfrm>
            <a:off x="4926902" y="1942576"/>
            <a:ext cx="15026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Customs </a:t>
            </a:r>
            <a:br>
              <a:rPr lang="en-IN" sz="1000" b="1" dirty="0"/>
            </a:br>
            <a:r>
              <a:rPr lang="en-IN" sz="1000" b="1" dirty="0"/>
              <a:t>Transaction Report</a:t>
            </a:r>
            <a:br>
              <a:rPr lang="en-IN" sz="1000" b="1" dirty="0"/>
            </a:br>
            <a:endParaRPr lang="en-IN" sz="1000" b="1" dirty="0"/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Customs Transaction 1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6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Customs Transaction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6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Customs Transaction 3</a:t>
            </a:r>
            <a:endParaRPr lang="en-IN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949B1D-697A-9125-73E7-939691B772A6}"/>
              </a:ext>
            </a:extLst>
          </p:cNvPr>
          <p:cNvSpPr txBox="1"/>
          <p:nvPr/>
        </p:nvSpPr>
        <p:spPr>
          <a:xfrm>
            <a:off x="6304257" y="1942576"/>
            <a:ext cx="150269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Reconciliation Report</a:t>
            </a:r>
          </a:p>
          <a:p>
            <a:pPr>
              <a:spcAft>
                <a:spcPts val="600"/>
              </a:spcAft>
            </a:pPr>
            <a:br>
              <a:rPr lang="en-IN" sz="1000" dirty="0">
                <a:hlinkClick r:id="rId6" action="ppaction://hlinkfile"/>
              </a:rPr>
            </a:br>
            <a:br>
              <a:rPr lang="en-IN" sz="1000" dirty="0">
                <a:hlinkClick r:id="rId6" action="ppaction://hlinkfile"/>
              </a:rPr>
            </a:br>
            <a:r>
              <a:rPr lang="en-IN" sz="1000" dirty="0">
                <a:hlinkClick r:id="rId6" action="ppaction://hlinkfile"/>
              </a:rPr>
              <a:t>Reconciliation Report 1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6" action="ppaction://hlinkfile"/>
            </a:endParaRPr>
          </a:p>
          <a:p>
            <a:pPr>
              <a:spcAft>
                <a:spcPts val="600"/>
              </a:spcAft>
            </a:pPr>
            <a:r>
              <a:rPr lang="en-IN" sz="1000" dirty="0">
                <a:hlinkClick r:id="rId6" action="ppaction://hlinkfile"/>
              </a:rPr>
              <a:t>Reconciliation Report 2</a:t>
            </a:r>
          </a:p>
          <a:p>
            <a:pPr>
              <a:spcAft>
                <a:spcPts val="600"/>
              </a:spcAft>
            </a:pPr>
            <a:endParaRPr lang="en-IN" sz="1000" dirty="0">
              <a:hlinkClick r:id="rId6" action="ppaction://hlinkfile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B5A114-82FC-2576-929D-80B03228E53C}"/>
              </a:ext>
            </a:extLst>
          </p:cNvPr>
          <p:cNvSpPr txBox="1"/>
          <p:nvPr/>
        </p:nvSpPr>
        <p:spPr>
          <a:xfrm>
            <a:off x="7674690" y="1942576"/>
            <a:ext cx="82549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Status</a:t>
            </a:r>
          </a:p>
          <a:p>
            <a:br>
              <a:rPr lang="en-IN" sz="1000" dirty="0"/>
            </a:b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Closed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In-Progress</a:t>
            </a:r>
          </a:p>
          <a:p>
            <a:pPr>
              <a:spcAft>
                <a:spcPts val="600"/>
              </a:spcAft>
            </a:pPr>
            <a:endParaRPr lang="en-IN" sz="1000" dirty="0"/>
          </a:p>
          <a:p>
            <a:pPr>
              <a:spcAft>
                <a:spcPts val="600"/>
              </a:spcAft>
            </a:pPr>
            <a:r>
              <a:rPr lang="en-IN" sz="1000" dirty="0"/>
              <a:t>Open</a:t>
            </a:r>
          </a:p>
          <a:p>
            <a:pPr algn="ctr">
              <a:spcAft>
                <a:spcPts val="600"/>
              </a:spcAft>
            </a:pPr>
            <a:endParaRPr lang="en-IN" sz="1000" dirty="0"/>
          </a:p>
          <a:p>
            <a:pPr algn="ctr">
              <a:spcAft>
                <a:spcPts val="600"/>
              </a:spcAft>
            </a:pPr>
            <a:r>
              <a:rPr lang="en-IN" sz="1000" dirty="0"/>
              <a:t>NA</a:t>
            </a:r>
          </a:p>
          <a:p>
            <a:pPr algn="ctr">
              <a:spcAft>
                <a:spcPts val="600"/>
              </a:spcAft>
            </a:pPr>
            <a:endParaRPr lang="en-IN" sz="1000" dirty="0"/>
          </a:p>
          <a:p>
            <a:pPr algn="ctr">
              <a:spcAft>
                <a:spcPts val="600"/>
              </a:spcAft>
            </a:pPr>
            <a:r>
              <a:rPr lang="en-IN" sz="1000" dirty="0"/>
              <a:t>NA</a:t>
            </a:r>
          </a:p>
        </p:txBody>
      </p:sp>
      <p:pic>
        <p:nvPicPr>
          <p:cNvPr id="31" name="Graphic 30" descr="Chat outline">
            <a:extLst>
              <a:ext uri="{FF2B5EF4-FFF2-40B4-BE49-F238E27FC236}">
                <a16:creationId xmlns:a16="http://schemas.microsoft.com/office/drawing/2014/main" id="{CABEE20D-2BCD-3955-62F2-2C5C459029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428342"/>
            <a:ext cx="252000" cy="252000"/>
          </a:xfrm>
          <a:prstGeom prst="rect">
            <a:avLst/>
          </a:prstGeom>
        </p:spPr>
      </p:pic>
      <p:pic>
        <p:nvPicPr>
          <p:cNvPr id="32" name="Graphic 31" descr="Chat outline">
            <a:extLst>
              <a:ext uri="{FF2B5EF4-FFF2-40B4-BE49-F238E27FC236}">
                <a16:creationId xmlns:a16="http://schemas.microsoft.com/office/drawing/2014/main" id="{9D499D1E-0275-EAAF-62B3-E8F9164F25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2889851"/>
            <a:ext cx="252000" cy="252000"/>
          </a:xfrm>
          <a:prstGeom prst="rect">
            <a:avLst/>
          </a:prstGeom>
        </p:spPr>
      </p:pic>
      <p:pic>
        <p:nvPicPr>
          <p:cNvPr id="33" name="Graphic 32" descr="Chat outline">
            <a:extLst>
              <a:ext uri="{FF2B5EF4-FFF2-40B4-BE49-F238E27FC236}">
                <a16:creationId xmlns:a16="http://schemas.microsoft.com/office/drawing/2014/main" id="{2FD08CE7-9AC6-1C1E-5B78-F15B8F4F15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3332345"/>
            <a:ext cx="252000" cy="252000"/>
          </a:xfrm>
          <a:prstGeom prst="rect">
            <a:avLst/>
          </a:prstGeom>
        </p:spPr>
      </p:pic>
      <p:pic>
        <p:nvPicPr>
          <p:cNvPr id="34" name="Graphic 33" descr="Chat outline">
            <a:extLst>
              <a:ext uri="{FF2B5EF4-FFF2-40B4-BE49-F238E27FC236}">
                <a16:creationId xmlns:a16="http://schemas.microsoft.com/office/drawing/2014/main" id="{C607C46B-1B7E-D702-DACD-60E87CBA88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3767802"/>
            <a:ext cx="252000" cy="252000"/>
          </a:xfrm>
          <a:prstGeom prst="rect">
            <a:avLst/>
          </a:prstGeom>
        </p:spPr>
      </p:pic>
      <p:pic>
        <p:nvPicPr>
          <p:cNvPr id="35" name="Graphic 34" descr="Chat outline">
            <a:extLst>
              <a:ext uri="{FF2B5EF4-FFF2-40B4-BE49-F238E27FC236}">
                <a16:creationId xmlns:a16="http://schemas.microsoft.com/office/drawing/2014/main" id="{6B927E8B-3366-5D95-1506-CAD25F0B7A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4254908"/>
            <a:ext cx="252000" cy="252000"/>
          </a:xfrm>
          <a:prstGeom prst="rect">
            <a:avLst/>
          </a:prstGeom>
        </p:spPr>
      </p:pic>
      <p:pic>
        <p:nvPicPr>
          <p:cNvPr id="36" name="Graphic 35" descr="Chat outline">
            <a:extLst>
              <a:ext uri="{FF2B5EF4-FFF2-40B4-BE49-F238E27FC236}">
                <a16:creationId xmlns:a16="http://schemas.microsoft.com/office/drawing/2014/main" id="{52456B2D-EE90-CEAC-AEA4-F5975D582D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4690358"/>
            <a:ext cx="252000" cy="252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145CC81-5484-62FE-164A-2530CA7A7FD5}"/>
              </a:ext>
            </a:extLst>
          </p:cNvPr>
          <p:cNvSpPr/>
          <p:nvPr/>
        </p:nvSpPr>
        <p:spPr>
          <a:xfrm>
            <a:off x="9221123" y="2011234"/>
            <a:ext cx="2892849" cy="389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03558A-A79A-5828-DAE2-9A5D370E6096}"/>
              </a:ext>
            </a:extLst>
          </p:cNvPr>
          <p:cNvSpPr/>
          <p:nvPr/>
        </p:nvSpPr>
        <p:spPr>
          <a:xfrm>
            <a:off x="9225384" y="2011234"/>
            <a:ext cx="2887541" cy="422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D2CE31-4800-0C8D-6003-D369C0C5A2B4}"/>
              </a:ext>
            </a:extLst>
          </p:cNvPr>
          <p:cNvSpPr txBox="1"/>
          <p:nvPr/>
        </p:nvSpPr>
        <p:spPr>
          <a:xfrm>
            <a:off x="9209200" y="2096147"/>
            <a:ext cx="1818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+mj-lt"/>
              </a:rPr>
              <a:t>2347346576543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E10CAE1-EB32-4D41-0021-F61A1779AD3B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791" y="2171482"/>
            <a:ext cx="251464" cy="123052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663D0C69-9B91-F02B-DC9F-645974C81A3D}"/>
              </a:ext>
            </a:extLst>
          </p:cNvPr>
          <p:cNvSpPr/>
          <p:nvPr/>
        </p:nvSpPr>
        <p:spPr>
          <a:xfrm>
            <a:off x="9217415" y="5904687"/>
            <a:ext cx="2896558" cy="400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C6929A-7105-7AA4-858A-CEDC75D2F094}"/>
              </a:ext>
            </a:extLst>
          </p:cNvPr>
          <p:cNvSpPr txBox="1"/>
          <p:nvPr/>
        </p:nvSpPr>
        <p:spPr>
          <a:xfrm>
            <a:off x="9591336" y="5985368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Enter the message</a:t>
            </a:r>
          </a:p>
        </p:txBody>
      </p:sp>
      <p:pic>
        <p:nvPicPr>
          <p:cNvPr id="45" name="Graphic 44" descr="Paperclip with solid fill">
            <a:extLst>
              <a:ext uri="{FF2B5EF4-FFF2-40B4-BE49-F238E27FC236}">
                <a16:creationId xmlns:a16="http://schemas.microsoft.com/office/drawing/2014/main" id="{89BB9536-EAE8-C6E9-83A3-2709E58A74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59937" y="5988945"/>
            <a:ext cx="249728" cy="249728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77443C9-CC2E-9F55-D401-C219AF7CA49D}"/>
              </a:ext>
            </a:extLst>
          </p:cNvPr>
          <p:cNvCxnSpPr>
            <a:cxnSpLocks/>
          </p:cNvCxnSpPr>
          <p:nvPr/>
        </p:nvCxnSpPr>
        <p:spPr>
          <a:xfrm>
            <a:off x="9601680" y="5904687"/>
            <a:ext cx="0" cy="395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7" name="Graphic 46" descr="Send with solid fill">
            <a:extLst>
              <a:ext uri="{FF2B5EF4-FFF2-40B4-BE49-F238E27FC236}">
                <a16:creationId xmlns:a16="http://schemas.microsoft.com/office/drawing/2014/main" id="{2515E614-E511-86EC-2EC9-A9386CDF05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30132" y="5997624"/>
            <a:ext cx="283300" cy="2833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BFA9AA2-6803-D16E-105C-90ACBF087D00}"/>
              </a:ext>
            </a:extLst>
          </p:cNvPr>
          <p:cNvSpPr txBox="1"/>
          <p:nvPr/>
        </p:nvSpPr>
        <p:spPr>
          <a:xfrm>
            <a:off x="9216368" y="2476573"/>
            <a:ext cx="28875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Auditor</a:t>
            </a:r>
          </a:p>
          <a:p>
            <a:r>
              <a:rPr lang="en-US" sz="1000" dirty="0"/>
              <a:t>There’s an incorrect currency value in invoice 2347346576543..</a:t>
            </a:r>
          </a:p>
          <a:p>
            <a:endParaRPr lang="en-US" sz="1000" dirty="0"/>
          </a:p>
          <a:p>
            <a:endParaRPr lang="en-US" sz="1000" dirty="0"/>
          </a:p>
          <a:p>
            <a:pPr algn="r"/>
            <a:r>
              <a:rPr lang="en-US" sz="1000" b="1" dirty="0"/>
              <a:t>Manager</a:t>
            </a:r>
          </a:p>
          <a:p>
            <a:pPr algn="r"/>
            <a:r>
              <a:rPr lang="en-US" sz="1000" dirty="0"/>
              <a:t>Did you inform the client?</a:t>
            </a:r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Auditor</a:t>
            </a:r>
          </a:p>
          <a:p>
            <a:r>
              <a:rPr lang="en-US" sz="1000" dirty="0"/>
              <a:t>Yes, they’re re-uploading the corrected version.</a:t>
            </a:r>
          </a:p>
          <a:p>
            <a:endParaRPr lang="en-US" sz="1000" b="1" dirty="0"/>
          </a:p>
          <a:p>
            <a:endParaRPr lang="en-US" sz="1000" b="1" dirty="0"/>
          </a:p>
          <a:p>
            <a:pPr algn="r"/>
            <a:r>
              <a:rPr lang="en-US" sz="1000" b="1" dirty="0"/>
              <a:t>Manager</a:t>
            </a:r>
          </a:p>
          <a:p>
            <a:pPr algn="r"/>
            <a:r>
              <a:rPr lang="en-US" sz="1000" dirty="0"/>
              <a:t>Good. Verify once it's updated.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F22814-16C4-F55C-3113-B86DE8DF82C6}"/>
              </a:ext>
            </a:extLst>
          </p:cNvPr>
          <p:cNvSpPr txBox="1"/>
          <p:nvPr/>
        </p:nvSpPr>
        <p:spPr>
          <a:xfrm>
            <a:off x="1906443" y="5050533"/>
            <a:ext cx="2225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Adhoc</a:t>
            </a:r>
            <a:r>
              <a:rPr lang="en-IN" sz="1200" b="1" dirty="0"/>
              <a:t> Reconciliation Report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C12828-45F5-DDC2-CFBB-75C07E92EDED}"/>
              </a:ext>
            </a:extLst>
          </p:cNvPr>
          <p:cNvSpPr txBox="1"/>
          <p:nvPr/>
        </p:nvSpPr>
        <p:spPr>
          <a:xfrm>
            <a:off x="1905821" y="1411417"/>
            <a:ext cx="2225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Code: AE-2347346576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202FD9-FE02-F118-218C-CAF10D4514C2}"/>
              </a:ext>
            </a:extLst>
          </p:cNvPr>
          <p:cNvSpPr txBox="1"/>
          <p:nvPr/>
        </p:nvSpPr>
        <p:spPr>
          <a:xfrm>
            <a:off x="4045322" y="1411417"/>
            <a:ext cx="61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DHL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ACE9A9E-99F4-D280-D5E3-5336B2D96B9E}"/>
              </a:ext>
            </a:extLst>
          </p:cNvPr>
          <p:cNvGrpSpPr/>
          <p:nvPr/>
        </p:nvGrpSpPr>
        <p:grpSpPr>
          <a:xfrm>
            <a:off x="7729040" y="1429374"/>
            <a:ext cx="1094801" cy="307777"/>
            <a:chOff x="7615422" y="1454723"/>
            <a:chExt cx="1094801" cy="307777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9FAD3AF-45BE-56D1-C3FC-72811E0710E3}"/>
                </a:ext>
              </a:extLst>
            </p:cNvPr>
            <p:cNvSpPr/>
            <p:nvPr/>
          </p:nvSpPr>
          <p:spPr>
            <a:xfrm>
              <a:off x="7615422" y="1462859"/>
              <a:ext cx="1094801" cy="2888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/>
                <a:t>|  </a:t>
              </a:r>
            </a:p>
          </p:txBody>
        </p:sp>
        <p:pic>
          <p:nvPicPr>
            <p:cNvPr id="56" name="Graphic 27" descr="Caret Down with solid fill">
              <a:extLst>
                <a:ext uri="{FF2B5EF4-FFF2-40B4-BE49-F238E27FC236}">
                  <a16:creationId xmlns:a16="http://schemas.microsoft.com/office/drawing/2014/main" id="{AAAD0CE4-4A34-EED5-E2DC-9FDC2AF4D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18362" y="1546901"/>
              <a:ext cx="140105" cy="1281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5D9DF4E-D135-A4B1-FFBC-B70A9AA70D50}"/>
                </a:ext>
              </a:extLst>
            </p:cNvPr>
            <p:cNvSpPr txBox="1"/>
            <p:nvPr/>
          </p:nvSpPr>
          <p:spPr>
            <a:xfrm>
              <a:off x="7857539" y="1454723"/>
              <a:ext cx="589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Year</a:t>
              </a:r>
            </a:p>
          </p:txBody>
        </p:sp>
      </p:grpSp>
      <p:pic>
        <p:nvPicPr>
          <p:cNvPr id="58" name="Picture 57">
            <a:extLst>
              <a:ext uri="{FF2B5EF4-FFF2-40B4-BE49-F238E27FC236}">
                <a16:creationId xmlns:a16="http://schemas.microsoft.com/office/drawing/2014/main" id="{F79FF342-6ADC-CD11-6424-1652B8D5EE0C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61918" y="3771781"/>
            <a:ext cx="189902" cy="18990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4F65B3D-5F79-A4B3-6B0D-8FCA67EA8EE3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1412" y="3767802"/>
            <a:ext cx="189902" cy="189902"/>
          </a:xfrm>
          <a:prstGeom prst="rect">
            <a:avLst/>
          </a:prstGeom>
        </p:spPr>
      </p:pic>
      <p:pic>
        <p:nvPicPr>
          <p:cNvPr id="14" name="Graphic 13" descr="Chat outline">
            <a:extLst>
              <a:ext uri="{FF2B5EF4-FFF2-40B4-BE49-F238E27FC236}">
                <a16:creationId xmlns:a16="http://schemas.microsoft.com/office/drawing/2014/main" id="{B241D497-23B4-031C-7D9F-6E64F3BC41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5416409"/>
            <a:ext cx="252000" cy="252000"/>
          </a:xfrm>
          <a:prstGeom prst="rect">
            <a:avLst/>
          </a:prstGeom>
        </p:spPr>
      </p:pic>
      <p:pic>
        <p:nvPicPr>
          <p:cNvPr id="15" name="Graphic 14" descr="Chat outline">
            <a:extLst>
              <a:ext uri="{FF2B5EF4-FFF2-40B4-BE49-F238E27FC236}">
                <a16:creationId xmlns:a16="http://schemas.microsoft.com/office/drawing/2014/main" id="{DA03CC27-AB20-4A47-FB16-7745ADE4B8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841" y="5861809"/>
            <a:ext cx="252000" cy="252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150FC1E-A304-19CA-EB77-3FA810035816}"/>
              </a:ext>
            </a:extLst>
          </p:cNvPr>
          <p:cNvSpPr txBox="1"/>
          <p:nvPr/>
        </p:nvSpPr>
        <p:spPr>
          <a:xfrm>
            <a:off x="1906443" y="5376869"/>
            <a:ext cx="6504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err="1"/>
              <a:t>Adhoc</a:t>
            </a:r>
            <a:r>
              <a:rPr lang="en-IN" sz="1000" dirty="0"/>
              <a:t> 1              2/4/2024        2/4/2025               </a:t>
            </a:r>
            <a:r>
              <a:rPr lang="en-IN" sz="1000" dirty="0">
                <a:hlinkClick r:id="rId6" action="ppaction://hlinkfile"/>
              </a:rPr>
              <a:t>Stock</a:t>
            </a:r>
            <a:r>
              <a:rPr lang="en-IN" sz="1000" dirty="0"/>
              <a:t>         </a:t>
            </a:r>
            <a:r>
              <a:rPr lang="en-IN" sz="1000" dirty="0">
                <a:hlinkClick r:id="rId6" action="ppaction://hlinkfile"/>
              </a:rPr>
              <a:t>Customs Transactions</a:t>
            </a:r>
            <a:r>
              <a:rPr lang="en-IN" sz="1000" dirty="0"/>
              <a:t>          </a:t>
            </a:r>
            <a:r>
              <a:rPr lang="en-IN" sz="1000" dirty="0">
                <a:hlinkClick r:id="rId6" action="ppaction://hlinkfile"/>
              </a:rPr>
              <a:t>Reconciliation Adhoc1</a:t>
            </a:r>
            <a:r>
              <a:rPr lang="en-IN" sz="1000" dirty="0"/>
              <a:t>         Closed</a:t>
            </a:r>
            <a:br>
              <a:rPr lang="en-IN" sz="1000" dirty="0">
                <a:hlinkClick r:id="rId6" action="ppaction://hlinkfile"/>
              </a:rPr>
            </a:br>
            <a:r>
              <a:rPr lang="en-IN" sz="1000" dirty="0"/>
              <a:t>                                                                                             </a:t>
            </a:r>
            <a:r>
              <a:rPr lang="en-IN" sz="1000" dirty="0">
                <a:hlinkClick r:id="rId6" action="ppaction://hlinkfile"/>
              </a:rPr>
              <a:t>Adhoc1</a:t>
            </a:r>
            <a:r>
              <a:rPr lang="en-IN" sz="1000" dirty="0"/>
              <a:t>      </a:t>
            </a:r>
            <a:r>
              <a:rPr lang="en-IN" sz="1000" dirty="0" err="1">
                <a:hlinkClick r:id="rId6" action="ppaction://hlinkfile"/>
              </a:rPr>
              <a:t>Adhoc1</a:t>
            </a:r>
            <a:endParaRPr lang="en-IN" sz="1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1A9E96-072C-5FFF-8F8F-4405478DDEA4}"/>
              </a:ext>
            </a:extLst>
          </p:cNvPr>
          <p:cNvSpPr txBox="1"/>
          <p:nvPr/>
        </p:nvSpPr>
        <p:spPr>
          <a:xfrm>
            <a:off x="1905821" y="5851440"/>
            <a:ext cx="6504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err="1"/>
              <a:t>Adhoc</a:t>
            </a:r>
            <a:r>
              <a:rPr lang="en-IN" sz="1000" dirty="0"/>
              <a:t> 2              2/4/2025       1/6/2025               </a:t>
            </a:r>
            <a:r>
              <a:rPr lang="en-IN" sz="1000" dirty="0">
                <a:hlinkClick r:id="rId6" action="ppaction://hlinkfile"/>
              </a:rPr>
              <a:t>Stock</a:t>
            </a:r>
            <a:r>
              <a:rPr lang="en-IN" sz="1000" dirty="0"/>
              <a:t>         </a:t>
            </a:r>
            <a:r>
              <a:rPr lang="en-IN" sz="1000" dirty="0">
                <a:hlinkClick r:id="rId6" action="ppaction://hlinkfile"/>
              </a:rPr>
              <a:t>Customs Transactions</a:t>
            </a:r>
            <a:r>
              <a:rPr lang="en-IN" sz="1000" dirty="0"/>
              <a:t>          </a:t>
            </a:r>
            <a:r>
              <a:rPr lang="en-IN" sz="1000" dirty="0">
                <a:hlinkClick r:id="rId6" action="ppaction://hlinkfile"/>
              </a:rPr>
              <a:t>Reconciliation Adhoc2</a:t>
            </a:r>
            <a:r>
              <a:rPr lang="en-IN" sz="1000" dirty="0"/>
              <a:t>         Closed</a:t>
            </a:r>
            <a:br>
              <a:rPr lang="en-IN" sz="1000" dirty="0">
                <a:hlinkClick r:id="rId6" action="ppaction://hlinkfile"/>
              </a:rPr>
            </a:br>
            <a:r>
              <a:rPr lang="en-IN" sz="1000" dirty="0"/>
              <a:t>                                                                                             </a:t>
            </a:r>
            <a:r>
              <a:rPr lang="en-IN" sz="1000" dirty="0">
                <a:hlinkClick r:id="rId6" action="ppaction://hlinkfile"/>
              </a:rPr>
              <a:t>Adhoc2</a:t>
            </a:r>
            <a:r>
              <a:rPr lang="en-IN" sz="1000" dirty="0"/>
              <a:t>      </a:t>
            </a:r>
            <a:r>
              <a:rPr lang="en-IN" sz="1000" dirty="0" err="1">
                <a:hlinkClick r:id="rId6" action="ppaction://hlinkfile"/>
              </a:rPr>
              <a:t>Adhoc2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0097077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01BED-F66D-04C4-3D80-3CD4BAB8B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805397-5D6E-D480-6838-CD135D33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041496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19658</TotalTime>
  <Words>2651</Words>
  <Application>Microsoft Office PowerPoint</Application>
  <PresentationFormat>Widescreen</PresentationFormat>
  <Paragraphs>1793</Paragraphs>
  <Slides>34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Office Theme</vt:lpstr>
      <vt:lpstr>Audit Module  Mockups</vt:lpstr>
      <vt:lpstr>Workflow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Auditor Dashboard</vt:lpstr>
      <vt:lpstr>Auditor Status – Company wise</vt:lpstr>
      <vt:lpstr>                    Auditor Status – Declaration wise</vt:lpstr>
      <vt:lpstr>Company Dashboard</vt:lpstr>
      <vt:lpstr>Audit Summary Report</vt:lpstr>
      <vt:lpstr>Stock Audit Dashboard</vt:lpstr>
      <vt:lpstr>PowerPoint Presentation</vt:lpstr>
      <vt:lpstr>PowerPoint Presentation</vt:lpstr>
      <vt:lpstr>Audit Status – Company wise</vt:lpstr>
      <vt:lpstr>                    Open Declarations</vt:lpstr>
      <vt:lpstr>PowerPoint Presentation</vt:lpstr>
      <vt:lpstr>Pending Stock Document</vt:lpstr>
      <vt:lpstr>PowerPoint Presentation</vt:lpstr>
      <vt:lpstr>PowerPoint Presentation</vt:lpstr>
      <vt:lpstr>Declaration Audit Status Summary</vt:lpstr>
      <vt:lpstr>Declaration Audit Status Summary</vt:lpstr>
      <vt:lpstr>Declaration Audit Status Summary</vt:lpstr>
      <vt:lpstr>Declaration Audit Status Summary</vt:lpstr>
      <vt:lpstr>Declaration Audit Status Summary</vt:lpstr>
      <vt:lpstr>Declaration Audit Status Summary</vt:lpstr>
      <vt:lpstr>Declaration Audit Status 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Owner for audit pages</dc:title>
  <dc:creator>Anubharathi P</dc:creator>
  <cp:lastModifiedBy>VDART</cp:lastModifiedBy>
  <cp:revision>367</cp:revision>
  <dcterms:created xsi:type="dcterms:W3CDTF">2025-04-29T04:39:25Z</dcterms:created>
  <dcterms:modified xsi:type="dcterms:W3CDTF">2025-06-11T09:59:33Z</dcterms:modified>
</cp:coreProperties>
</file>